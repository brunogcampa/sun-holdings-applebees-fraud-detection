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f0c781bf194a51" /><Relationship Type="http://schemas.openxmlformats.org/officeDocument/2006/relationships/extended-properties" Target="/docProps/app.xml" Id="R874d20a91b1f477b" /><Relationship Type="http://schemas.openxmlformats.org/officeDocument/2006/relationships/officeDocument" Target="/ppt/presentation.xml" Id="R5ea298bf275043a7" /></Relationships>
</file>

<file path=ppt/presentation.xml><?xml version="1.0" encoding="utf-8"?>
<p:presentation xmlns:p="http://schemas.openxmlformats.org/presentationml/2006/main">
  <p:sldMasterIdLst>
    <p:sldMasterId xmlns:r="http://schemas.openxmlformats.org/officeDocument/2006/relationships" id="2147483648" r:id="Re5aa2923425146dc"/>
  </p:sldMasterIdLst>
  <p:notesMasterIdLst>
    <p:notesMasterId xmlns:r="http://schemas.openxmlformats.org/officeDocument/2006/relationships" r:id="R83b7622693384074"/>
  </p:notesMasterIdLst>
  <p:sldIdLst>
    <p:sldId xmlns:r="http://schemas.openxmlformats.org/officeDocument/2006/relationships" id="256" r:id="Rd573f34a02c24b60"/>
    <p:sldId xmlns:r="http://schemas.openxmlformats.org/officeDocument/2006/relationships" id="257" r:id="R27cf5a93784b40a5"/>
    <p:sldId xmlns:r="http://schemas.openxmlformats.org/officeDocument/2006/relationships" id="258" r:id="Rbf9d9c95c4fc42b6"/>
    <p:sldId xmlns:r="http://schemas.openxmlformats.org/officeDocument/2006/relationships" id="259" r:id="R782fc888ce2b4c42"/>
    <p:sldId xmlns:r="http://schemas.openxmlformats.org/officeDocument/2006/relationships" id="260" r:id="R2d0cbab7a1004a2c"/>
    <p:sldId xmlns:r="http://schemas.openxmlformats.org/officeDocument/2006/relationships" id="261" r:id="R1b95ec2540524a7d"/>
    <p:sldId xmlns:r="http://schemas.openxmlformats.org/officeDocument/2006/relationships" id="262" r:id="Rb0365c0c52d44607"/>
    <p:sldId xmlns:r="http://schemas.openxmlformats.org/officeDocument/2006/relationships" id="263" r:id="R0a73d28a07894595"/>
    <p:sldId xmlns:r="http://schemas.openxmlformats.org/officeDocument/2006/relationships" id="264" r:id="R9a4cbaf1571d4471"/>
    <p:sldId xmlns:r="http://schemas.openxmlformats.org/officeDocument/2006/relationships" id="265" r:id="R7ce130f2f6ca4a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3580c321454d39" /><Relationship Type="http://schemas.openxmlformats.org/officeDocument/2006/relationships/slideMaster" Target="/ppt/slideMasters/slideMaster1.xml" Id="Re5aa2923425146dc" /><Relationship Type="http://schemas.openxmlformats.org/officeDocument/2006/relationships/notesMaster" Target="/ppt/notesMasters/notesMaster1.xml" Id="R83b7622693384074" /><Relationship Type="http://schemas.openxmlformats.org/officeDocument/2006/relationships/presProps" Target="/ppt/presProps.xml" Id="Rb3c6290f956c498e" /><Relationship Type="http://schemas.openxmlformats.org/officeDocument/2006/relationships/tableStyles" Target="/ppt/tableStyles.xml" Id="R1e46606f392f4184" /><Relationship Type="http://schemas.openxmlformats.org/officeDocument/2006/relationships/slide" Target="/ppt/slides/slide1.xml" Id="Rd573f34a02c24b60" /><Relationship Type="http://schemas.openxmlformats.org/officeDocument/2006/relationships/slide" Target="/ppt/slides/slide2.xml" Id="R27cf5a93784b40a5" /><Relationship Type="http://schemas.openxmlformats.org/officeDocument/2006/relationships/slide" Target="/ppt/slides/slide3.xml" Id="Rbf9d9c95c4fc42b6" /><Relationship Type="http://schemas.openxmlformats.org/officeDocument/2006/relationships/slide" Target="/ppt/slides/slide4.xml" Id="R782fc888ce2b4c42" /><Relationship Type="http://schemas.openxmlformats.org/officeDocument/2006/relationships/slide" Target="/ppt/slides/slide5.xml" Id="R2d0cbab7a1004a2c" /><Relationship Type="http://schemas.openxmlformats.org/officeDocument/2006/relationships/slide" Target="/ppt/slides/slide6.xml" Id="R1b95ec2540524a7d" /><Relationship Type="http://schemas.openxmlformats.org/officeDocument/2006/relationships/slide" Target="/ppt/slides/slide7.xml" Id="Rb0365c0c52d44607" /><Relationship Type="http://schemas.openxmlformats.org/officeDocument/2006/relationships/slide" Target="/ppt/slides/slide8.xml" Id="R0a73d28a07894595" /><Relationship Type="http://schemas.openxmlformats.org/officeDocument/2006/relationships/slide" Target="/ppt/slides/slide9.xml" Id="R9a4cbaf1571d4471" /><Relationship Type="http://schemas.openxmlformats.org/officeDocument/2006/relationships/slide" Target="/ppt/slides/slide10.xml" Id="R7ce130f2f6ca4a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3c1616eff946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6b3603c19a48f1" /><Relationship Type="http://schemas.openxmlformats.org/officeDocument/2006/relationships/notesMaster" Target="/ppt/notesMasters/notesMaster1.xml" Id="R027d7c7496af49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4b931c30f14a42" /><Relationship Type="http://schemas.openxmlformats.org/officeDocument/2006/relationships/notesMaster" Target="/ppt/notesMasters/notesMaster1.xml" Id="R6244f91c58524e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ecf77e40d8406c" /><Relationship Type="http://schemas.openxmlformats.org/officeDocument/2006/relationships/notesMaster" Target="/ppt/notesMasters/notesMaster1.xml" Id="R3f363a34c2f445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8ef82773abc4485" /><Relationship Type="http://schemas.openxmlformats.org/officeDocument/2006/relationships/notesMaster" Target="/ppt/notesMasters/notesMaster1.xml" Id="R9b5a3dc1928540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c9e0003f474229" /><Relationship Type="http://schemas.openxmlformats.org/officeDocument/2006/relationships/notesMaster" Target="/ppt/notesMasters/notesMaster1.xml" Id="R1ba02973df6949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f3e06aca37409a" /><Relationship Type="http://schemas.openxmlformats.org/officeDocument/2006/relationships/notesMaster" Target="/ppt/notesMasters/notesMaster1.xml" Id="Rbad11b3d499e42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f0ea9092cb84ed1" /><Relationship Type="http://schemas.openxmlformats.org/officeDocument/2006/relationships/notesMaster" Target="/ppt/notesMasters/notesMaster1.xml" Id="Rbe67eb1b61a34e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7ce1d2ac944af1" /><Relationship Type="http://schemas.openxmlformats.org/officeDocument/2006/relationships/notesMaster" Target="/ppt/notesMasters/notesMaster1.xml" Id="Ree60936218664f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5411bf63d4416b" /><Relationship Type="http://schemas.openxmlformats.org/officeDocument/2006/relationships/notesMaster" Target="/ppt/notesMasters/notesMaster1.xml" Id="Rd42737bb0be544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b6a0713c734aff" /><Relationship Type="http://schemas.openxmlformats.org/officeDocument/2006/relationships/notesMaster" Target="/ppt/notesMasters/notesMaster1.xml" Id="Re258368d305a46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00:00–00:25. Imagine reviewing more than two million restaurant checks. Which ones deserve attention, and can we trust the numbers behind that decision? Our Phase 2 deliverable builds the data foundation for answering that question. We audited 2,142,846 checks from 127 locations over 115 days. I will explain the workflow, its quality controls and the operational decisions it supports.</a:t>
            </a:r>
          </a:p>
          <a:p xmlns:a="http://schemas.openxmlformats.org/drawingml/2006/main">
            <a:r>
              <a:t/>
            </a:r>
          </a:p>
          <a:p xmlns:a="http://schemas.openxmlformats.org/drawingml/2006/main">
            <a:r>
              <a:t>Source: source_audit.json.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00:25–01:00. The source is a fixed export of complete JSON arrays. Silver standardizes types and checks dates, references and identifiers. It keeps unusable records in quarantine, with reasons, rather than silently deleting them. Gold prepares the business metrics. A separate validation task reconciles those outputs before a run is accepted. We preserve source-file lineage throughout, and keep the historical EDA in a separate schema for comparison.</a:t>
            </a:r>
          </a:p>
          <a:p xmlns:a="http://schemas.openxmlformats.org/drawingml/2006/main">
            <a:r>
              <a:t/>
            </a:r>
          </a:p>
          <a:p xmlns:a="http://schemas.openxmlformats.org/drawingml/2006/main">
            <a:r>
              <a:t>Source: mv_checks_cleaned.py and both Gold SQL libraries.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01:00–01:40. The transformations protect the meaning of the data. A check is identified by date, location and check ID together. Payments and item discounts become separate child tables. Exploding both arrays in one join could multiply records and inflate totals. A check’s tip is the sum of its payment Gratuity values. We compare the magnitude of that sum because the usual sign is negative. Reference joins add readable location and channel labels without changing the check population.</a:t>
            </a:r>
          </a:p>
          <a:p xmlns:a="http://schemas.openxmlformats.org/drawingml/2006/main">
            <a:r>
              <a:t/>
            </a:r>
          </a:p>
          <a:p xmlns:a="http://schemas.openxmlformats.org/drawingml/2006/main">
            <a:r>
              <a:t>Source: DATA_CONTRACT.md.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01:40–02:20. Quality rules specify an action. Critical reference problems fail publication. Unusable checks go to quarantine, and a nonempty quarantine fails the acceptance gate until review. Empty payment lists remain operational exceptions: they mean no payment record exists in that list, not that a customer necessarily failed to pay. Our independent audit found 3,856 such checks and no duplicate composite keys. Runtime validation also checks that no source rows disappear and that child-event counts and payment sums reconcile.</a:t>
            </a:r>
          </a:p>
          <a:p xmlns:a="http://schemas.openxmlformats.org/drawingml/2006/main">
            <a:r>
              <a:t/>
            </a:r>
          </a:p>
          <a:p xmlns:a="http://schemas.openxmlformats.org/drawingml/2006/main">
            <a:r>
              <a:t>Source: source_audit.json and mv_quality_metrics.sql.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02:20–02:55. The job refreshes the pipeline and runs the validator only after a successful update. We allow one concurrent run and one retry for a transient pipeline failure. A failed data check requires investigation. Audit records use run ID plus metric, so retrying the validator does not duplicate audit rows. A second unchanged-source run tests consistency against the prior accepted run. The daily schedule remains paused. Actual run IDs and durations must come from Databricks.</a:t>
            </a:r>
          </a:p>
          <a:p xmlns:a="http://schemas.openxmlformats.org/drawingml/2006/main">
            <a:r>
              <a:t/>
            </a:r>
          </a:p>
          <a:p xmlns:a="http://schemas.openxmlformats.org/drawingml/2006/main">
            <a:r>
              <a:t>Source: daily_orchestration_job.yml and validate_pipeline.py.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02:55–03:30. We selected the engineering features for this workload. Batch fits a static historical export. Materialized views store computed results for repeated analysis. Liquid clustering organizes valid checks around date and location filters, but we will measure query profiles before claiming a speed improvement. Expectations give each quality rule a clear warn or fail policy. Streaming remains a future option when a reliable append-only feed exists.</a:t>
            </a:r>
          </a:p>
          <a:p xmlns:a="http://schemas.openxmlformats.org/drawingml/2006/main">
            <a:r>
              <a:t/>
            </a:r>
          </a:p>
          <a:p xmlns:a="http://schemas.openxmlformats.org/drawingml/2006/main">
            <a:r>
              <a:t>Source: Official Databricks documentation linked in README.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03:30–04:20. The baseline supports a focused operational question. Locations 87, 1 and 141 account for 71.08 percent of checks whose payment list is empty. That is the share of all missing-payment cases, not the missing-payment rate inside each location. We would prioritize source-system reconciliation there and compare local rates before interpreting concentration. Across all checks, 268,590 have a discount, a weighted rate of 12.53 percent. Gold makes those denominators explicit. These findings come from the audited source and historical EDA. The new pipeline still needs runtime evidence.</a:t>
            </a:r>
          </a:p>
          <a:p xmlns:a="http://schemas.openxmlformats.org/drawingml/2006/main">
            <a:r>
              <a:t/>
            </a:r>
          </a:p>
          <a:p xmlns:a="http://schemas.openxmlformats.org/drawingml/2006/main">
            <a:r>
              <a:t>Source: source_audit.json and historical source-linked aggregate reports.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04:20–05:00. Our value is a repeatable foundation for investigation: each metric has a defined population, and each exception has a source and handling policy. The repository, transformations, quality rules and job definition are prepared. Fifteen local checks pass, and the full-source audit reproduces the baseline. The remaining acceptance step is to execute the pipeline and job in Databricks, repeat the run unchanged, and capture the results. Then we can prioritize operational review and develop anomaly models with a clearer understanding of data quality.</a:t>
            </a:r>
          </a:p>
          <a:p xmlns:a="http://schemas.openxmlformats.org/drawingml/2006/main">
            <a:r>
              <a:t/>
            </a:r>
          </a:p>
          <a:p xmlns:a="http://schemas.openxmlformats.org/drawingml/2006/main">
            <a:r>
              <a:t>Source: RUBRIC_EVIDENCE.md. New Lakeflow runtime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Questions only, outside the five-minute talk. IQR means interquartile range. The example is illustrative. Gold stores actual quartiles and thresholds. Source: DATA_CONTRACT.md.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Questions only. Do not claim deployment until actual Databricks evidence exists. Runtime access is currently blocked for automated browser control and the MCP integration is not connectable in this environment. Source: RUBRIC_EVIDENCE.md.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76ac1e4b59466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83dd7fd8f34b4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f177d79179431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234bd3e2254e2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eb3be468194c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d432644ea74c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EF85AA-9FB8-47B3-9494-7418B5D968E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2B6B38F-71BF-4F0A-B190-2D701CAD06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A9E3D3D-E450-4A2E-B584-24966FB11D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18631E-FA9D-49CE-BF5E-38895D8404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FEEBDB-F64C-4E3F-B37C-FB87F2B2A11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D81216-FD8F-4BF4-A2C1-2E6B606E24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5B5260-B6EE-4C59-A271-2FEC10493F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3BC07C9-B49A-424E-B89E-12FE8AAA31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B94165-236D-40D9-B45B-08BCC841A8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4D6D74-6FF8-4FC2-B37E-331D76D4908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60a322f3b54666" /><Relationship Type="http://schemas.openxmlformats.org/officeDocument/2006/relationships/slideLayout" Target="/ppt/slideLayouts/slideLayout1.xml" Id="R308bb3813b7245b0" /><Relationship Type="http://schemas.openxmlformats.org/officeDocument/2006/relationships/slideLayout" Target="/ppt/slideLayouts/slideLayout2.xml" Id="R3a48f7af65ea4381" /><Relationship Type="http://schemas.openxmlformats.org/officeDocument/2006/relationships/slideLayout" Target="/ppt/slideLayouts/slideLayout3.xml" Id="Rb5173475df034734" /><Relationship Type="http://schemas.openxmlformats.org/officeDocument/2006/relationships/slideLayout" Target="/ppt/slideLayouts/slideLayout4.xml" Id="Rd151ddd32e83489b" /><Relationship Type="http://schemas.openxmlformats.org/officeDocument/2006/relationships/slideLayout" Target="/ppt/slideLayouts/slideLayout5.xml" Id="Rd2ceb90d0d3145c0" /><Relationship Type="http://schemas.openxmlformats.org/officeDocument/2006/relationships/slideLayout" Target="/ppt/slideLayouts/slideLayout6.xml" Id="R3d0f0cd7f0dc4f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8bb3813b7245b0"/>
    <p:sldLayoutId xmlns:r="http://schemas.openxmlformats.org/officeDocument/2006/relationships" id="2147483650" r:id="R3a48f7af65ea4381"/>
    <p:sldLayoutId xmlns:r="http://schemas.openxmlformats.org/officeDocument/2006/relationships" id="2147483651" r:id="Rb5173475df034734"/>
    <p:sldLayoutId xmlns:r="http://schemas.openxmlformats.org/officeDocument/2006/relationships" id="2147483652" r:id="Rd151ddd32e83489b"/>
    <p:sldLayoutId xmlns:r="http://schemas.openxmlformats.org/officeDocument/2006/relationships" id="2147483653" r:id="Rd2ceb90d0d3145c0"/>
    <p:sldLayoutId xmlns:r="http://schemas.openxmlformats.org/officeDocument/2006/relationships" id="2147483654" r:id="R3d0f0cd7f0dc4f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9e0fb33c9d42c6" /><Relationship Type="http://schemas.openxmlformats.org/officeDocument/2006/relationships/notesSlide" Target="/ppt/notesSlides/notesSlide1.xml" Id="R08d0c239fc834e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1196e38ce824fc9" /><Relationship Type="http://schemas.openxmlformats.org/officeDocument/2006/relationships/notesSlide" Target="/ppt/notesSlides/notesSlide2.xml" Id="Rd566f0e0a0cc49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4e7eb852fa4176" /><Relationship Type="http://schemas.openxmlformats.org/officeDocument/2006/relationships/notesSlide" Target="/ppt/notesSlides/notesSlide3.xml" Id="R116d3eb68f6a4f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d25ac85f0b0498b" /><Relationship Type="http://schemas.openxmlformats.org/officeDocument/2006/relationships/notesSlide" Target="/ppt/notesSlides/notesSlide4.xml" Id="Radb4f7de82ac4a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02ad044731f44ec" /><Relationship Type="http://schemas.openxmlformats.org/officeDocument/2006/relationships/notesSlide" Target="/ppt/notesSlides/notesSlide5.xml" Id="R52c152a5d2da44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a298e6a96e4401" /><Relationship Type="http://schemas.openxmlformats.org/officeDocument/2006/relationships/notesSlide" Target="/ppt/notesSlides/notesSlide6.xml" Id="R2fd88decb06e45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2e3b27bb584907" /><Relationship Type="http://schemas.openxmlformats.org/officeDocument/2006/relationships/chart" Target="/ppt/slides/charts/chart1.xml" Id="Ra7bd4dd8089f4dd2" /><Relationship Type="http://schemas.openxmlformats.org/officeDocument/2006/relationships/notesSlide" Target="/ppt/notesSlides/notesSlide7.xml" Id="R2912d9526e0441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fa5a0ec383d4df8" /><Relationship Type="http://schemas.openxmlformats.org/officeDocument/2006/relationships/notesSlide" Target="/ppt/notesSlides/notesSlide8.xml" Id="R4d3a51da042d41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21f3758eca249d9" /><Relationship Type="http://schemas.openxmlformats.org/officeDocument/2006/relationships/notesSlide" Target="/ppt/notesSlides/notesSlide9.xml" Id="R9bf6635c48ef46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7e73d096f564a04" /><Relationship Type="http://schemas.openxmlformats.org/officeDocument/2006/relationships/notesSlide" Target="/ppt/notesSlides/notesSlide10.xml" Id="Rde41e3c7498b458a" /></Relationships>
</file>

<file path=ppt/slides/charts/chart1.xml><?xml version="1.0" encoding="utf-8"?>
<c:chartSpace xmlns:c="http://schemas.openxmlformats.org/drawingml/2006/chart">
  <c:lang val="en-US"/>
  <c:chart>
    <c:plotArea>
      <c:barChart>
        <c:barDir val="col"/>
        <c:varyColors val="0"/>
        <c:ser>
          <c:idx val="0"/>
          <c:order val="0"/>
          <c:tx>
            <c:v>Share of missing-payment cases</c:v>
          </c:tx>
          <c:spPr>
            <a:solidFill xmlns:a="http://schemas.openxmlformats.org/drawingml/2006/main">
              <a:srgbClr val="334FE4"/>
            </a:solidFill>
          </c:spPr>
          <c:invertIfNegative val="0"/>
          <c:cat>
            <c:numLit>
              <c:formatCode>General</c:formatCode>
              <c:ptCount val="3"/>
              <c:pt idx="0">
                <c:v>87</c:v>
              </c:pt>
              <c:pt idx="1">
                <c:v>1</c:v>
              </c:pt>
              <c:pt idx="2">
                <c:v>141</c:v>
              </c:pt>
            </c:numLit>
          </c:cat>
          <c:val>
            <c:numLit>
              <c:formatCode>0%</c:formatCode>
              <c:ptCount val="3"/>
              <c:pt idx="0">
                <c:v>0.3462136929460581</c:v>
              </c:pt>
              <c:pt idx="1">
                <c:v>0.24066390041493776</c:v>
              </c:pt>
              <c:pt idx="2">
                <c:v>0.12396265560165975</c:v>
              </c:pt>
            </c:numLit>
          </c:val>
        </c:ser>
        <c:dLbls>
          <c:numFmt formatCode="0.00%" sourceLinked="0"/>
          <c:txPr>
            <a:bodyPr xmlns:a="http://schemas.openxmlformats.org/drawingml/2006/main" anchorCtr="1"/>
            <a:lstStyle xmlns:a="http://schemas.openxmlformats.org/drawingml/2006/main"/>
            <a:p xmlns:a="http://schemas.openxmlformats.org/drawingml/2006/main">
              <a:pPr>
                <a:defRPr sz="1650"/>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Location ID</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defRPr>
            </a:pPr>
          </a:p>
        </c:txPr>
        <c:crossAx val="48672768"/>
      </c:catAx>
      <c:valAx>
        <c:axId val="48672768"/>
        <c:scaling>
          <c:orientation val="minMax"/>
          <c:max val="0.4"/>
          <c:min val="0"/>
        </c:scaling>
        <c:delete val="0"/>
        <c:axPos val="l"/>
        <c:majorGridlines>
          <c:spPr>
            <a:ln xmlns:a="http://schemas.openxmlformats.org/drawingml/2006/main" w="9525">
              <a:solidFill>
                <a:srgbClr val="DCE2F3"/>
              </a:solidFill>
            </a:ln>
          </c:spPr>
        </c:majorGridlines>
        <c:title>
          <c:tx>
            <c:rich>
              <a:bodyPr xmlns:a="http://schemas.openxmlformats.org/drawingml/2006/main"/>
              <a:lstStyle xmlns:a="http://schemas.openxmlformats.org/drawingml/2006/main"/>
              <a:p xmlns:a="http://schemas.openxmlformats.org/drawingml/2006/main">
                <a:r>
                  <a:t>Share of all missing-payment cases</a:t>
                </a:r>
              </a:p>
            </c:rich>
          </c:tx>
          <c:overlay val="0"/>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A6D9FAE-4BB8-466F-9AD7-1195CE46B99B}"/>
              </a:ext>
            </a:extLst>
          </p:cNvPr>
          <p:cNvSpPr>
            <a:spLocks xmlns:a="http://schemas.openxmlformats.org/drawingml/2006/main" noGrp="1"/>
          </p:cNvSpPr>
          <p:nvPr/>
        </p:nvSpPr>
        <p:spPr>
          <a:xfrm xmlns:a="http://schemas.openxmlformats.org/drawingml/2006/main">
            <a:off x="666750" y="666750"/>
            <a:ext cx="10572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334FE4"/>
                </a:solidFill>
              </a:defRPr>
            </a:defPPr>
            <a:lvl1pPr>
              <a:defRPr sz="4050" b="1">
                <a:solidFill>
                  <a:srgbClr val="334FE4"/>
                </a:solidFill>
              </a:defRPr>
            </a:lvl1pPr>
            <a:lvl2pPr>
              <a:defRPr sz="4050" b="1">
                <a:solidFill>
                  <a:srgbClr val="334FE4"/>
                </a:solidFill>
              </a:defRPr>
            </a:lvl2pPr>
            <a:lvl3pPr>
              <a:defRPr sz="4050" b="1">
                <a:solidFill>
                  <a:srgbClr val="334FE4"/>
                </a:solidFill>
              </a:defRPr>
            </a:lvl3pPr>
            <a:lvl4pPr>
              <a:defRPr sz="4050" b="1">
                <a:solidFill>
                  <a:srgbClr val="334FE4"/>
                </a:solidFill>
              </a:defRPr>
            </a:lvl4pPr>
            <a:lvl5pPr>
              <a:defRPr sz="4050" b="1">
                <a:solidFill>
                  <a:srgbClr val="334FE4"/>
                </a:solidFill>
              </a:defRPr>
            </a:lvl5pPr>
            <a:lvl6pPr>
              <a:defRPr sz="4050" b="1">
                <a:solidFill>
                  <a:srgbClr val="334FE4"/>
                </a:solidFill>
              </a:defRPr>
            </a:lvl6pPr>
            <a:lvl7pPr>
              <a:defRPr sz="4050" b="1">
                <a:solidFill>
                  <a:srgbClr val="334FE4"/>
                </a:solidFill>
              </a:defRPr>
            </a:lvl7pPr>
            <a:lvl8pPr>
              <a:defRPr sz="4050" b="1">
                <a:solidFill>
                  <a:srgbClr val="334FE4"/>
                </a:solidFill>
              </a:defRPr>
            </a:lvl8pPr>
            <a:lvl9pPr>
              <a:defRPr sz="4050" b="1">
                <a:solidFill>
                  <a:srgbClr val="334FE4"/>
                </a:solidFill>
              </a:defRPr>
            </a:lvl9pPr>
          </a:lstStyle>
          <a:p xmlns:a="http://schemas.openxmlformats.org/drawingml/2006/main">
            <a:pPr>
              <a:defRPr sz="4050" b="1">
                <a:solidFill>
                  <a:srgbClr val="334FE4"/>
                </a:solidFill>
              </a:defRPr>
            </a:pPr>
            <a:r>
              <a:rPr sz="4050" b="1">
                <a:solidFill>
                  <a:srgbClr val="334FE4"/>
                </a:solidFill>
              </a:rPr>
              <a:t>Reliable data for</a:t>
            </a:r>
          </a:p>
          <a:p xmlns:a="http://schemas.openxmlformats.org/drawingml/2006/main">
            <a:pPr>
              <a:defRPr sz="4050" b="1">
                <a:solidFill>
                  <a:srgbClr val="334FE4"/>
                </a:solidFill>
              </a:defRPr>
            </a:pPr>
            <a:r>
              <a:rPr sz="4050" b="1">
                <a:solidFill>
                  <a:srgbClr val="334FE4"/>
                </a:solidFill>
              </a:rPr>
              <a:t>operational anomaly detection</a:t>
            </a:r>
          </a:p>
        </p:txBody>
      </p:sp>
      <p:sp>
        <p:nvSpPr>
          <p:cNvPr id="3" name="Project">
            <a:extLst xmlns:a="http://schemas.openxmlformats.org/drawingml/2006/main">
              <a:ext uri="{FF2B5EF4-FFF2-40B4-BE49-F238E27FC236}">
                <a16:creationId xmlns:a16="http://schemas.microsoft.com/office/drawing/2014/main" id="{CA15B868-AA3D-44B5-AC64-A33BD307E0AF}"/>
              </a:ext>
            </a:extLst>
          </p:cNvPr>
          <p:cNvSpPr>
            <a:spLocks xmlns:a="http://schemas.openxmlformats.org/drawingml/2006/main" noGrp="1"/>
          </p:cNvSpPr>
          <p:nvPr/>
        </p:nvSpPr>
        <p:spPr>
          <a:xfrm xmlns:a="http://schemas.openxmlformats.org/drawingml/2006/main">
            <a:off x="666750" y="23336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Applebee’s Phase 2 pipeline deliverable</a:t>
            </a:r>
          </a:p>
        </p:txBody>
      </p:sp>
      <p:sp>
        <p:nvSpPr>
          <p:cNvPr id="4" name="Purpose">
            <a:extLst xmlns:a="http://schemas.openxmlformats.org/drawingml/2006/main">
              <a:ext uri="{FF2B5EF4-FFF2-40B4-BE49-F238E27FC236}">
                <a16:creationId xmlns:a16="http://schemas.microsoft.com/office/drawing/2014/main" id="{2F03B78B-58B8-46CF-A78F-8C9A993954BF}"/>
              </a:ext>
            </a:extLst>
          </p:cNvPr>
          <p:cNvSpPr>
            <a:spLocks xmlns:a="http://schemas.openxmlformats.org/drawingml/2006/main" noGrp="1"/>
          </p:cNvSpPr>
          <p:nvPr/>
        </p:nvSpPr>
        <p:spPr>
          <a:xfrm xmlns:a="http://schemas.openxmlformats.org/drawingml/2006/main">
            <a:off x="666750" y="30670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2342"/>
                </a:solidFill>
              </a:defRPr>
            </a:defPPr>
            <a:lvl1pPr>
              <a:defRPr sz="2400" b="0">
                <a:solidFill>
                  <a:srgbClr val="172342"/>
                </a:solidFill>
              </a:defRPr>
            </a:lvl1pPr>
            <a:lvl2pPr>
              <a:defRPr sz="2400" b="0">
                <a:solidFill>
                  <a:srgbClr val="172342"/>
                </a:solidFill>
              </a:defRPr>
            </a:lvl2pPr>
            <a:lvl3pPr>
              <a:defRPr sz="2400" b="0">
                <a:solidFill>
                  <a:srgbClr val="172342"/>
                </a:solidFill>
              </a:defRPr>
            </a:lvl3pPr>
            <a:lvl4pPr>
              <a:defRPr sz="2400" b="0">
                <a:solidFill>
                  <a:srgbClr val="172342"/>
                </a:solidFill>
              </a:defRPr>
            </a:lvl4pPr>
            <a:lvl5pPr>
              <a:defRPr sz="2400" b="0">
                <a:solidFill>
                  <a:srgbClr val="172342"/>
                </a:solidFill>
              </a:defRPr>
            </a:lvl5pPr>
            <a:lvl6pPr>
              <a:defRPr sz="2400" b="0">
                <a:solidFill>
                  <a:srgbClr val="172342"/>
                </a:solidFill>
              </a:defRPr>
            </a:lvl6pPr>
            <a:lvl7pPr>
              <a:defRPr sz="2400" b="0">
                <a:solidFill>
                  <a:srgbClr val="172342"/>
                </a:solidFill>
              </a:defRPr>
            </a:lvl7pPr>
            <a:lvl8pPr>
              <a:defRPr sz="2400" b="0">
                <a:solidFill>
                  <a:srgbClr val="172342"/>
                </a:solidFill>
              </a:defRPr>
            </a:lvl8pPr>
            <a:lvl9pPr>
              <a:defRPr sz="2400" b="0">
                <a:solidFill>
                  <a:srgbClr val="172342"/>
                </a:solidFill>
              </a:defRPr>
            </a:lvl9pPr>
          </a:lstStyle>
          <a:p xmlns:a="http://schemas.openxmlformats.org/drawingml/2006/main">
            <a:pPr>
              <a:defRPr sz="2400" b="0">
                <a:solidFill>
                  <a:srgbClr val="172342"/>
                </a:solidFill>
              </a:defRPr>
            </a:pPr>
            <a:r>
              <a:rPr sz="2400" b="0">
                <a:solidFill>
                  <a:srgbClr val="172342"/>
                </a:solidFill>
              </a:rPr>
              <a:t>Which unusual checks deserve a closer look?</a:t>
            </a:r>
          </a:p>
          <a:p xmlns:a="http://schemas.openxmlformats.org/drawingml/2006/main">
            <a:pPr>
              <a:defRPr sz="2400" b="0">
                <a:solidFill>
                  <a:srgbClr val="172342"/>
                </a:solidFill>
              </a:defRPr>
            </a:pPr>
            <a:r>
              <a:rPr sz="2400" b="0">
                <a:solidFill>
                  <a:srgbClr val="172342"/>
                </a:solidFill>
              </a:rPr>
              <a:t>Reliable data must come before a risk score.</a:t>
            </a:r>
          </a:p>
        </p:txBody>
      </p:sp>
      <p:sp>
        <p:nvSpPr>
          <p:cNvPr id="5" name="checks value">
            <a:extLst xmlns:a="http://schemas.openxmlformats.org/drawingml/2006/main">
              <a:ext uri="{FF2B5EF4-FFF2-40B4-BE49-F238E27FC236}">
                <a16:creationId xmlns:a16="http://schemas.microsoft.com/office/drawing/2014/main" id="{5605CA07-AD02-4556-8DEE-60FBF9255A57}"/>
              </a:ext>
            </a:extLst>
          </p:cNvPr>
          <p:cNvSpPr>
            <a:spLocks xmlns:a="http://schemas.openxmlformats.org/drawingml/2006/main" noGrp="1"/>
          </p:cNvSpPr>
          <p:nvPr/>
        </p:nvSpPr>
        <p:spPr>
          <a:xfrm xmlns:a="http://schemas.openxmlformats.org/drawingml/2006/main">
            <a:off x="666750"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34FE4"/>
                </a:solidFill>
              </a:defRPr>
            </a:defPPr>
            <a:lvl1pPr>
              <a:defRPr sz="3600" b="1">
                <a:solidFill>
                  <a:srgbClr val="334FE4"/>
                </a:solidFill>
              </a:defRPr>
            </a:lvl1pPr>
            <a:lvl2pPr>
              <a:defRPr sz="3600" b="1">
                <a:solidFill>
                  <a:srgbClr val="334FE4"/>
                </a:solidFill>
              </a:defRPr>
            </a:lvl2pPr>
            <a:lvl3pPr>
              <a:defRPr sz="3600" b="1">
                <a:solidFill>
                  <a:srgbClr val="334FE4"/>
                </a:solidFill>
              </a:defRPr>
            </a:lvl3pPr>
            <a:lvl4pPr>
              <a:defRPr sz="3600" b="1">
                <a:solidFill>
                  <a:srgbClr val="334FE4"/>
                </a:solidFill>
              </a:defRPr>
            </a:lvl4pPr>
            <a:lvl5pPr>
              <a:defRPr sz="3600" b="1">
                <a:solidFill>
                  <a:srgbClr val="334FE4"/>
                </a:solidFill>
              </a:defRPr>
            </a:lvl5pPr>
            <a:lvl6pPr>
              <a:defRPr sz="3600" b="1">
                <a:solidFill>
                  <a:srgbClr val="334FE4"/>
                </a:solidFill>
              </a:defRPr>
            </a:lvl6pPr>
            <a:lvl7pPr>
              <a:defRPr sz="3600" b="1">
                <a:solidFill>
                  <a:srgbClr val="334FE4"/>
                </a:solidFill>
              </a:defRPr>
            </a:lvl7pPr>
            <a:lvl8pPr>
              <a:defRPr sz="3600" b="1">
                <a:solidFill>
                  <a:srgbClr val="334FE4"/>
                </a:solidFill>
              </a:defRPr>
            </a:lvl8pPr>
            <a:lvl9pPr>
              <a:defRPr sz="3600" b="1">
                <a:solidFill>
                  <a:srgbClr val="334FE4"/>
                </a:solidFill>
              </a:defRPr>
            </a:lvl9pPr>
          </a:lstStyle>
          <a:p xmlns:a="http://schemas.openxmlformats.org/drawingml/2006/main">
            <a:pPr>
              <a:defRPr sz="3600" b="1">
                <a:solidFill>
                  <a:srgbClr val="334FE4"/>
                </a:solidFill>
              </a:defRPr>
            </a:pPr>
            <a:r>
              <a:rPr sz="3600" b="1">
                <a:solidFill>
                  <a:srgbClr val="334FE4"/>
                </a:solidFill>
              </a:rPr>
              <a:t>2,142,846</a:t>
            </a:r>
          </a:p>
        </p:txBody>
      </p:sp>
      <p:sp>
        <p:nvSpPr>
          <p:cNvPr id="6" name="checks label">
            <a:extLst xmlns:a="http://schemas.openxmlformats.org/drawingml/2006/main">
              <a:ext uri="{FF2B5EF4-FFF2-40B4-BE49-F238E27FC236}">
                <a16:creationId xmlns:a16="http://schemas.microsoft.com/office/drawing/2014/main" id="{AFA8AEB8-B9EC-4434-88D3-3B71D6096506}"/>
              </a:ext>
            </a:extLst>
          </p:cNvPr>
          <p:cNvSpPr>
            <a:spLocks xmlns:a="http://schemas.openxmlformats.org/drawingml/2006/main" noGrp="1"/>
          </p:cNvSpPr>
          <p:nvPr/>
        </p:nvSpPr>
        <p:spPr>
          <a:xfrm xmlns:a="http://schemas.openxmlformats.org/drawingml/2006/main">
            <a:off x="666750" y="50768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342"/>
                </a:solidFill>
              </a:defRPr>
            </a:defPPr>
            <a:lvl1pPr>
              <a:defRPr sz="1875" b="0">
                <a:solidFill>
                  <a:srgbClr val="172342"/>
                </a:solidFill>
              </a:defRPr>
            </a:lvl1pPr>
            <a:lvl2pPr>
              <a:defRPr sz="1875" b="0">
                <a:solidFill>
                  <a:srgbClr val="172342"/>
                </a:solidFill>
              </a:defRPr>
            </a:lvl2pPr>
            <a:lvl3pPr>
              <a:defRPr sz="1875" b="0">
                <a:solidFill>
                  <a:srgbClr val="172342"/>
                </a:solidFill>
              </a:defRPr>
            </a:lvl3pPr>
            <a:lvl4pPr>
              <a:defRPr sz="1875" b="0">
                <a:solidFill>
                  <a:srgbClr val="172342"/>
                </a:solidFill>
              </a:defRPr>
            </a:lvl4pPr>
            <a:lvl5pPr>
              <a:defRPr sz="1875" b="0">
                <a:solidFill>
                  <a:srgbClr val="172342"/>
                </a:solidFill>
              </a:defRPr>
            </a:lvl5pPr>
            <a:lvl6pPr>
              <a:defRPr sz="1875" b="0">
                <a:solidFill>
                  <a:srgbClr val="172342"/>
                </a:solidFill>
              </a:defRPr>
            </a:lvl6pPr>
            <a:lvl7pPr>
              <a:defRPr sz="1875" b="0">
                <a:solidFill>
                  <a:srgbClr val="172342"/>
                </a:solidFill>
              </a:defRPr>
            </a:lvl7pPr>
            <a:lvl8pPr>
              <a:defRPr sz="1875" b="0">
                <a:solidFill>
                  <a:srgbClr val="172342"/>
                </a:solidFill>
              </a:defRPr>
            </a:lvl8pPr>
            <a:lvl9pPr>
              <a:defRPr sz="1875" b="0">
                <a:solidFill>
                  <a:srgbClr val="172342"/>
                </a:solidFill>
              </a:defRPr>
            </a:lvl9pPr>
          </a:lstStyle>
          <a:p xmlns:a="http://schemas.openxmlformats.org/drawingml/2006/main">
            <a:pPr>
              <a:defRPr sz="1875" b="0">
                <a:solidFill>
                  <a:srgbClr val="172342"/>
                </a:solidFill>
              </a:defRPr>
            </a:pPr>
            <a:r>
              <a:rPr sz="1875" b="0">
                <a:solidFill>
                  <a:srgbClr val="172342"/>
                </a:solidFill>
              </a:rPr>
              <a:t>checks</a:t>
            </a:r>
          </a:p>
        </p:txBody>
      </p:sp>
      <p:sp>
        <p:nvSpPr>
          <p:cNvPr id="7" name="locations value">
            <a:extLst xmlns:a="http://schemas.openxmlformats.org/drawingml/2006/main">
              <a:ext uri="{FF2B5EF4-FFF2-40B4-BE49-F238E27FC236}">
                <a16:creationId xmlns:a16="http://schemas.microsoft.com/office/drawing/2014/main" id="{CE1ED268-334F-4B7A-9780-208509165A47}"/>
              </a:ext>
            </a:extLst>
          </p:cNvPr>
          <p:cNvSpPr>
            <a:spLocks xmlns:a="http://schemas.openxmlformats.org/drawingml/2006/main" noGrp="1"/>
          </p:cNvSpPr>
          <p:nvPr/>
        </p:nvSpPr>
        <p:spPr>
          <a:xfrm xmlns:a="http://schemas.openxmlformats.org/drawingml/2006/main">
            <a:off x="4667250"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34FE4"/>
                </a:solidFill>
              </a:defRPr>
            </a:defPPr>
            <a:lvl1pPr>
              <a:defRPr sz="3600" b="1">
                <a:solidFill>
                  <a:srgbClr val="334FE4"/>
                </a:solidFill>
              </a:defRPr>
            </a:lvl1pPr>
            <a:lvl2pPr>
              <a:defRPr sz="3600" b="1">
                <a:solidFill>
                  <a:srgbClr val="334FE4"/>
                </a:solidFill>
              </a:defRPr>
            </a:lvl2pPr>
            <a:lvl3pPr>
              <a:defRPr sz="3600" b="1">
                <a:solidFill>
                  <a:srgbClr val="334FE4"/>
                </a:solidFill>
              </a:defRPr>
            </a:lvl3pPr>
            <a:lvl4pPr>
              <a:defRPr sz="3600" b="1">
                <a:solidFill>
                  <a:srgbClr val="334FE4"/>
                </a:solidFill>
              </a:defRPr>
            </a:lvl4pPr>
            <a:lvl5pPr>
              <a:defRPr sz="3600" b="1">
                <a:solidFill>
                  <a:srgbClr val="334FE4"/>
                </a:solidFill>
              </a:defRPr>
            </a:lvl5pPr>
            <a:lvl6pPr>
              <a:defRPr sz="3600" b="1">
                <a:solidFill>
                  <a:srgbClr val="334FE4"/>
                </a:solidFill>
              </a:defRPr>
            </a:lvl6pPr>
            <a:lvl7pPr>
              <a:defRPr sz="3600" b="1">
                <a:solidFill>
                  <a:srgbClr val="334FE4"/>
                </a:solidFill>
              </a:defRPr>
            </a:lvl7pPr>
            <a:lvl8pPr>
              <a:defRPr sz="3600" b="1">
                <a:solidFill>
                  <a:srgbClr val="334FE4"/>
                </a:solidFill>
              </a:defRPr>
            </a:lvl8pPr>
            <a:lvl9pPr>
              <a:defRPr sz="3600" b="1">
                <a:solidFill>
                  <a:srgbClr val="334FE4"/>
                </a:solidFill>
              </a:defRPr>
            </a:lvl9pPr>
          </a:lstStyle>
          <a:p xmlns:a="http://schemas.openxmlformats.org/drawingml/2006/main">
            <a:pPr>
              <a:defRPr sz="3600" b="1">
                <a:solidFill>
                  <a:srgbClr val="334FE4"/>
                </a:solidFill>
              </a:defRPr>
            </a:pPr>
            <a:r>
              <a:rPr sz="3600" b="1">
                <a:solidFill>
                  <a:srgbClr val="334FE4"/>
                </a:solidFill>
              </a:rPr>
              <a:t>127</a:t>
            </a:r>
          </a:p>
        </p:txBody>
      </p:sp>
      <p:sp>
        <p:nvSpPr>
          <p:cNvPr id="8" name="locations label">
            <a:extLst xmlns:a="http://schemas.openxmlformats.org/drawingml/2006/main">
              <a:ext uri="{FF2B5EF4-FFF2-40B4-BE49-F238E27FC236}">
                <a16:creationId xmlns:a16="http://schemas.microsoft.com/office/drawing/2014/main" id="{041757B4-1AEC-4089-988A-0F5327117321}"/>
              </a:ext>
            </a:extLst>
          </p:cNvPr>
          <p:cNvSpPr>
            <a:spLocks xmlns:a="http://schemas.openxmlformats.org/drawingml/2006/main" noGrp="1"/>
          </p:cNvSpPr>
          <p:nvPr/>
        </p:nvSpPr>
        <p:spPr>
          <a:xfrm xmlns:a="http://schemas.openxmlformats.org/drawingml/2006/main">
            <a:off x="4667250" y="50768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342"/>
                </a:solidFill>
              </a:defRPr>
            </a:defPPr>
            <a:lvl1pPr>
              <a:defRPr sz="1875" b="0">
                <a:solidFill>
                  <a:srgbClr val="172342"/>
                </a:solidFill>
              </a:defRPr>
            </a:lvl1pPr>
            <a:lvl2pPr>
              <a:defRPr sz="1875" b="0">
                <a:solidFill>
                  <a:srgbClr val="172342"/>
                </a:solidFill>
              </a:defRPr>
            </a:lvl2pPr>
            <a:lvl3pPr>
              <a:defRPr sz="1875" b="0">
                <a:solidFill>
                  <a:srgbClr val="172342"/>
                </a:solidFill>
              </a:defRPr>
            </a:lvl3pPr>
            <a:lvl4pPr>
              <a:defRPr sz="1875" b="0">
                <a:solidFill>
                  <a:srgbClr val="172342"/>
                </a:solidFill>
              </a:defRPr>
            </a:lvl4pPr>
            <a:lvl5pPr>
              <a:defRPr sz="1875" b="0">
                <a:solidFill>
                  <a:srgbClr val="172342"/>
                </a:solidFill>
              </a:defRPr>
            </a:lvl5pPr>
            <a:lvl6pPr>
              <a:defRPr sz="1875" b="0">
                <a:solidFill>
                  <a:srgbClr val="172342"/>
                </a:solidFill>
              </a:defRPr>
            </a:lvl6pPr>
            <a:lvl7pPr>
              <a:defRPr sz="1875" b="0">
                <a:solidFill>
                  <a:srgbClr val="172342"/>
                </a:solidFill>
              </a:defRPr>
            </a:lvl7pPr>
            <a:lvl8pPr>
              <a:defRPr sz="1875" b="0">
                <a:solidFill>
                  <a:srgbClr val="172342"/>
                </a:solidFill>
              </a:defRPr>
            </a:lvl8pPr>
            <a:lvl9pPr>
              <a:defRPr sz="1875" b="0">
                <a:solidFill>
                  <a:srgbClr val="172342"/>
                </a:solidFill>
              </a:defRPr>
            </a:lvl9pPr>
          </a:lstStyle>
          <a:p xmlns:a="http://schemas.openxmlformats.org/drawingml/2006/main">
            <a:pPr>
              <a:defRPr sz="1875" b="0">
                <a:solidFill>
                  <a:srgbClr val="172342"/>
                </a:solidFill>
              </a:defRPr>
            </a:pPr>
            <a:r>
              <a:rPr sz="1875" b="0">
                <a:solidFill>
                  <a:srgbClr val="172342"/>
                </a:solidFill>
              </a:rPr>
              <a:t>locations</a:t>
            </a:r>
          </a:p>
        </p:txBody>
      </p:sp>
      <p:sp>
        <p:nvSpPr>
          <p:cNvPr id="9" name="days value">
            <a:extLst xmlns:a="http://schemas.openxmlformats.org/drawingml/2006/main">
              <a:ext uri="{FF2B5EF4-FFF2-40B4-BE49-F238E27FC236}">
                <a16:creationId xmlns:a16="http://schemas.microsoft.com/office/drawing/2014/main" id="{54588950-ADD7-4740-BA6E-C89D34A25BA5}"/>
              </a:ext>
            </a:extLst>
          </p:cNvPr>
          <p:cNvSpPr>
            <a:spLocks xmlns:a="http://schemas.openxmlformats.org/drawingml/2006/main" noGrp="1"/>
          </p:cNvSpPr>
          <p:nvPr/>
        </p:nvSpPr>
        <p:spPr>
          <a:xfrm xmlns:a="http://schemas.openxmlformats.org/drawingml/2006/main">
            <a:off x="8572500"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34FE4"/>
                </a:solidFill>
              </a:defRPr>
            </a:defPPr>
            <a:lvl1pPr>
              <a:defRPr sz="3600" b="1">
                <a:solidFill>
                  <a:srgbClr val="334FE4"/>
                </a:solidFill>
              </a:defRPr>
            </a:lvl1pPr>
            <a:lvl2pPr>
              <a:defRPr sz="3600" b="1">
                <a:solidFill>
                  <a:srgbClr val="334FE4"/>
                </a:solidFill>
              </a:defRPr>
            </a:lvl2pPr>
            <a:lvl3pPr>
              <a:defRPr sz="3600" b="1">
                <a:solidFill>
                  <a:srgbClr val="334FE4"/>
                </a:solidFill>
              </a:defRPr>
            </a:lvl3pPr>
            <a:lvl4pPr>
              <a:defRPr sz="3600" b="1">
                <a:solidFill>
                  <a:srgbClr val="334FE4"/>
                </a:solidFill>
              </a:defRPr>
            </a:lvl4pPr>
            <a:lvl5pPr>
              <a:defRPr sz="3600" b="1">
                <a:solidFill>
                  <a:srgbClr val="334FE4"/>
                </a:solidFill>
              </a:defRPr>
            </a:lvl5pPr>
            <a:lvl6pPr>
              <a:defRPr sz="3600" b="1">
                <a:solidFill>
                  <a:srgbClr val="334FE4"/>
                </a:solidFill>
              </a:defRPr>
            </a:lvl6pPr>
            <a:lvl7pPr>
              <a:defRPr sz="3600" b="1">
                <a:solidFill>
                  <a:srgbClr val="334FE4"/>
                </a:solidFill>
              </a:defRPr>
            </a:lvl7pPr>
            <a:lvl8pPr>
              <a:defRPr sz="3600" b="1">
                <a:solidFill>
                  <a:srgbClr val="334FE4"/>
                </a:solidFill>
              </a:defRPr>
            </a:lvl8pPr>
            <a:lvl9pPr>
              <a:defRPr sz="3600" b="1">
                <a:solidFill>
                  <a:srgbClr val="334FE4"/>
                </a:solidFill>
              </a:defRPr>
            </a:lvl9pPr>
          </a:lstStyle>
          <a:p xmlns:a="http://schemas.openxmlformats.org/drawingml/2006/main">
            <a:pPr>
              <a:defRPr sz="3600" b="1">
                <a:solidFill>
                  <a:srgbClr val="334FE4"/>
                </a:solidFill>
              </a:defRPr>
            </a:pPr>
            <a:r>
              <a:rPr sz="3600" b="1">
                <a:solidFill>
                  <a:srgbClr val="334FE4"/>
                </a:solidFill>
              </a:rPr>
              <a:t>115</a:t>
            </a:r>
          </a:p>
        </p:txBody>
      </p:sp>
      <p:sp>
        <p:nvSpPr>
          <p:cNvPr id="10" name="days label">
            <a:extLst xmlns:a="http://schemas.openxmlformats.org/drawingml/2006/main">
              <a:ext uri="{FF2B5EF4-FFF2-40B4-BE49-F238E27FC236}">
                <a16:creationId xmlns:a16="http://schemas.microsoft.com/office/drawing/2014/main" id="{D0DA4B3F-1FFA-46ED-A4E1-DFAC95D64712}"/>
              </a:ext>
            </a:extLst>
          </p:cNvPr>
          <p:cNvSpPr>
            <a:spLocks xmlns:a="http://schemas.openxmlformats.org/drawingml/2006/main" noGrp="1"/>
          </p:cNvSpPr>
          <p:nvPr/>
        </p:nvSpPr>
        <p:spPr>
          <a:xfrm xmlns:a="http://schemas.openxmlformats.org/drawingml/2006/main">
            <a:off x="8572500" y="50768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342"/>
                </a:solidFill>
              </a:defRPr>
            </a:defPPr>
            <a:lvl1pPr>
              <a:defRPr sz="1875" b="0">
                <a:solidFill>
                  <a:srgbClr val="172342"/>
                </a:solidFill>
              </a:defRPr>
            </a:lvl1pPr>
            <a:lvl2pPr>
              <a:defRPr sz="1875" b="0">
                <a:solidFill>
                  <a:srgbClr val="172342"/>
                </a:solidFill>
              </a:defRPr>
            </a:lvl2pPr>
            <a:lvl3pPr>
              <a:defRPr sz="1875" b="0">
                <a:solidFill>
                  <a:srgbClr val="172342"/>
                </a:solidFill>
              </a:defRPr>
            </a:lvl3pPr>
            <a:lvl4pPr>
              <a:defRPr sz="1875" b="0">
                <a:solidFill>
                  <a:srgbClr val="172342"/>
                </a:solidFill>
              </a:defRPr>
            </a:lvl4pPr>
            <a:lvl5pPr>
              <a:defRPr sz="1875" b="0">
                <a:solidFill>
                  <a:srgbClr val="172342"/>
                </a:solidFill>
              </a:defRPr>
            </a:lvl5pPr>
            <a:lvl6pPr>
              <a:defRPr sz="1875" b="0">
                <a:solidFill>
                  <a:srgbClr val="172342"/>
                </a:solidFill>
              </a:defRPr>
            </a:lvl6pPr>
            <a:lvl7pPr>
              <a:defRPr sz="1875" b="0">
                <a:solidFill>
                  <a:srgbClr val="172342"/>
                </a:solidFill>
              </a:defRPr>
            </a:lvl7pPr>
            <a:lvl8pPr>
              <a:defRPr sz="1875" b="0">
                <a:solidFill>
                  <a:srgbClr val="172342"/>
                </a:solidFill>
              </a:defRPr>
            </a:lvl8pPr>
            <a:lvl9pPr>
              <a:defRPr sz="1875" b="0">
                <a:solidFill>
                  <a:srgbClr val="172342"/>
                </a:solidFill>
              </a:defRPr>
            </a:lvl9pPr>
          </a:lstStyle>
          <a:p xmlns:a="http://schemas.openxmlformats.org/drawingml/2006/main">
            <a:pPr>
              <a:defRPr sz="1875" b="0">
                <a:solidFill>
                  <a:srgbClr val="172342"/>
                </a:solidFill>
              </a:defRPr>
            </a:pPr>
            <a:r>
              <a:rPr sz="1875" b="0">
                <a:solidFill>
                  <a:srgbClr val="172342"/>
                </a:solidFill>
              </a:rPr>
              <a:t>days</a:t>
            </a:r>
          </a:p>
        </p:txBody>
      </p:sp>
      <p:sp>
        <p:nvSpPr>
          <p:cNvPr id="11" name="Source and scope">
            <a:extLst xmlns:a="http://schemas.openxmlformats.org/drawingml/2006/main">
              <a:ext uri="{FF2B5EF4-FFF2-40B4-BE49-F238E27FC236}">
                <a16:creationId xmlns:a16="http://schemas.microsoft.com/office/drawing/2014/main" id="{815C9064-45D9-474D-9ABE-F1D73658DF32}"/>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Source baseline: April 28–August 20, 2026. New Databricks pipeline execution pending.</a:t>
            </a:r>
          </a:p>
        </p:txBody>
      </p:sp>
    </p:spTree>
    <p:extLst>
      <p:ext uri="{BB962C8B-B14F-4D97-AF65-F5344CB8AC3E}">
        <p14:creationId xmlns:p14="http://schemas.microsoft.com/office/powerpoint/2010/main" val="55496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13EED54-79C2-41FF-B8FF-59F63C8479B5}"/>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Pipeline architecture</a:t>
            </a:r>
          </a:p>
        </p:txBody>
      </p:sp>
      <p:sp>
        <p:nvSpPr>
          <p:cNvPr id="3" name="01 SOURCE">
            <a:extLst xmlns:a="http://schemas.openxmlformats.org/drawingml/2006/main">
              <a:ext uri="{FF2B5EF4-FFF2-40B4-BE49-F238E27FC236}">
                <a16:creationId xmlns:a16="http://schemas.microsoft.com/office/drawing/2014/main" id="{591DDF24-4425-47C2-A21D-D8ABC95E5E3B}"/>
              </a:ext>
            </a:extLst>
          </p:cNvPr>
          <p:cNvSpPr>
            <a:spLocks xmlns:a="http://schemas.openxmlformats.org/drawingml/2006/main" noGrp="1"/>
          </p:cNvSpPr>
          <p:nvPr/>
        </p:nvSpPr>
        <p:spPr>
          <a:xfrm xmlns:a="http://schemas.openxmlformats.org/drawingml/2006/main">
            <a:off x="666750" y="1905000"/>
            <a:ext cx="2514600" cy="1905000"/>
          </a:xfrm>
          <a:prstGeom xmlns:a="http://schemas.openxmlformats.org/drawingml/2006/main" prst="rect">
            <a:avLst/>
          </a:prstGeom>
          <a:solidFill xmlns:a="http://schemas.openxmlformats.org/drawingml/2006/main">
            <a:srgbClr val="F1F4FF"/>
          </a:solidFill>
          <a:ln xmlns:a="http://schemas.openxmlformats.org/drawingml/2006/main" w="9525">
            <a:solidFill>
              <a:srgbClr val="334FE4"/>
            </a:solidFill>
          </a:ln>
        </p:spPr>
        <p:txBody>
          <a:bodyPr xmlns:a="http://schemas.openxmlformats.org/drawingml/2006/main"/>
          <a:lstStyle xmlns:a="http://schemas.openxmlformats.org/drawingml/2006/main">
            <a:defPPr>
              <a:defRPr sz="1875">
                <a:solidFill>
                  <a:srgbClr val="172342"/>
                </a:solidFill>
              </a:defRPr>
            </a:defPPr>
            <a:lvl1pPr>
              <a:defRPr sz="1875">
                <a:solidFill>
                  <a:srgbClr val="172342"/>
                </a:solidFill>
              </a:defRPr>
            </a:lvl1pPr>
            <a:lvl2pPr>
              <a:defRPr sz="1875">
                <a:solidFill>
                  <a:srgbClr val="172342"/>
                </a:solidFill>
              </a:defRPr>
            </a:lvl2pPr>
            <a:lvl3pPr>
              <a:defRPr sz="1875">
                <a:solidFill>
                  <a:srgbClr val="172342"/>
                </a:solidFill>
              </a:defRPr>
            </a:lvl3pPr>
            <a:lvl4pPr>
              <a:defRPr sz="1875">
                <a:solidFill>
                  <a:srgbClr val="172342"/>
                </a:solidFill>
              </a:defRPr>
            </a:lvl4pPr>
            <a:lvl5pPr>
              <a:defRPr sz="1875">
                <a:solidFill>
                  <a:srgbClr val="172342"/>
                </a:solidFill>
              </a:defRPr>
            </a:lvl5pPr>
            <a:lvl6pPr>
              <a:defRPr sz="1875">
                <a:solidFill>
                  <a:srgbClr val="172342"/>
                </a:solidFill>
              </a:defRPr>
            </a:lvl6pPr>
            <a:lvl7pPr>
              <a:defRPr sz="1875">
                <a:solidFill>
                  <a:srgbClr val="172342"/>
                </a:solidFill>
              </a:defRPr>
            </a:lvl7pPr>
            <a:lvl8pPr>
              <a:defRPr sz="1875">
                <a:solidFill>
                  <a:srgbClr val="172342"/>
                </a:solidFill>
              </a:defRPr>
            </a:lvl8pPr>
            <a:lvl9pPr>
              <a:defRPr sz="1875">
                <a:solidFill>
                  <a:srgbClr val="172342"/>
                </a:solidFill>
              </a:defRPr>
            </a:lvl9pPr>
          </a:lstStyle>
          <a:p xmlns:a="http://schemas.openxmlformats.org/drawingml/2006/main">
            <a:pPr>
              <a:defRPr sz="1875">
                <a:solidFill>
                  <a:srgbClr val="172342"/>
                </a:solidFill>
              </a:defRPr>
            </a:pPr>
            <a:r>
              <a:rPr sz="1875">
                <a:solidFill>
                  <a:srgbClr val="172342"/>
                </a:solidFill>
              </a:rPr>
              <a:t>01 SOURCE</a:t>
            </a:r>
          </a:p>
          <a:p xmlns:a="http://schemas.openxmlformats.org/drawingml/2006/main">
            <a:r>
              <a:t/>
            </a:r>
          </a:p>
          <a:p xmlns:a="http://schemas.openxmlformats.org/drawingml/2006/main">
            <a:pPr>
              <a:defRPr sz="1875">
                <a:solidFill>
                  <a:srgbClr val="172342"/>
                </a:solidFill>
              </a:defRPr>
            </a:pPr>
            <a:r>
              <a:rPr sz="1875">
                <a:solidFill>
                  <a:srgbClr val="172342"/>
                </a:solidFill>
              </a:rPr>
              <a:t>Multiline JSON checks</a:t>
            </a:r>
          </a:p>
          <a:p xmlns:a="http://schemas.openxmlformats.org/drawingml/2006/main">
            <a:pPr>
              <a:defRPr sz="1875">
                <a:solidFill>
                  <a:srgbClr val="172342"/>
                </a:solidFill>
              </a:defRPr>
            </a:pPr>
            <a:r>
              <a:rPr sz="1875">
                <a:solidFill>
                  <a:srgbClr val="172342"/>
                </a:solidFill>
              </a:rPr>
              <a:t>Location/channel references</a:t>
            </a:r>
          </a:p>
        </p:txBody>
      </p:sp>
      <p:sp>
        <p:nvSpPr>
          <p:cNvPr id="4" name="">
            <a:extLst xmlns:a="http://schemas.openxmlformats.org/drawingml/2006/main">
              <a:ext uri="{FF2B5EF4-FFF2-40B4-BE49-F238E27FC236}">
                <a16:creationId xmlns:a16="http://schemas.microsoft.com/office/drawing/2014/main" id="{67EA5D89-65F0-4D81-AD83-6C81A123A2B1}"/>
              </a:ext>
            </a:extLst>
          </p:cNvPr>
          <p:cNvSpPr>
            <a:spLocks xmlns:a="http://schemas.openxmlformats.org/drawingml/2006/main" noGrp="1"/>
          </p:cNvSpPr>
          <p:nvPr/>
        </p:nvSpPr>
        <p:spPr>
          <a:xfrm xmlns:a="http://schemas.openxmlformats.org/drawingml/2006/main">
            <a:off x="3238500" y="2647950"/>
            <a:ext cx="238125" cy="285750"/>
          </a:xfrm>
          <a:prstGeom xmlns:a="http://schemas.openxmlformats.org/drawingml/2006/main" prst="rightArrow">
            <a:avLst/>
          </a:prstGeom>
          <a:solidFill xmlns:a="http://schemas.openxmlformats.org/drawingml/2006/main">
            <a:srgbClr val="334FE4"/>
          </a:solidFill>
          <a:ln xmlns:a="http://schemas.openxmlformats.org/drawingml/2006/main" w="0">
            <a:noFill/>
          </a:ln>
        </p:spPr>
      </p:sp>
      <p:sp>
        <p:nvSpPr>
          <p:cNvPr id="5" name="02 SILVER">
            <a:extLst xmlns:a="http://schemas.openxmlformats.org/drawingml/2006/main">
              <a:ext uri="{FF2B5EF4-FFF2-40B4-BE49-F238E27FC236}">
                <a16:creationId xmlns:a16="http://schemas.microsoft.com/office/drawing/2014/main" id="{6E702020-401E-44F0-9C47-2503FE0A586D}"/>
              </a:ext>
            </a:extLst>
          </p:cNvPr>
          <p:cNvSpPr>
            <a:spLocks xmlns:a="http://schemas.openxmlformats.org/drawingml/2006/main" noGrp="1"/>
          </p:cNvSpPr>
          <p:nvPr/>
        </p:nvSpPr>
        <p:spPr>
          <a:xfrm xmlns:a="http://schemas.openxmlformats.org/drawingml/2006/main">
            <a:off x="3524250" y="1905000"/>
            <a:ext cx="2514600" cy="1905000"/>
          </a:xfrm>
          <a:prstGeom xmlns:a="http://schemas.openxmlformats.org/drawingml/2006/main" prst="rect">
            <a:avLst/>
          </a:prstGeom>
          <a:solidFill xmlns:a="http://schemas.openxmlformats.org/drawingml/2006/main">
            <a:srgbClr val="F1F4FF"/>
          </a:solidFill>
          <a:ln xmlns:a="http://schemas.openxmlformats.org/drawingml/2006/main" w="9525">
            <a:solidFill>
              <a:srgbClr val="334FE4"/>
            </a:solidFill>
          </a:ln>
        </p:spPr>
        <p:txBody>
          <a:bodyPr xmlns:a="http://schemas.openxmlformats.org/drawingml/2006/main"/>
          <a:lstStyle xmlns:a="http://schemas.openxmlformats.org/drawingml/2006/main">
            <a:defPPr>
              <a:defRPr sz="1875">
                <a:solidFill>
                  <a:srgbClr val="172342"/>
                </a:solidFill>
              </a:defRPr>
            </a:defPPr>
            <a:lvl1pPr>
              <a:defRPr sz="1875">
                <a:solidFill>
                  <a:srgbClr val="172342"/>
                </a:solidFill>
              </a:defRPr>
            </a:lvl1pPr>
            <a:lvl2pPr>
              <a:defRPr sz="1875">
                <a:solidFill>
                  <a:srgbClr val="172342"/>
                </a:solidFill>
              </a:defRPr>
            </a:lvl2pPr>
            <a:lvl3pPr>
              <a:defRPr sz="1875">
                <a:solidFill>
                  <a:srgbClr val="172342"/>
                </a:solidFill>
              </a:defRPr>
            </a:lvl3pPr>
            <a:lvl4pPr>
              <a:defRPr sz="1875">
                <a:solidFill>
                  <a:srgbClr val="172342"/>
                </a:solidFill>
              </a:defRPr>
            </a:lvl4pPr>
            <a:lvl5pPr>
              <a:defRPr sz="1875">
                <a:solidFill>
                  <a:srgbClr val="172342"/>
                </a:solidFill>
              </a:defRPr>
            </a:lvl5pPr>
            <a:lvl6pPr>
              <a:defRPr sz="1875">
                <a:solidFill>
                  <a:srgbClr val="172342"/>
                </a:solidFill>
              </a:defRPr>
            </a:lvl6pPr>
            <a:lvl7pPr>
              <a:defRPr sz="1875">
                <a:solidFill>
                  <a:srgbClr val="172342"/>
                </a:solidFill>
              </a:defRPr>
            </a:lvl7pPr>
            <a:lvl8pPr>
              <a:defRPr sz="1875">
                <a:solidFill>
                  <a:srgbClr val="172342"/>
                </a:solidFill>
              </a:defRPr>
            </a:lvl8pPr>
            <a:lvl9pPr>
              <a:defRPr sz="1875">
                <a:solidFill>
                  <a:srgbClr val="172342"/>
                </a:solidFill>
              </a:defRPr>
            </a:lvl9pPr>
          </a:lstStyle>
          <a:p xmlns:a="http://schemas.openxmlformats.org/drawingml/2006/main">
            <a:pPr>
              <a:defRPr sz="1875">
                <a:solidFill>
                  <a:srgbClr val="172342"/>
                </a:solidFill>
              </a:defRPr>
            </a:pPr>
            <a:r>
              <a:rPr sz="1875">
                <a:solidFill>
                  <a:srgbClr val="172342"/>
                </a:solidFill>
              </a:rPr>
              <a:t>02 SILVER</a:t>
            </a:r>
          </a:p>
          <a:p xmlns:a="http://schemas.openxmlformats.org/drawingml/2006/main">
            <a:r>
              <a:t/>
            </a:r>
          </a:p>
          <a:p xmlns:a="http://schemas.openxmlformats.org/drawingml/2006/main">
            <a:pPr>
              <a:defRPr sz="1875">
                <a:solidFill>
                  <a:srgbClr val="172342"/>
                </a:solidFill>
              </a:defRPr>
            </a:pPr>
            <a:r>
              <a:rPr sz="1875">
                <a:solidFill>
                  <a:srgbClr val="172342"/>
                </a:solidFill>
              </a:rPr>
              <a:t>Typed checks and quality flags</a:t>
            </a:r>
          </a:p>
          <a:p xmlns:a="http://schemas.openxmlformats.org/drawingml/2006/main">
            <a:pPr>
              <a:defRPr sz="1875">
                <a:solidFill>
                  <a:srgbClr val="172342"/>
                </a:solidFill>
              </a:defRPr>
            </a:pPr>
            <a:r>
              <a:rPr sz="1875">
                <a:solidFill>
                  <a:srgbClr val="172342"/>
                </a:solidFill>
              </a:rPr>
              <a:t>Payments and discount events</a:t>
            </a:r>
          </a:p>
        </p:txBody>
      </p:sp>
      <p:sp>
        <p:nvSpPr>
          <p:cNvPr id="6" name="">
            <a:extLst xmlns:a="http://schemas.openxmlformats.org/drawingml/2006/main">
              <a:ext uri="{FF2B5EF4-FFF2-40B4-BE49-F238E27FC236}">
                <a16:creationId xmlns:a16="http://schemas.microsoft.com/office/drawing/2014/main" id="{0A51F837-C7E4-466D-981A-D47B68F84A7F}"/>
              </a:ext>
            </a:extLst>
          </p:cNvPr>
          <p:cNvSpPr>
            <a:spLocks xmlns:a="http://schemas.openxmlformats.org/drawingml/2006/main" noGrp="1"/>
          </p:cNvSpPr>
          <p:nvPr/>
        </p:nvSpPr>
        <p:spPr>
          <a:xfrm xmlns:a="http://schemas.openxmlformats.org/drawingml/2006/main">
            <a:off x="6096000" y="2647950"/>
            <a:ext cx="238125" cy="285750"/>
          </a:xfrm>
          <a:prstGeom xmlns:a="http://schemas.openxmlformats.org/drawingml/2006/main" prst="rightArrow">
            <a:avLst/>
          </a:prstGeom>
          <a:solidFill xmlns:a="http://schemas.openxmlformats.org/drawingml/2006/main">
            <a:srgbClr val="334FE4"/>
          </a:solidFill>
          <a:ln xmlns:a="http://schemas.openxmlformats.org/drawingml/2006/main" w="0">
            <a:noFill/>
          </a:ln>
        </p:spPr>
      </p:sp>
      <p:sp>
        <p:nvSpPr>
          <p:cNvPr id="7" name="03 GOLD">
            <a:extLst xmlns:a="http://schemas.openxmlformats.org/drawingml/2006/main">
              <a:ext uri="{FF2B5EF4-FFF2-40B4-BE49-F238E27FC236}">
                <a16:creationId xmlns:a16="http://schemas.microsoft.com/office/drawing/2014/main" id="{69AEAD87-BCFA-4BB6-AF30-766FC98AF66E}"/>
              </a:ext>
            </a:extLst>
          </p:cNvPr>
          <p:cNvSpPr>
            <a:spLocks xmlns:a="http://schemas.openxmlformats.org/drawingml/2006/main" noGrp="1"/>
          </p:cNvSpPr>
          <p:nvPr/>
        </p:nvSpPr>
        <p:spPr>
          <a:xfrm xmlns:a="http://schemas.openxmlformats.org/drawingml/2006/main">
            <a:off x="6381750" y="1905000"/>
            <a:ext cx="2514600" cy="1905000"/>
          </a:xfrm>
          <a:prstGeom xmlns:a="http://schemas.openxmlformats.org/drawingml/2006/main" prst="rect">
            <a:avLst/>
          </a:prstGeom>
          <a:solidFill xmlns:a="http://schemas.openxmlformats.org/drawingml/2006/main">
            <a:srgbClr val="F1F4FF"/>
          </a:solidFill>
          <a:ln xmlns:a="http://schemas.openxmlformats.org/drawingml/2006/main" w="9525">
            <a:solidFill>
              <a:srgbClr val="334FE4"/>
            </a:solidFill>
          </a:ln>
        </p:spPr>
        <p:txBody>
          <a:bodyPr xmlns:a="http://schemas.openxmlformats.org/drawingml/2006/main"/>
          <a:lstStyle xmlns:a="http://schemas.openxmlformats.org/drawingml/2006/main">
            <a:defPPr>
              <a:defRPr sz="1875">
                <a:solidFill>
                  <a:srgbClr val="172342"/>
                </a:solidFill>
              </a:defRPr>
            </a:defPPr>
            <a:lvl1pPr>
              <a:defRPr sz="1875">
                <a:solidFill>
                  <a:srgbClr val="172342"/>
                </a:solidFill>
              </a:defRPr>
            </a:lvl1pPr>
            <a:lvl2pPr>
              <a:defRPr sz="1875">
                <a:solidFill>
                  <a:srgbClr val="172342"/>
                </a:solidFill>
              </a:defRPr>
            </a:lvl2pPr>
            <a:lvl3pPr>
              <a:defRPr sz="1875">
                <a:solidFill>
                  <a:srgbClr val="172342"/>
                </a:solidFill>
              </a:defRPr>
            </a:lvl3pPr>
            <a:lvl4pPr>
              <a:defRPr sz="1875">
                <a:solidFill>
                  <a:srgbClr val="172342"/>
                </a:solidFill>
              </a:defRPr>
            </a:lvl4pPr>
            <a:lvl5pPr>
              <a:defRPr sz="1875">
                <a:solidFill>
                  <a:srgbClr val="172342"/>
                </a:solidFill>
              </a:defRPr>
            </a:lvl5pPr>
            <a:lvl6pPr>
              <a:defRPr sz="1875">
                <a:solidFill>
                  <a:srgbClr val="172342"/>
                </a:solidFill>
              </a:defRPr>
            </a:lvl6pPr>
            <a:lvl7pPr>
              <a:defRPr sz="1875">
                <a:solidFill>
                  <a:srgbClr val="172342"/>
                </a:solidFill>
              </a:defRPr>
            </a:lvl7pPr>
            <a:lvl8pPr>
              <a:defRPr sz="1875">
                <a:solidFill>
                  <a:srgbClr val="172342"/>
                </a:solidFill>
              </a:defRPr>
            </a:lvl8pPr>
            <a:lvl9pPr>
              <a:defRPr sz="1875">
                <a:solidFill>
                  <a:srgbClr val="172342"/>
                </a:solidFill>
              </a:defRPr>
            </a:lvl9pPr>
          </a:lstStyle>
          <a:p xmlns:a="http://schemas.openxmlformats.org/drawingml/2006/main">
            <a:pPr>
              <a:defRPr sz="1875">
                <a:solidFill>
                  <a:srgbClr val="172342"/>
                </a:solidFill>
              </a:defRPr>
            </a:pPr>
            <a:r>
              <a:rPr sz="1875">
                <a:solidFill>
                  <a:srgbClr val="172342"/>
                </a:solidFill>
              </a:rPr>
              <a:t>03 GOLD</a:t>
            </a:r>
          </a:p>
          <a:p xmlns:a="http://schemas.openxmlformats.org/drawingml/2006/main">
            <a:r>
              <a:t/>
            </a:r>
          </a:p>
          <a:p xmlns:a="http://schemas.openxmlformats.org/drawingml/2006/main">
            <a:pPr>
              <a:defRPr sz="1875">
                <a:solidFill>
                  <a:srgbClr val="172342"/>
                </a:solidFill>
              </a:defRPr>
            </a:pPr>
            <a:r>
              <a:rPr sz="1875">
                <a:solidFill>
                  <a:srgbClr val="172342"/>
                </a:solidFill>
              </a:rPr>
              <a:t>Daily and location metrics</a:t>
            </a:r>
          </a:p>
          <a:p xmlns:a="http://schemas.openxmlformats.org/drawingml/2006/main">
            <a:pPr>
              <a:defRPr sz="1875">
                <a:solidFill>
                  <a:srgbClr val="172342"/>
                </a:solidFill>
              </a:defRPr>
            </a:pPr>
            <a:r>
              <a:rPr sz="1875">
                <a:solidFill>
                  <a:srgbClr val="172342"/>
                </a:solidFill>
              </a:rPr>
              <a:t>Exceptions and comparisons</a:t>
            </a:r>
          </a:p>
        </p:txBody>
      </p:sp>
      <p:sp>
        <p:nvSpPr>
          <p:cNvPr id="8" name="">
            <a:extLst xmlns:a="http://schemas.openxmlformats.org/drawingml/2006/main">
              <a:ext uri="{FF2B5EF4-FFF2-40B4-BE49-F238E27FC236}">
                <a16:creationId xmlns:a16="http://schemas.microsoft.com/office/drawing/2014/main" id="{F8EFC1E8-69A5-4804-B4BD-7CA30154FC20}"/>
              </a:ext>
            </a:extLst>
          </p:cNvPr>
          <p:cNvSpPr>
            <a:spLocks xmlns:a="http://schemas.openxmlformats.org/drawingml/2006/main" noGrp="1"/>
          </p:cNvSpPr>
          <p:nvPr/>
        </p:nvSpPr>
        <p:spPr>
          <a:xfrm xmlns:a="http://schemas.openxmlformats.org/drawingml/2006/main">
            <a:off x="8953500" y="2647950"/>
            <a:ext cx="238125" cy="285750"/>
          </a:xfrm>
          <a:prstGeom xmlns:a="http://schemas.openxmlformats.org/drawingml/2006/main" prst="rightArrow">
            <a:avLst/>
          </a:prstGeom>
          <a:solidFill xmlns:a="http://schemas.openxmlformats.org/drawingml/2006/main">
            <a:srgbClr val="334FE4"/>
          </a:solidFill>
          <a:ln xmlns:a="http://schemas.openxmlformats.org/drawingml/2006/main" w="0">
            <a:noFill/>
          </a:ln>
        </p:spPr>
      </p:sp>
      <p:sp>
        <p:nvSpPr>
          <p:cNvPr id="9" name="04 VALIDATION">
            <a:extLst xmlns:a="http://schemas.openxmlformats.org/drawingml/2006/main">
              <a:ext uri="{FF2B5EF4-FFF2-40B4-BE49-F238E27FC236}">
                <a16:creationId xmlns:a16="http://schemas.microsoft.com/office/drawing/2014/main" id="{6E4FE302-CF7C-404B-8C45-7FA146A0E7A4}"/>
              </a:ext>
            </a:extLst>
          </p:cNvPr>
          <p:cNvSpPr>
            <a:spLocks xmlns:a="http://schemas.openxmlformats.org/drawingml/2006/main" noGrp="1"/>
          </p:cNvSpPr>
          <p:nvPr/>
        </p:nvSpPr>
        <p:spPr>
          <a:xfrm xmlns:a="http://schemas.openxmlformats.org/drawingml/2006/main">
            <a:off x="9239250" y="1905000"/>
            <a:ext cx="2514600" cy="1905000"/>
          </a:xfrm>
          <a:prstGeom xmlns:a="http://schemas.openxmlformats.org/drawingml/2006/main" prst="rect">
            <a:avLst/>
          </a:prstGeom>
          <a:solidFill xmlns:a="http://schemas.openxmlformats.org/drawingml/2006/main">
            <a:srgbClr val="F1F4FF"/>
          </a:solidFill>
          <a:ln xmlns:a="http://schemas.openxmlformats.org/drawingml/2006/main" w="9525">
            <a:solidFill>
              <a:srgbClr val="334FE4"/>
            </a:solidFill>
          </a:ln>
        </p:spPr>
        <p:txBody>
          <a:bodyPr xmlns:a="http://schemas.openxmlformats.org/drawingml/2006/main"/>
          <a:lstStyle xmlns:a="http://schemas.openxmlformats.org/drawingml/2006/main">
            <a:defPPr>
              <a:defRPr sz="1875">
                <a:solidFill>
                  <a:srgbClr val="172342"/>
                </a:solidFill>
              </a:defRPr>
            </a:defPPr>
            <a:lvl1pPr>
              <a:defRPr sz="1875">
                <a:solidFill>
                  <a:srgbClr val="172342"/>
                </a:solidFill>
              </a:defRPr>
            </a:lvl1pPr>
            <a:lvl2pPr>
              <a:defRPr sz="1875">
                <a:solidFill>
                  <a:srgbClr val="172342"/>
                </a:solidFill>
              </a:defRPr>
            </a:lvl2pPr>
            <a:lvl3pPr>
              <a:defRPr sz="1875">
                <a:solidFill>
                  <a:srgbClr val="172342"/>
                </a:solidFill>
              </a:defRPr>
            </a:lvl3pPr>
            <a:lvl4pPr>
              <a:defRPr sz="1875">
                <a:solidFill>
                  <a:srgbClr val="172342"/>
                </a:solidFill>
              </a:defRPr>
            </a:lvl4pPr>
            <a:lvl5pPr>
              <a:defRPr sz="1875">
                <a:solidFill>
                  <a:srgbClr val="172342"/>
                </a:solidFill>
              </a:defRPr>
            </a:lvl5pPr>
            <a:lvl6pPr>
              <a:defRPr sz="1875">
                <a:solidFill>
                  <a:srgbClr val="172342"/>
                </a:solidFill>
              </a:defRPr>
            </a:lvl6pPr>
            <a:lvl7pPr>
              <a:defRPr sz="1875">
                <a:solidFill>
                  <a:srgbClr val="172342"/>
                </a:solidFill>
              </a:defRPr>
            </a:lvl7pPr>
            <a:lvl8pPr>
              <a:defRPr sz="1875">
                <a:solidFill>
                  <a:srgbClr val="172342"/>
                </a:solidFill>
              </a:defRPr>
            </a:lvl8pPr>
            <a:lvl9pPr>
              <a:defRPr sz="1875">
                <a:solidFill>
                  <a:srgbClr val="172342"/>
                </a:solidFill>
              </a:defRPr>
            </a:lvl9pPr>
          </a:lstStyle>
          <a:p xmlns:a="http://schemas.openxmlformats.org/drawingml/2006/main">
            <a:pPr>
              <a:defRPr sz="1875">
                <a:solidFill>
                  <a:srgbClr val="172342"/>
                </a:solidFill>
              </a:defRPr>
            </a:pPr>
            <a:r>
              <a:rPr sz="1875">
                <a:solidFill>
                  <a:srgbClr val="172342"/>
                </a:solidFill>
              </a:rPr>
              <a:t>04 VALIDATION</a:t>
            </a:r>
          </a:p>
          <a:p xmlns:a="http://schemas.openxmlformats.org/drawingml/2006/main">
            <a:r>
              <a:t/>
            </a:r>
          </a:p>
          <a:p xmlns:a="http://schemas.openxmlformats.org/drawingml/2006/main">
            <a:pPr>
              <a:defRPr sz="1875">
                <a:solidFill>
                  <a:srgbClr val="172342"/>
                </a:solidFill>
              </a:defRPr>
            </a:pPr>
            <a:r>
              <a:rPr sz="1875">
                <a:solidFill>
                  <a:srgbClr val="172342"/>
                </a:solidFill>
              </a:rPr>
              <a:t>Population reconciliation</a:t>
            </a:r>
          </a:p>
          <a:p xmlns:a="http://schemas.openxmlformats.org/drawingml/2006/main">
            <a:pPr>
              <a:defRPr sz="1875">
                <a:solidFill>
                  <a:srgbClr val="172342"/>
                </a:solidFill>
              </a:defRPr>
            </a:pPr>
            <a:r>
              <a:rPr sz="1875">
                <a:solidFill>
                  <a:srgbClr val="172342"/>
                </a:solidFill>
              </a:rPr>
              <a:t>Accepted-run audit</a:t>
            </a:r>
          </a:p>
        </p:txBody>
      </p:sp>
      <p:sp>
        <p:nvSpPr>
          <p:cNvPr id="10" name="Exceptions">
            <a:extLst xmlns:a="http://schemas.openxmlformats.org/drawingml/2006/main">
              <a:ext uri="{FF2B5EF4-FFF2-40B4-BE49-F238E27FC236}">
                <a16:creationId xmlns:a16="http://schemas.microsoft.com/office/drawing/2014/main" id="{BD053DE3-4635-4F5F-92CD-09D2615EA572}"/>
              </a:ext>
            </a:extLst>
          </p:cNvPr>
          <p:cNvSpPr>
            <a:spLocks xmlns:a="http://schemas.openxmlformats.org/drawingml/2006/main" noGrp="1"/>
          </p:cNvSpPr>
          <p:nvPr/>
        </p:nvSpPr>
        <p:spPr>
          <a:xfrm xmlns:a="http://schemas.openxmlformats.org/drawingml/2006/main">
            <a:off x="666750" y="4381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334FE4"/>
                </a:solidFill>
              </a:defRPr>
            </a:defPPr>
            <a:lvl1pPr>
              <a:defRPr sz="2175" b="1">
                <a:solidFill>
                  <a:srgbClr val="334FE4"/>
                </a:solidFill>
              </a:defRPr>
            </a:lvl1pPr>
            <a:lvl2pPr>
              <a:defRPr sz="2175" b="1">
                <a:solidFill>
                  <a:srgbClr val="334FE4"/>
                </a:solidFill>
              </a:defRPr>
            </a:lvl2pPr>
            <a:lvl3pPr>
              <a:defRPr sz="2175" b="1">
                <a:solidFill>
                  <a:srgbClr val="334FE4"/>
                </a:solidFill>
              </a:defRPr>
            </a:lvl3pPr>
            <a:lvl4pPr>
              <a:defRPr sz="2175" b="1">
                <a:solidFill>
                  <a:srgbClr val="334FE4"/>
                </a:solidFill>
              </a:defRPr>
            </a:lvl4pPr>
            <a:lvl5pPr>
              <a:defRPr sz="2175" b="1">
                <a:solidFill>
                  <a:srgbClr val="334FE4"/>
                </a:solidFill>
              </a:defRPr>
            </a:lvl5pPr>
            <a:lvl6pPr>
              <a:defRPr sz="2175" b="1">
                <a:solidFill>
                  <a:srgbClr val="334FE4"/>
                </a:solidFill>
              </a:defRPr>
            </a:lvl6pPr>
            <a:lvl7pPr>
              <a:defRPr sz="2175" b="1">
                <a:solidFill>
                  <a:srgbClr val="334FE4"/>
                </a:solidFill>
              </a:defRPr>
            </a:lvl7pPr>
            <a:lvl8pPr>
              <a:defRPr sz="2175" b="1">
                <a:solidFill>
                  <a:srgbClr val="334FE4"/>
                </a:solidFill>
              </a:defRPr>
            </a:lvl8pPr>
            <a:lvl9pPr>
              <a:defRPr sz="2175" b="1">
                <a:solidFill>
                  <a:srgbClr val="334FE4"/>
                </a:solidFill>
              </a:defRPr>
            </a:lvl9pPr>
          </a:lstStyle>
          <a:p xmlns:a="http://schemas.openxmlformats.org/drawingml/2006/main">
            <a:pPr>
              <a:defRPr sz="2175" b="1">
                <a:solidFill>
                  <a:srgbClr val="334FE4"/>
                </a:solidFill>
              </a:defRPr>
            </a:pPr>
            <a:r>
              <a:rPr sz="2175" b="1">
                <a:solidFill>
                  <a:srgbClr val="334FE4"/>
                </a:solidFill>
              </a:rPr>
              <a:t>Silver keeps quarantine and out-of-scope rows separately.</a:t>
            </a:r>
          </a:p>
        </p:txBody>
      </p:sp>
      <p:sp>
        <p:nvSpPr>
          <p:cNvPr id="11" name="Traceability">
            <a:extLst xmlns:a="http://schemas.openxmlformats.org/drawingml/2006/main">
              <a:ext uri="{FF2B5EF4-FFF2-40B4-BE49-F238E27FC236}">
                <a16:creationId xmlns:a16="http://schemas.microsoft.com/office/drawing/2014/main" id="{31DC14AE-1B37-42A3-BD09-72DD95FBB408}"/>
              </a:ext>
            </a:extLst>
          </p:cNvPr>
          <p:cNvSpPr>
            <a:spLocks xmlns:a="http://schemas.openxmlformats.org/drawingml/2006/main" noGrp="1"/>
          </p:cNvSpPr>
          <p:nvPr/>
        </p:nvSpPr>
        <p:spPr>
          <a:xfrm xmlns:a="http://schemas.openxmlformats.org/drawingml/2006/main">
            <a:off x="666750" y="51244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342"/>
                </a:solidFill>
              </a:defRPr>
            </a:defPPr>
            <a:lvl1pPr>
              <a:defRPr sz="2025" b="0">
                <a:solidFill>
                  <a:srgbClr val="172342"/>
                </a:solidFill>
              </a:defRPr>
            </a:lvl1pPr>
            <a:lvl2pPr>
              <a:defRPr sz="2025" b="0">
                <a:solidFill>
                  <a:srgbClr val="172342"/>
                </a:solidFill>
              </a:defRPr>
            </a:lvl2pPr>
            <a:lvl3pPr>
              <a:defRPr sz="2025" b="0">
                <a:solidFill>
                  <a:srgbClr val="172342"/>
                </a:solidFill>
              </a:defRPr>
            </a:lvl3pPr>
            <a:lvl4pPr>
              <a:defRPr sz="2025" b="0">
                <a:solidFill>
                  <a:srgbClr val="172342"/>
                </a:solidFill>
              </a:defRPr>
            </a:lvl4pPr>
            <a:lvl5pPr>
              <a:defRPr sz="2025" b="0">
                <a:solidFill>
                  <a:srgbClr val="172342"/>
                </a:solidFill>
              </a:defRPr>
            </a:lvl5pPr>
            <a:lvl6pPr>
              <a:defRPr sz="2025" b="0">
                <a:solidFill>
                  <a:srgbClr val="172342"/>
                </a:solidFill>
              </a:defRPr>
            </a:lvl6pPr>
            <a:lvl7pPr>
              <a:defRPr sz="2025" b="0">
                <a:solidFill>
                  <a:srgbClr val="172342"/>
                </a:solidFill>
              </a:defRPr>
            </a:lvl7pPr>
            <a:lvl8pPr>
              <a:defRPr sz="2025" b="0">
                <a:solidFill>
                  <a:srgbClr val="172342"/>
                </a:solidFill>
              </a:defRPr>
            </a:lvl8pPr>
            <a:lvl9pPr>
              <a:defRPr sz="2025" b="0">
                <a:solidFill>
                  <a:srgbClr val="172342"/>
                </a:solidFill>
              </a:defRPr>
            </a:lvl9pPr>
          </a:lstStyle>
          <a:p xmlns:a="http://schemas.openxmlformats.org/drawingml/2006/main">
            <a:pPr>
              <a:defRPr sz="2025" b="0">
                <a:solidFill>
                  <a:srgbClr val="172342"/>
                </a:solidFill>
              </a:defRPr>
            </a:pPr>
            <a:r>
              <a:rPr sz="2025" b="0">
                <a:solidFill>
                  <a:srgbClr val="172342"/>
                </a:solidFill>
              </a:rPr>
              <a:t>Every check and child event retains its source file. Historical EDA tables remain separate.</a:t>
            </a:r>
          </a:p>
        </p:txBody>
      </p:sp>
      <p:sp>
        <p:nvSpPr>
          <p:cNvPr id="12" name="Source and scope">
            <a:extLst xmlns:a="http://schemas.openxmlformats.org/drawingml/2006/main">
              <a:ext uri="{FF2B5EF4-FFF2-40B4-BE49-F238E27FC236}">
                <a16:creationId xmlns:a16="http://schemas.microsoft.com/office/drawing/2014/main" id="{E8AD6CED-0D72-4066-8EAF-188EAAAFD5DA}"/>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Nine Silver datasets and eighteen Gold datasets. The post-run gate controls acceptance.</a:t>
            </a:r>
          </a:p>
        </p:txBody>
      </p:sp>
    </p:spTree>
    <p:extLst>
      <p:ext uri="{BB962C8B-B14F-4D97-AF65-F5344CB8AC3E}">
        <p14:creationId xmlns:p14="http://schemas.microsoft.com/office/powerpoint/2010/main" val="6963019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A155CE63-77D7-40A8-9C8A-FA94E9FBB573}"/>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Transformations that preserve meaning</a:t>
            </a:r>
          </a:p>
        </p:txBody>
      </p:sp>
      <p:sp>
        <p:nvSpPr>
          <p:cNvPr id="3" name="Concept">
            <a:extLst xmlns:a="http://schemas.openxmlformats.org/drawingml/2006/main">
              <a:ext uri="{FF2B5EF4-FFF2-40B4-BE49-F238E27FC236}">
                <a16:creationId xmlns:a16="http://schemas.microsoft.com/office/drawing/2014/main" id="{7594729D-74BE-4965-BE9F-9362782F8DB6}"/>
              </a:ext>
            </a:extLst>
          </p:cNvPr>
          <p:cNvSpPr>
            <a:spLocks xmlns:a="http://schemas.openxmlformats.org/drawingml/2006/main" noGrp="1"/>
          </p:cNvSpPr>
          <p:nvPr/>
        </p:nvSpPr>
        <p:spPr>
          <a:xfrm xmlns:a="http://schemas.openxmlformats.org/drawingml/2006/main">
            <a:off x="666750" y="15716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Composite check key</a:t>
            </a:r>
          </a:p>
        </p:txBody>
      </p:sp>
      <p:sp>
        <p:nvSpPr>
          <p:cNvPr id="4" name="Explanation">
            <a:extLst xmlns:a="http://schemas.openxmlformats.org/drawingml/2006/main">
              <a:ext uri="{FF2B5EF4-FFF2-40B4-BE49-F238E27FC236}">
                <a16:creationId xmlns:a16="http://schemas.microsoft.com/office/drawing/2014/main" id="{55A2BB14-ABC9-4A60-93B4-7B3E0176EB19}"/>
              </a:ext>
            </a:extLst>
          </p:cNvPr>
          <p:cNvSpPr>
            <a:spLocks xmlns:a="http://schemas.openxmlformats.org/drawingml/2006/main" noGrp="1"/>
          </p:cNvSpPr>
          <p:nvPr/>
        </p:nvSpPr>
        <p:spPr>
          <a:xfrm xmlns:a="http://schemas.openxmlformats.org/drawingml/2006/main">
            <a:off x="4048125" y="15716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Date + location + check ID. Check ID alone can repeat.</a:t>
            </a:r>
          </a:p>
        </p:txBody>
      </p:sp>
      <p:sp>
        <p:nvSpPr>
          <p:cNvPr id="5" name="Concept">
            <a:extLst xmlns:a="http://schemas.openxmlformats.org/drawingml/2006/main">
              <a:ext uri="{FF2B5EF4-FFF2-40B4-BE49-F238E27FC236}">
                <a16:creationId xmlns:a16="http://schemas.microsoft.com/office/drawing/2014/main" id="{E8A355FA-82A2-4995-83D2-631CE488540C}"/>
              </a:ext>
            </a:extLst>
          </p:cNvPr>
          <p:cNvSpPr>
            <a:spLocks xmlns:a="http://schemas.openxmlformats.org/drawingml/2006/main" noGrp="1"/>
          </p:cNvSpPr>
          <p:nvPr/>
        </p:nvSpPr>
        <p:spPr>
          <a:xfrm xmlns:a="http://schemas.openxmlformats.org/drawingml/2006/main">
            <a:off x="666750" y="26193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Separate child arrays</a:t>
            </a:r>
          </a:p>
        </p:txBody>
      </p:sp>
      <p:sp>
        <p:nvSpPr>
          <p:cNvPr id="6" name="Explanation">
            <a:extLst xmlns:a="http://schemas.openxmlformats.org/drawingml/2006/main">
              <a:ext uri="{FF2B5EF4-FFF2-40B4-BE49-F238E27FC236}">
                <a16:creationId xmlns:a16="http://schemas.microsoft.com/office/drawing/2014/main" id="{1BDF4726-60AF-441F-815F-1FEF23389797}"/>
              </a:ext>
            </a:extLst>
          </p:cNvPr>
          <p:cNvSpPr>
            <a:spLocks xmlns:a="http://schemas.openxmlformats.org/drawingml/2006/main" noGrp="1"/>
          </p:cNvSpPr>
          <p:nvPr/>
        </p:nvSpPr>
        <p:spPr>
          <a:xfrm xmlns:a="http://schemas.openxmlformats.org/drawingml/2006/main">
            <a:off x="4048125" y="26193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Expand payments and discounts independently to prevent multiplied rows and amounts.</a:t>
            </a:r>
          </a:p>
        </p:txBody>
      </p:sp>
      <p:sp>
        <p:nvSpPr>
          <p:cNvPr id="7" name="Concept">
            <a:extLst xmlns:a="http://schemas.openxmlformats.org/drawingml/2006/main">
              <a:ext uri="{FF2B5EF4-FFF2-40B4-BE49-F238E27FC236}">
                <a16:creationId xmlns:a16="http://schemas.microsoft.com/office/drawing/2014/main" id="{B9AC522D-1E6E-4BA8-8539-91A9EEC6F2DD}"/>
              </a:ext>
            </a:extLst>
          </p:cNvPr>
          <p:cNvSpPr>
            <a:spLocks xmlns:a="http://schemas.openxmlformats.org/drawingml/2006/main" noGrp="1"/>
          </p:cNvSpPr>
          <p:nvPr/>
        </p:nvSpPr>
        <p:spPr>
          <a:xfrm xmlns:a="http://schemas.openxmlformats.org/drawingml/2006/main">
            <a:off x="666750" y="36671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Signed tip aggregation</a:t>
            </a:r>
          </a:p>
        </p:txBody>
      </p:sp>
      <p:sp>
        <p:nvSpPr>
          <p:cNvPr id="8" name="Explanation">
            <a:extLst xmlns:a="http://schemas.openxmlformats.org/drawingml/2006/main">
              <a:ext uri="{FF2B5EF4-FFF2-40B4-BE49-F238E27FC236}">
                <a16:creationId xmlns:a16="http://schemas.microsoft.com/office/drawing/2014/main" id="{91164F87-DC83-4675-9B00-BE900832B829}"/>
              </a:ext>
            </a:extLst>
          </p:cNvPr>
          <p:cNvSpPr>
            <a:spLocks xmlns:a="http://schemas.openxmlformats.org/drawingml/2006/main" noGrp="1"/>
          </p:cNvSpPr>
          <p:nvPr/>
        </p:nvSpPr>
        <p:spPr>
          <a:xfrm xmlns:a="http://schemas.openxmlformats.org/drawingml/2006/main">
            <a:off x="4048125" y="36671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Sum Gratuity across payments, then take the magnitude for comparisons.</a:t>
            </a:r>
          </a:p>
        </p:txBody>
      </p:sp>
      <p:sp>
        <p:nvSpPr>
          <p:cNvPr id="9" name="Concept">
            <a:extLst xmlns:a="http://schemas.openxmlformats.org/drawingml/2006/main">
              <a:ext uri="{FF2B5EF4-FFF2-40B4-BE49-F238E27FC236}">
                <a16:creationId xmlns:a16="http://schemas.microsoft.com/office/drawing/2014/main" id="{31F4DB1E-5671-450A-B447-D6AAAF9D7D1F}"/>
              </a:ext>
            </a:extLst>
          </p:cNvPr>
          <p:cNvSpPr>
            <a:spLocks xmlns:a="http://schemas.openxmlformats.org/drawingml/2006/main" noGrp="1"/>
          </p:cNvSpPr>
          <p:nvPr/>
        </p:nvSpPr>
        <p:spPr>
          <a:xfrm xmlns:a="http://schemas.openxmlformats.org/drawingml/2006/main">
            <a:off x="666750" y="47148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Reference enrichment</a:t>
            </a:r>
          </a:p>
        </p:txBody>
      </p:sp>
      <p:sp>
        <p:nvSpPr>
          <p:cNvPr id="10" name="Explanation">
            <a:extLst xmlns:a="http://schemas.openxmlformats.org/drawingml/2006/main">
              <a:ext uri="{FF2B5EF4-FFF2-40B4-BE49-F238E27FC236}">
                <a16:creationId xmlns:a16="http://schemas.microsoft.com/office/drawing/2014/main" id="{9027864E-7BE2-4B91-8DBE-E172FD22FC55}"/>
              </a:ext>
            </a:extLst>
          </p:cNvPr>
          <p:cNvSpPr>
            <a:spLocks xmlns:a="http://schemas.openxmlformats.org/drawingml/2006/main" noGrp="1"/>
          </p:cNvSpPr>
          <p:nvPr/>
        </p:nvSpPr>
        <p:spPr>
          <a:xfrm xmlns:a="http://schemas.openxmlformats.org/drawingml/2006/main">
            <a:off x="4048125" y="47148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Join location and channel labels after protecting reference-ID uniqueness.</a:t>
            </a:r>
          </a:p>
        </p:txBody>
      </p:sp>
      <p:sp>
        <p:nvSpPr>
          <p:cNvPr id="11" name="Source and scope">
            <a:extLst xmlns:a="http://schemas.openxmlformats.org/drawingml/2006/main">
              <a:ext uri="{FF2B5EF4-FFF2-40B4-BE49-F238E27FC236}">
                <a16:creationId xmlns:a16="http://schemas.microsoft.com/office/drawing/2014/main" id="{B8B7C673-FE09-4033-9D9D-A25A409F989F}"/>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Negative check IDs remain valid source identifiers. Ticket/item discount amounts stay separate.</a:t>
            </a:r>
          </a:p>
        </p:txBody>
      </p:sp>
    </p:spTree>
    <p:extLst>
      <p:ext uri="{BB962C8B-B14F-4D97-AF65-F5344CB8AC3E}">
        <p14:creationId xmlns:p14="http://schemas.microsoft.com/office/powerpoint/2010/main" val="113666810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BA67107B-BBCA-4915-9888-C00B526B3A72}"/>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Quality controls and handling</a:t>
            </a:r>
          </a:p>
        </p:txBody>
      </p:sp>
      <p:sp>
        <p:nvSpPr>
          <p:cNvPr id="3" name="Concept">
            <a:extLst xmlns:a="http://schemas.openxmlformats.org/drawingml/2006/main">
              <a:ext uri="{FF2B5EF4-FFF2-40B4-BE49-F238E27FC236}">
                <a16:creationId xmlns:a16="http://schemas.microsoft.com/office/drawing/2014/main" id="{B059EFCC-CAF5-47FA-829D-750158236C2D}"/>
              </a:ext>
            </a:extLst>
          </p:cNvPr>
          <p:cNvSpPr>
            <a:spLocks xmlns:a="http://schemas.openxmlformats.org/drawingml/2006/main" noGrp="1"/>
          </p:cNvSpPr>
          <p:nvPr/>
        </p:nvSpPr>
        <p:spPr>
          <a:xfrm xmlns:a="http://schemas.openxmlformats.org/drawingml/2006/main">
            <a:off x="666750" y="15716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Fail publication</a:t>
            </a:r>
          </a:p>
        </p:txBody>
      </p:sp>
      <p:sp>
        <p:nvSpPr>
          <p:cNvPr id="4" name="Explanation">
            <a:extLst xmlns:a="http://schemas.openxmlformats.org/drawingml/2006/main">
              <a:ext uri="{FF2B5EF4-FFF2-40B4-BE49-F238E27FC236}">
                <a16:creationId xmlns:a16="http://schemas.microsoft.com/office/drawing/2014/main" id="{FE3917E1-EACA-49AC-890B-2BE4C9F3BD2F}"/>
              </a:ext>
            </a:extLst>
          </p:cNvPr>
          <p:cNvSpPr>
            <a:spLocks xmlns:a="http://schemas.openxmlformats.org/drawingml/2006/main" noGrp="1"/>
          </p:cNvSpPr>
          <p:nvPr/>
        </p:nvSpPr>
        <p:spPr>
          <a:xfrm xmlns:a="http://schemas.openxmlformats.org/drawingml/2006/main">
            <a:off x="4048125" y="15716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Null or duplicate reference IDs stop the update. Invalid published checks also fail.</a:t>
            </a:r>
          </a:p>
        </p:txBody>
      </p:sp>
      <p:sp>
        <p:nvSpPr>
          <p:cNvPr id="5" name="Concept">
            <a:extLst xmlns:a="http://schemas.openxmlformats.org/drawingml/2006/main">
              <a:ext uri="{FF2B5EF4-FFF2-40B4-BE49-F238E27FC236}">
                <a16:creationId xmlns:a16="http://schemas.microsoft.com/office/drawing/2014/main" id="{F30F7CA5-CDB3-43D1-9536-9ED2F2DA177A}"/>
              </a:ext>
            </a:extLst>
          </p:cNvPr>
          <p:cNvSpPr>
            <a:spLocks xmlns:a="http://schemas.openxmlformats.org/drawingml/2006/main" noGrp="1"/>
          </p:cNvSpPr>
          <p:nvPr/>
        </p:nvSpPr>
        <p:spPr>
          <a:xfrm xmlns:a="http://schemas.openxmlformats.org/drawingml/2006/main">
            <a:off x="666750" y="26193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Retain in quarantine</a:t>
            </a:r>
          </a:p>
        </p:txBody>
      </p:sp>
      <p:sp>
        <p:nvSpPr>
          <p:cNvPr id="6" name="Explanation">
            <a:extLst xmlns:a="http://schemas.openxmlformats.org/drawingml/2006/main">
              <a:ext uri="{FF2B5EF4-FFF2-40B4-BE49-F238E27FC236}">
                <a16:creationId xmlns:a16="http://schemas.microsoft.com/office/drawing/2014/main" id="{B5CE90F0-385C-46BA-B3DB-35300F4BD977}"/>
              </a:ext>
            </a:extLst>
          </p:cNvPr>
          <p:cNvSpPr>
            <a:spLocks xmlns:a="http://schemas.openxmlformats.org/drawingml/2006/main" noGrp="1"/>
          </p:cNvSpPr>
          <p:nvPr/>
        </p:nvSpPr>
        <p:spPr>
          <a:xfrm xmlns:a="http://schemas.openxmlformats.org/drawingml/2006/main">
            <a:off x="4048125" y="26193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Invalid keys, dates, types or references keep their source evidence and reasons.</a:t>
            </a:r>
          </a:p>
        </p:txBody>
      </p:sp>
      <p:sp>
        <p:nvSpPr>
          <p:cNvPr id="7" name="Concept">
            <a:extLst xmlns:a="http://schemas.openxmlformats.org/drawingml/2006/main">
              <a:ext uri="{FF2B5EF4-FFF2-40B4-BE49-F238E27FC236}">
                <a16:creationId xmlns:a16="http://schemas.microsoft.com/office/drawing/2014/main" id="{6F05774D-409C-4D75-A993-CD8A09449E68}"/>
              </a:ext>
            </a:extLst>
          </p:cNvPr>
          <p:cNvSpPr>
            <a:spLocks xmlns:a="http://schemas.openxmlformats.org/drawingml/2006/main" noGrp="1"/>
          </p:cNvSpPr>
          <p:nvPr/>
        </p:nvSpPr>
        <p:spPr>
          <a:xfrm xmlns:a="http://schemas.openxmlformats.org/drawingml/2006/main">
            <a:off x="666750" y="36671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Monitor exceptions</a:t>
            </a:r>
          </a:p>
        </p:txBody>
      </p:sp>
      <p:sp>
        <p:nvSpPr>
          <p:cNvPr id="8" name="Explanation">
            <a:extLst xmlns:a="http://schemas.openxmlformats.org/drawingml/2006/main">
              <a:ext uri="{FF2B5EF4-FFF2-40B4-BE49-F238E27FC236}">
                <a16:creationId xmlns:a16="http://schemas.microsoft.com/office/drawing/2014/main" id="{8FD65B55-D65D-4B98-BCB9-644D8C954702}"/>
              </a:ext>
            </a:extLst>
          </p:cNvPr>
          <p:cNvSpPr>
            <a:spLocks xmlns:a="http://schemas.openxmlformats.org/drawingml/2006/main" noGrp="1"/>
          </p:cNvSpPr>
          <p:nvPr/>
        </p:nvSpPr>
        <p:spPr>
          <a:xfrm xmlns:a="http://schemas.openxmlformats.org/drawingml/2006/main">
            <a:off x="4048125" y="36671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Empty Payments is distinct from a null list. Missing records do not prove nonpayment.</a:t>
            </a:r>
          </a:p>
        </p:txBody>
      </p:sp>
      <p:sp>
        <p:nvSpPr>
          <p:cNvPr id="9" name="Concept">
            <a:extLst xmlns:a="http://schemas.openxmlformats.org/drawingml/2006/main">
              <a:ext uri="{FF2B5EF4-FFF2-40B4-BE49-F238E27FC236}">
                <a16:creationId xmlns:a16="http://schemas.microsoft.com/office/drawing/2014/main" id="{A244E2B6-93A4-4316-97D8-71A7684A2AEF}"/>
              </a:ext>
            </a:extLst>
          </p:cNvPr>
          <p:cNvSpPr>
            <a:spLocks xmlns:a="http://schemas.openxmlformats.org/drawingml/2006/main" noGrp="1"/>
          </p:cNvSpPr>
          <p:nvPr/>
        </p:nvSpPr>
        <p:spPr>
          <a:xfrm xmlns:a="http://schemas.openxmlformats.org/drawingml/2006/main">
            <a:off x="666750" y="47148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Reconcile outputs</a:t>
            </a:r>
          </a:p>
        </p:txBody>
      </p:sp>
      <p:sp>
        <p:nvSpPr>
          <p:cNvPr id="10" name="Explanation">
            <a:extLst xmlns:a="http://schemas.openxmlformats.org/drawingml/2006/main">
              <a:ext uri="{FF2B5EF4-FFF2-40B4-BE49-F238E27FC236}">
                <a16:creationId xmlns:a16="http://schemas.microsoft.com/office/drawing/2014/main" id="{119ED5D8-2327-4BBB-9296-7EBB7B312BF7}"/>
              </a:ext>
            </a:extLst>
          </p:cNvPr>
          <p:cNvSpPr>
            <a:spLocks xmlns:a="http://schemas.openxmlformats.org/drawingml/2006/main" noGrp="1"/>
          </p:cNvSpPr>
          <p:nvPr/>
        </p:nvSpPr>
        <p:spPr>
          <a:xfrm xmlns:a="http://schemas.openxmlformats.org/drawingml/2006/main">
            <a:off x="4048125" y="47148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Raw = accepted + quarantine + out of scope. Child counts and signed sums must reconcile.</a:t>
            </a:r>
          </a:p>
        </p:txBody>
      </p:sp>
      <p:sp>
        <p:nvSpPr>
          <p:cNvPr id="11" name="Source and scope">
            <a:extLst xmlns:a="http://schemas.openxmlformats.org/drawingml/2006/main">
              <a:ext uri="{FF2B5EF4-FFF2-40B4-BE49-F238E27FC236}">
                <a16:creationId xmlns:a16="http://schemas.microsoft.com/office/drawing/2014/main" id="{D249B7FE-BA97-4CF1-BD34-E69A2648901E}"/>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Source audit: 0 duplicate composite keys; 3,856 empty payment lists; 0 null payment lists.</a:t>
            </a:r>
          </a:p>
        </p:txBody>
      </p:sp>
    </p:spTree>
    <p:extLst>
      <p:ext uri="{BB962C8B-B14F-4D97-AF65-F5344CB8AC3E}">
        <p14:creationId xmlns:p14="http://schemas.microsoft.com/office/powerpoint/2010/main" val="73311219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5F845861-0E4B-4563-87A3-BFF8F1BDF410}"/>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Job orchestration and recovery</a:t>
            </a:r>
          </a:p>
        </p:txBody>
      </p:sp>
      <p:sp>
        <p:nvSpPr>
          <p:cNvPr id="3" name="Task1">
            <a:extLst xmlns:a="http://schemas.openxmlformats.org/drawingml/2006/main">
              <a:ext uri="{FF2B5EF4-FFF2-40B4-BE49-F238E27FC236}">
                <a16:creationId xmlns:a16="http://schemas.microsoft.com/office/drawing/2014/main" id="{6BD9CDC1-B749-4B7F-890E-35258F9102D6}"/>
              </a:ext>
            </a:extLst>
          </p:cNvPr>
          <p:cNvSpPr>
            <a:spLocks xmlns:a="http://schemas.openxmlformats.org/drawingml/2006/main" noGrp="1"/>
          </p:cNvSpPr>
          <p:nvPr/>
        </p:nvSpPr>
        <p:spPr>
          <a:xfrm xmlns:a="http://schemas.openxmlformats.org/drawingml/2006/main">
            <a:off x="666750" y="16192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334FE4"/>
                </a:solidFill>
              </a:defRPr>
            </a:defPPr>
            <a:lvl1pPr>
              <a:defRPr sz="2550" b="1">
                <a:solidFill>
                  <a:srgbClr val="334FE4"/>
                </a:solidFill>
              </a:defRPr>
            </a:lvl1pPr>
            <a:lvl2pPr>
              <a:defRPr sz="2550" b="1">
                <a:solidFill>
                  <a:srgbClr val="334FE4"/>
                </a:solidFill>
              </a:defRPr>
            </a:lvl2pPr>
            <a:lvl3pPr>
              <a:defRPr sz="2550" b="1">
                <a:solidFill>
                  <a:srgbClr val="334FE4"/>
                </a:solidFill>
              </a:defRPr>
            </a:lvl3pPr>
            <a:lvl4pPr>
              <a:defRPr sz="2550" b="1">
                <a:solidFill>
                  <a:srgbClr val="334FE4"/>
                </a:solidFill>
              </a:defRPr>
            </a:lvl4pPr>
            <a:lvl5pPr>
              <a:defRPr sz="2550" b="1">
                <a:solidFill>
                  <a:srgbClr val="334FE4"/>
                </a:solidFill>
              </a:defRPr>
            </a:lvl5pPr>
            <a:lvl6pPr>
              <a:defRPr sz="2550" b="1">
                <a:solidFill>
                  <a:srgbClr val="334FE4"/>
                </a:solidFill>
              </a:defRPr>
            </a:lvl6pPr>
            <a:lvl7pPr>
              <a:defRPr sz="2550" b="1">
                <a:solidFill>
                  <a:srgbClr val="334FE4"/>
                </a:solidFill>
              </a:defRPr>
            </a:lvl7pPr>
            <a:lvl8pPr>
              <a:defRPr sz="2550" b="1">
                <a:solidFill>
                  <a:srgbClr val="334FE4"/>
                </a:solidFill>
              </a:defRPr>
            </a:lvl8pPr>
            <a:lvl9pPr>
              <a:defRPr sz="2550" b="1">
                <a:solidFill>
                  <a:srgbClr val="334FE4"/>
                </a:solidFill>
              </a:defRPr>
            </a:lvl9pPr>
          </a:lstStyle>
          <a:p xmlns:a="http://schemas.openxmlformats.org/drawingml/2006/main">
            <a:pPr>
              <a:defRPr sz="2550" b="1">
                <a:solidFill>
                  <a:srgbClr val="334FE4"/>
                </a:solidFill>
              </a:defRPr>
            </a:pPr>
            <a:r>
              <a:rPr sz="2550" b="1">
                <a:solidFill>
                  <a:srgbClr val="334FE4"/>
                </a:solidFill>
              </a:rPr>
              <a:t>01  Refresh the Lakeflow pipeline</a:t>
            </a:r>
          </a:p>
        </p:txBody>
      </p:sp>
      <p:sp>
        <p:nvSpPr>
          <p:cNvPr id="4" name="Task1 details">
            <a:extLst xmlns:a="http://schemas.openxmlformats.org/drawingml/2006/main">
              <a:ext uri="{FF2B5EF4-FFF2-40B4-BE49-F238E27FC236}">
                <a16:creationId xmlns:a16="http://schemas.microsoft.com/office/drawing/2014/main" id="{5FF9739C-DDCB-4692-92A9-8096D9B44755}"/>
              </a:ext>
            </a:extLst>
          </p:cNvPr>
          <p:cNvSpPr>
            <a:spLocks xmlns:a="http://schemas.openxmlformats.org/drawingml/2006/main" noGrp="1"/>
          </p:cNvSpPr>
          <p:nvPr/>
        </p:nvSpPr>
        <p:spPr>
          <a:xfrm xmlns:a="http://schemas.openxmlformats.org/drawingml/2006/main">
            <a:off x="666750" y="2333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Lakeflow resolves the internal Silver and Gold dependencies.</a:t>
            </a:r>
          </a:p>
        </p:txBody>
      </p:sp>
      <p:sp>
        <p:nvSpPr>
          <p:cNvPr id="5" name="Task2">
            <a:extLst xmlns:a="http://schemas.openxmlformats.org/drawingml/2006/main">
              <a:ext uri="{FF2B5EF4-FFF2-40B4-BE49-F238E27FC236}">
                <a16:creationId xmlns:a16="http://schemas.microsoft.com/office/drawing/2014/main" id="{5A689983-E202-4591-98C7-232CA9B785E9}"/>
              </a:ext>
            </a:extLst>
          </p:cNvPr>
          <p:cNvSpPr>
            <a:spLocks xmlns:a="http://schemas.openxmlformats.org/drawingml/2006/main" noGrp="1"/>
          </p:cNvSpPr>
          <p:nvPr/>
        </p:nvSpPr>
        <p:spPr>
          <a:xfrm xmlns:a="http://schemas.openxmlformats.org/drawingml/2006/main">
            <a:off x="666750" y="3238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334FE4"/>
                </a:solidFill>
              </a:defRPr>
            </a:defPPr>
            <a:lvl1pPr>
              <a:defRPr sz="2550" b="1">
                <a:solidFill>
                  <a:srgbClr val="334FE4"/>
                </a:solidFill>
              </a:defRPr>
            </a:lvl1pPr>
            <a:lvl2pPr>
              <a:defRPr sz="2550" b="1">
                <a:solidFill>
                  <a:srgbClr val="334FE4"/>
                </a:solidFill>
              </a:defRPr>
            </a:lvl2pPr>
            <a:lvl3pPr>
              <a:defRPr sz="2550" b="1">
                <a:solidFill>
                  <a:srgbClr val="334FE4"/>
                </a:solidFill>
              </a:defRPr>
            </a:lvl3pPr>
            <a:lvl4pPr>
              <a:defRPr sz="2550" b="1">
                <a:solidFill>
                  <a:srgbClr val="334FE4"/>
                </a:solidFill>
              </a:defRPr>
            </a:lvl4pPr>
            <a:lvl5pPr>
              <a:defRPr sz="2550" b="1">
                <a:solidFill>
                  <a:srgbClr val="334FE4"/>
                </a:solidFill>
              </a:defRPr>
            </a:lvl5pPr>
            <a:lvl6pPr>
              <a:defRPr sz="2550" b="1">
                <a:solidFill>
                  <a:srgbClr val="334FE4"/>
                </a:solidFill>
              </a:defRPr>
            </a:lvl6pPr>
            <a:lvl7pPr>
              <a:defRPr sz="2550" b="1">
                <a:solidFill>
                  <a:srgbClr val="334FE4"/>
                </a:solidFill>
              </a:defRPr>
            </a:lvl7pPr>
            <a:lvl8pPr>
              <a:defRPr sz="2550" b="1">
                <a:solidFill>
                  <a:srgbClr val="334FE4"/>
                </a:solidFill>
              </a:defRPr>
            </a:lvl8pPr>
            <a:lvl9pPr>
              <a:defRPr sz="2550" b="1">
                <a:solidFill>
                  <a:srgbClr val="334FE4"/>
                </a:solidFill>
              </a:defRPr>
            </a:lvl9pPr>
          </a:lstStyle>
          <a:p xmlns:a="http://schemas.openxmlformats.org/drawingml/2006/main">
            <a:pPr>
              <a:defRPr sz="2550" b="1">
                <a:solidFill>
                  <a:srgbClr val="334FE4"/>
                </a:solidFill>
              </a:defRPr>
            </a:pPr>
            <a:r>
              <a:rPr sz="2550" b="1">
                <a:solidFill>
                  <a:srgbClr val="334FE4"/>
                </a:solidFill>
              </a:rPr>
              <a:t>02  Validate outputs after successful refresh</a:t>
            </a:r>
          </a:p>
        </p:txBody>
      </p:sp>
      <p:sp>
        <p:nvSpPr>
          <p:cNvPr id="6" name="Task2 details">
            <a:extLst xmlns:a="http://schemas.openxmlformats.org/drawingml/2006/main">
              <a:ext uri="{FF2B5EF4-FFF2-40B4-BE49-F238E27FC236}">
                <a16:creationId xmlns:a16="http://schemas.microsoft.com/office/drawing/2014/main" id="{4E36D5CA-D067-4200-A08C-BF3EB1DDE4DD}"/>
              </a:ext>
            </a:extLst>
          </p:cNvPr>
          <p:cNvSpPr>
            <a:spLocks xmlns:a="http://schemas.openxmlformats.org/drawingml/2006/main" noGrp="1"/>
          </p:cNvSpPr>
          <p:nvPr/>
        </p:nvSpPr>
        <p:spPr>
          <a:xfrm xmlns:a="http://schemas.openxmlformats.org/drawingml/2006/main">
            <a:off x="666750" y="3952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A failed reconciliation fails the job and withholds acceptance.</a:t>
            </a:r>
          </a:p>
        </p:txBody>
      </p:sp>
      <p:sp>
        <p:nvSpPr>
          <p:cNvPr id="7" name="Recovery">
            <a:extLst xmlns:a="http://schemas.openxmlformats.org/drawingml/2006/main">
              <a:ext uri="{FF2B5EF4-FFF2-40B4-BE49-F238E27FC236}">
                <a16:creationId xmlns:a16="http://schemas.microsoft.com/office/drawing/2014/main" id="{94F1084D-6299-44FC-B0E4-0701E47503BA}"/>
              </a:ext>
            </a:extLst>
          </p:cNvPr>
          <p:cNvSpPr>
            <a:spLocks xmlns:a="http://schemas.openxmlformats.org/drawingml/2006/main" noGrp="1"/>
          </p:cNvSpPr>
          <p:nvPr/>
        </p:nvSpPr>
        <p:spPr>
          <a:xfrm xmlns:a="http://schemas.openxmlformats.org/drawingml/2006/main">
            <a:off x="666750" y="5000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One concurrent run. One pipeline retry. Data failures require review.</a:t>
            </a:r>
          </a:p>
        </p:txBody>
      </p:sp>
      <p:sp>
        <p:nvSpPr>
          <p:cNvPr id="8" name="Source and scope">
            <a:extLst xmlns:a="http://schemas.openxmlformats.org/drawingml/2006/main">
              <a:ext uri="{FF2B5EF4-FFF2-40B4-BE49-F238E27FC236}">
                <a16:creationId xmlns:a16="http://schemas.microsoft.com/office/drawing/2014/main" id="{45331BFE-7406-408A-8E62-0B2857D2C0A6}"/>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Proposed schedule: 07:00 America/Mexico_City, paused until validation and rerun tests pass.</a:t>
            </a:r>
          </a:p>
        </p:txBody>
      </p:sp>
    </p:spTree>
    <p:extLst>
      <p:ext uri="{BB962C8B-B14F-4D97-AF65-F5344CB8AC3E}">
        <p14:creationId xmlns:p14="http://schemas.microsoft.com/office/powerpoint/2010/main" val="12526946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4F70A9C-E6B3-476D-99A9-668CB529672E}"/>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Engineering choices</a:t>
            </a:r>
          </a:p>
        </p:txBody>
      </p:sp>
      <p:sp>
        <p:nvSpPr>
          <p:cNvPr id="3" name="Concept">
            <a:extLst xmlns:a="http://schemas.openxmlformats.org/drawingml/2006/main">
              <a:ext uri="{FF2B5EF4-FFF2-40B4-BE49-F238E27FC236}">
                <a16:creationId xmlns:a16="http://schemas.microsoft.com/office/drawing/2014/main" id="{EE15DC7D-8261-4F55-9BCA-493A19F4753D}"/>
              </a:ext>
            </a:extLst>
          </p:cNvPr>
          <p:cNvSpPr>
            <a:spLocks xmlns:a="http://schemas.openxmlformats.org/drawingml/2006/main" noGrp="1"/>
          </p:cNvSpPr>
          <p:nvPr/>
        </p:nvSpPr>
        <p:spPr>
          <a:xfrm xmlns:a="http://schemas.openxmlformats.org/drawingml/2006/main">
            <a:off x="666750" y="15716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Batch</a:t>
            </a:r>
          </a:p>
        </p:txBody>
      </p:sp>
      <p:sp>
        <p:nvSpPr>
          <p:cNvPr id="4" name="Explanation">
            <a:extLst xmlns:a="http://schemas.openxmlformats.org/drawingml/2006/main">
              <a:ext uri="{FF2B5EF4-FFF2-40B4-BE49-F238E27FC236}">
                <a16:creationId xmlns:a16="http://schemas.microsoft.com/office/drawing/2014/main" id="{75A8802E-DF12-4FB3-82F7-F8F0AE684565}"/>
              </a:ext>
            </a:extLst>
          </p:cNvPr>
          <p:cNvSpPr>
            <a:spLocks xmlns:a="http://schemas.openxmlformats.org/drawingml/2006/main" noGrp="1"/>
          </p:cNvSpPr>
          <p:nvPr/>
        </p:nvSpPr>
        <p:spPr>
          <a:xfrm xmlns:a="http://schemas.openxmlformats.org/drawingml/2006/main">
            <a:off x="4048125" y="15716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Fits a fixed historical export. Streaming needs a future append-only source contract.</a:t>
            </a:r>
          </a:p>
        </p:txBody>
      </p:sp>
      <p:sp>
        <p:nvSpPr>
          <p:cNvPr id="5" name="Concept">
            <a:extLst xmlns:a="http://schemas.openxmlformats.org/drawingml/2006/main">
              <a:ext uri="{FF2B5EF4-FFF2-40B4-BE49-F238E27FC236}">
                <a16:creationId xmlns:a16="http://schemas.microsoft.com/office/drawing/2014/main" id="{6404C3F2-81D8-453F-B02E-543AB87320C0}"/>
              </a:ext>
            </a:extLst>
          </p:cNvPr>
          <p:cNvSpPr>
            <a:spLocks xmlns:a="http://schemas.openxmlformats.org/drawingml/2006/main" noGrp="1"/>
          </p:cNvSpPr>
          <p:nvPr/>
        </p:nvSpPr>
        <p:spPr>
          <a:xfrm xmlns:a="http://schemas.openxmlformats.org/drawingml/2006/main">
            <a:off x="666750" y="26193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Materialized views</a:t>
            </a:r>
          </a:p>
        </p:txBody>
      </p:sp>
      <p:sp>
        <p:nvSpPr>
          <p:cNvPr id="6" name="Explanation">
            <a:extLst xmlns:a="http://schemas.openxmlformats.org/drawingml/2006/main">
              <a:ext uri="{FF2B5EF4-FFF2-40B4-BE49-F238E27FC236}">
                <a16:creationId xmlns:a16="http://schemas.microsoft.com/office/drawing/2014/main" id="{ACBED73B-5730-4EEA-AF02-FBE4C0249342}"/>
              </a:ext>
            </a:extLst>
          </p:cNvPr>
          <p:cNvSpPr>
            <a:spLocks xmlns:a="http://schemas.openxmlformats.org/drawingml/2006/main" noGrp="1"/>
          </p:cNvSpPr>
          <p:nvPr/>
        </p:nvSpPr>
        <p:spPr>
          <a:xfrm xmlns:a="http://schemas.openxmlformats.org/drawingml/2006/main">
            <a:off x="4048125" y="26193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Store computed datasets and refresh them for repeated reporting.</a:t>
            </a:r>
          </a:p>
        </p:txBody>
      </p:sp>
      <p:sp>
        <p:nvSpPr>
          <p:cNvPr id="7" name="Concept">
            <a:extLst xmlns:a="http://schemas.openxmlformats.org/drawingml/2006/main">
              <a:ext uri="{FF2B5EF4-FFF2-40B4-BE49-F238E27FC236}">
                <a16:creationId xmlns:a16="http://schemas.microsoft.com/office/drawing/2014/main" id="{8E65CCE9-56EE-48D9-A698-E5455E0D51F8}"/>
              </a:ext>
            </a:extLst>
          </p:cNvPr>
          <p:cNvSpPr>
            <a:spLocks xmlns:a="http://schemas.openxmlformats.org/drawingml/2006/main" noGrp="1"/>
          </p:cNvSpPr>
          <p:nvPr/>
        </p:nvSpPr>
        <p:spPr>
          <a:xfrm xmlns:a="http://schemas.openxmlformats.org/drawingml/2006/main">
            <a:off x="666750" y="366712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Liquid clustering</a:t>
            </a:r>
          </a:p>
        </p:txBody>
      </p:sp>
      <p:sp>
        <p:nvSpPr>
          <p:cNvPr id="8" name="Explanation">
            <a:extLst xmlns:a="http://schemas.openxmlformats.org/drawingml/2006/main">
              <a:ext uri="{FF2B5EF4-FFF2-40B4-BE49-F238E27FC236}">
                <a16:creationId xmlns:a16="http://schemas.microsoft.com/office/drawing/2014/main" id="{045A4993-7CD0-47AD-AF46-B03772DF4FA6}"/>
              </a:ext>
            </a:extLst>
          </p:cNvPr>
          <p:cNvSpPr>
            <a:spLocks xmlns:a="http://schemas.openxmlformats.org/drawingml/2006/main" noGrp="1"/>
          </p:cNvSpPr>
          <p:nvPr/>
        </p:nvSpPr>
        <p:spPr>
          <a:xfrm xmlns:a="http://schemas.openxmlformats.org/drawingml/2006/main">
            <a:off x="4048125" y="366712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Date and location match common filters. Performance gains still need measurement.</a:t>
            </a:r>
          </a:p>
        </p:txBody>
      </p:sp>
      <p:sp>
        <p:nvSpPr>
          <p:cNvPr id="9" name="Concept">
            <a:extLst xmlns:a="http://schemas.openxmlformats.org/drawingml/2006/main">
              <a:ext uri="{FF2B5EF4-FFF2-40B4-BE49-F238E27FC236}">
                <a16:creationId xmlns:a16="http://schemas.microsoft.com/office/drawing/2014/main" id="{18685CDD-7374-4534-847B-D022F0689389}"/>
              </a:ext>
            </a:extLst>
          </p:cNvPr>
          <p:cNvSpPr>
            <a:spLocks xmlns:a="http://schemas.openxmlformats.org/drawingml/2006/main" noGrp="1"/>
          </p:cNvSpPr>
          <p:nvPr/>
        </p:nvSpPr>
        <p:spPr>
          <a:xfrm xmlns:a="http://schemas.openxmlformats.org/drawingml/2006/main">
            <a:off x="666750" y="4714875"/>
            <a:ext cx="3095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334FE4"/>
                </a:solidFill>
              </a:defRPr>
            </a:defPPr>
            <a:lvl1pPr>
              <a:defRPr sz="2100" b="1">
                <a:solidFill>
                  <a:srgbClr val="334FE4"/>
                </a:solidFill>
              </a:defRPr>
            </a:lvl1pPr>
            <a:lvl2pPr>
              <a:defRPr sz="2100" b="1">
                <a:solidFill>
                  <a:srgbClr val="334FE4"/>
                </a:solidFill>
              </a:defRPr>
            </a:lvl2pPr>
            <a:lvl3pPr>
              <a:defRPr sz="2100" b="1">
                <a:solidFill>
                  <a:srgbClr val="334FE4"/>
                </a:solidFill>
              </a:defRPr>
            </a:lvl3pPr>
            <a:lvl4pPr>
              <a:defRPr sz="2100" b="1">
                <a:solidFill>
                  <a:srgbClr val="334FE4"/>
                </a:solidFill>
              </a:defRPr>
            </a:lvl4pPr>
            <a:lvl5pPr>
              <a:defRPr sz="2100" b="1">
                <a:solidFill>
                  <a:srgbClr val="334FE4"/>
                </a:solidFill>
              </a:defRPr>
            </a:lvl5pPr>
            <a:lvl6pPr>
              <a:defRPr sz="2100" b="1">
                <a:solidFill>
                  <a:srgbClr val="334FE4"/>
                </a:solidFill>
              </a:defRPr>
            </a:lvl6pPr>
            <a:lvl7pPr>
              <a:defRPr sz="2100" b="1">
                <a:solidFill>
                  <a:srgbClr val="334FE4"/>
                </a:solidFill>
              </a:defRPr>
            </a:lvl7pPr>
            <a:lvl8pPr>
              <a:defRPr sz="2100" b="1">
                <a:solidFill>
                  <a:srgbClr val="334FE4"/>
                </a:solidFill>
              </a:defRPr>
            </a:lvl8pPr>
            <a:lvl9pPr>
              <a:defRPr sz="2100" b="1">
                <a:solidFill>
                  <a:srgbClr val="334FE4"/>
                </a:solidFill>
              </a:defRPr>
            </a:lvl9pPr>
          </a:lstStyle>
          <a:p xmlns:a="http://schemas.openxmlformats.org/drawingml/2006/main">
            <a:pPr>
              <a:defRPr sz="2100" b="1">
                <a:solidFill>
                  <a:srgbClr val="334FE4"/>
                </a:solidFill>
              </a:defRPr>
            </a:pPr>
            <a:r>
              <a:rPr sz="2100" b="1">
                <a:solidFill>
                  <a:srgbClr val="334FE4"/>
                </a:solidFill>
              </a:rPr>
              <a:t>Expectations</a:t>
            </a:r>
          </a:p>
        </p:txBody>
      </p:sp>
      <p:sp>
        <p:nvSpPr>
          <p:cNvPr id="10" name="Explanation">
            <a:extLst xmlns:a="http://schemas.openxmlformats.org/drawingml/2006/main">
              <a:ext uri="{FF2B5EF4-FFF2-40B4-BE49-F238E27FC236}">
                <a16:creationId xmlns:a16="http://schemas.microsoft.com/office/drawing/2014/main" id="{458478BB-47AE-46B0-8B87-D0D888221FA0}"/>
              </a:ext>
            </a:extLst>
          </p:cNvPr>
          <p:cNvSpPr>
            <a:spLocks xmlns:a="http://schemas.openxmlformats.org/drawingml/2006/main" noGrp="1"/>
          </p:cNvSpPr>
          <p:nvPr/>
        </p:nvSpPr>
        <p:spPr>
          <a:xfrm xmlns:a="http://schemas.openxmlformats.org/drawingml/2006/main">
            <a:off x="4048125" y="4714875"/>
            <a:ext cx="7477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342"/>
                </a:solidFill>
              </a:defRPr>
            </a:defPPr>
            <a:lvl1pPr>
              <a:defRPr sz="1950" b="0">
                <a:solidFill>
                  <a:srgbClr val="172342"/>
                </a:solidFill>
              </a:defRPr>
            </a:lvl1pPr>
            <a:lvl2pPr>
              <a:defRPr sz="1950" b="0">
                <a:solidFill>
                  <a:srgbClr val="172342"/>
                </a:solidFill>
              </a:defRPr>
            </a:lvl2pPr>
            <a:lvl3pPr>
              <a:defRPr sz="1950" b="0">
                <a:solidFill>
                  <a:srgbClr val="172342"/>
                </a:solidFill>
              </a:defRPr>
            </a:lvl3pPr>
            <a:lvl4pPr>
              <a:defRPr sz="1950" b="0">
                <a:solidFill>
                  <a:srgbClr val="172342"/>
                </a:solidFill>
              </a:defRPr>
            </a:lvl4pPr>
            <a:lvl5pPr>
              <a:defRPr sz="1950" b="0">
                <a:solidFill>
                  <a:srgbClr val="172342"/>
                </a:solidFill>
              </a:defRPr>
            </a:lvl5pPr>
            <a:lvl6pPr>
              <a:defRPr sz="1950" b="0">
                <a:solidFill>
                  <a:srgbClr val="172342"/>
                </a:solidFill>
              </a:defRPr>
            </a:lvl6pPr>
            <a:lvl7pPr>
              <a:defRPr sz="1950" b="0">
                <a:solidFill>
                  <a:srgbClr val="172342"/>
                </a:solidFill>
              </a:defRPr>
            </a:lvl7pPr>
            <a:lvl8pPr>
              <a:defRPr sz="1950" b="0">
                <a:solidFill>
                  <a:srgbClr val="172342"/>
                </a:solidFill>
              </a:defRPr>
            </a:lvl8pPr>
            <a:lvl9pPr>
              <a:defRPr sz="1950" b="0">
                <a:solidFill>
                  <a:srgbClr val="172342"/>
                </a:solidFill>
              </a:defRPr>
            </a:lvl9pPr>
          </a:lstStyle>
          <a:p xmlns:a="http://schemas.openxmlformats.org/drawingml/2006/main">
            <a:pPr>
              <a:defRPr sz="1950" b="0">
                <a:solidFill>
                  <a:srgbClr val="172342"/>
                </a:solidFill>
              </a:defRPr>
            </a:pPr>
            <a:r>
              <a:rPr sz="1950" b="0">
                <a:solidFill>
                  <a:srgbClr val="172342"/>
                </a:solidFill>
              </a:rPr>
              <a:t>Warn to retain diagnostic evidence. Fail when integrity rules prevent publication.</a:t>
            </a:r>
          </a:p>
        </p:txBody>
      </p:sp>
      <p:sp>
        <p:nvSpPr>
          <p:cNvPr id="11" name="Source and scope">
            <a:extLst xmlns:a="http://schemas.openxmlformats.org/drawingml/2006/main">
              <a:ext uri="{FF2B5EF4-FFF2-40B4-BE49-F238E27FC236}">
                <a16:creationId xmlns:a16="http://schemas.microsoft.com/office/drawing/2014/main" id="{13280992-6649-4D02-8E25-E890A0D66A27}"/>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A normal refresh request does not establish end-to-end incremental ingestion.</a:t>
            </a:r>
          </a:p>
        </p:txBody>
      </p:sp>
    </p:spTree>
    <p:extLst>
      <p:ext uri="{BB962C8B-B14F-4D97-AF65-F5344CB8AC3E}">
        <p14:creationId xmlns:p14="http://schemas.microsoft.com/office/powerpoint/2010/main" val="3282474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AD5637FC-7036-400E-AFDA-67F915C7E0E5}"/>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Operational findings supported by the baseline</a:t>
            </a:r>
          </a:p>
        </p:txBody>
      </p:sp>
      <p:sp>
        <p:nvSpPr>
          <p:cNvPr id="3" name="Finding">
            <a:extLst xmlns:a="http://schemas.openxmlformats.org/drawingml/2006/main">
              <a:ext uri="{FF2B5EF4-FFF2-40B4-BE49-F238E27FC236}">
                <a16:creationId xmlns:a16="http://schemas.microsoft.com/office/drawing/2014/main" id="{2178D0B4-FE6E-4B97-B049-4EBC70B44C07}"/>
              </a:ext>
            </a:extLst>
          </p:cNvPr>
          <p:cNvSpPr>
            <a:spLocks xmlns:a="http://schemas.openxmlformats.org/drawingml/2006/main" noGrp="1"/>
          </p:cNvSpPr>
          <p:nvPr/>
        </p:nvSpPr>
        <p:spPr>
          <a:xfrm xmlns:a="http://schemas.openxmlformats.org/drawingml/2006/main">
            <a:off x="666750" y="13335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334FE4"/>
                </a:solidFill>
              </a:defRPr>
            </a:defPPr>
            <a:lvl1pPr>
              <a:defRPr sz="2325" b="1">
                <a:solidFill>
                  <a:srgbClr val="334FE4"/>
                </a:solidFill>
              </a:defRPr>
            </a:lvl1pPr>
            <a:lvl2pPr>
              <a:defRPr sz="2325" b="1">
                <a:solidFill>
                  <a:srgbClr val="334FE4"/>
                </a:solidFill>
              </a:defRPr>
            </a:lvl2pPr>
            <a:lvl3pPr>
              <a:defRPr sz="2325" b="1">
                <a:solidFill>
                  <a:srgbClr val="334FE4"/>
                </a:solidFill>
              </a:defRPr>
            </a:lvl3pPr>
            <a:lvl4pPr>
              <a:defRPr sz="2325" b="1">
                <a:solidFill>
                  <a:srgbClr val="334FE4"/>
                </a:solidFill>
              </a:defRPr>
            </a:lvl4pPr>
            <a:lvl5pPr>
              <a:defRPr sz="2325" b="1">
                <a:solidFill>
                  <a:srgbClr val="334FE4"/>
                </a:solidFill>
              </a:defRPr>
            </a:lvl5pPr>
            <a:lvl6pPr>
              <a:defRPr sz="2325" b="1">
                <a:solidFill>
                  <a:srgbClr val="334FE4"/>
                </a:solidFill>
              </a:defRPr>
            </a:lvl6pPr>
            <a:lvl7pPr>
              <a:defRPr sz="2325" b="1">
                <a:solidFill>
                  <a:srgbClr val="334FE4"/>
                </a:solidFill>
              </a:defRPr>
            </a:lvl7pPr>
            <a:lvl8pPr>
              <a:defRPr sz="2325" b="1">
                <a:solidFill>
                  <a:srgbClr val="334FE4"/>
                </a:solidFill>
              </a:defRPr>
            </a:lvl8pPr>
            <a:lvl9pPr>
              <a:defRPr sz="2325" b="1">
                <a:solidFill>
                  <a:srgbClr val="334FE4"/>
                </a:solidFill>
              </a:defRPr>
            </a:lvl9pPr>
          </a:lstStyle>
          <a:p xmlns:a="http://schemas.openxmlformats.org/drawingml/2006/main">
            <a:pPr>
              <a:defRPr sz="2325" b="1">
                <a:solidFill>
                  <a:srgbClr val="334FE4"/>
                </a:solidFill>
              </a:defRPr>
            </a:pPr>
            <a:r>
              <a:rPr sz="2325" b="1">
                <a:solidFill>
                  <a:srgbClr val="334FE4"/>
                </a:solidFill>
              </a:rPr>
              <a:t>Three locations account for 71.08% of checks with empty Payments.</a:t>
            </a:r>
          </a:p>
        </p:txBody>
      </p:sp>
      <p:graphicFrame>
        <p:nvGraphicFramePr>
          <p:cNvPr id="4" name="Chart">
            <a:extLst xmlns:a="http://schemas.openxmlformats.org/drawingml/2006/main">
              <a:ext uri="{FF2B5EF4-FFF2-40B4-BE49-F238E27FC236}">
                <a16:creationId xmlns:a16="http://schemas.microsoft.com/office/drawing/2014/main" id="{8D50C6DC-B6B8-461E-BE4C-D3A77D4DB8BE}"/>
              </a:ext>
            </a:extLst>
          </p:cNvPr>
          <p:cNvGraphicFramePr/>
          <p:nvPr/>
        </p:nvGraphicFramePr>
        <p:xfrm>
          <a:off xmlns:a="http://schemas.openxmlformats.org/drawingml/2006/main" x="666750" y="2286000"/>
          <a:ext xmlns:a="http://schemas.openxmlformats.org/drawingml/2006/main" cx="5619750" cy="3238500"/>
        </p:xfrm>
        <a:graphic xmlns:a="http://schemas.openxmlformats.org/drawingml/2006/main">
          <a:graphicData uri="http://schemas.openxmlformats.org/drawingml/2006/chart">
            <c:chart xmlns:r="http://schemas.openxmlformats.org/officeDocument/2006/relationships" xmlns:c="http://schemas.openxmlformats.org/drawingml/2006/chart" r:id="Ra7bd4dd8089f4dd2"/>
          </a:graphicData>
        </a:graphic>
      </p:graphicFrame>
      <p:sp>
        <p:nvSpPr>
          <p:cNvPr id="5" name="Rate">
            <a:extLst xmlns:a="http://schemas.openxmlformats.org/drawingml/2006/main">
              <a:ext uri="{FF2B5EF4-FFF2-40B4-BE49-F238E27FC236}">
                <a16:creationId xmlns:a16="http://schemas.microsoft.com/office/drawing/2014/main" id="{81D9B7CD-77C1-432E-BCD4-E9ADD53A40B4}"/>
              </a:ext>
            </a:extLst>
          </p:cNvPr>
          <p:cNvSpPr>
            <a:spLocks xmlns:a="http://schemas.openxmlformats.org/drawingml/2006/main" noGrp="1"/>
          </p:cNvSpPr>
          <p:nvPr/>
        </p:nvSpPr>
        <p:spPr>
          <a:xfrm xmlns:a="http://schemas.openxmlformats.org/drawingml/2006/main">
            <a:off x="7096125" y="233362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334FE4"/>
                </a:solidFill>
              </a:defRPr>
            </a:defPPr>
            <a:lvl1pPr>
              <a:defRPr sz="3900" b="1">
                <a:solidFill>
                  <a:srgbClr val="334FE4"/>
                </a:solidFill>
              </a:defRPr>
            </a:lvl1pPr>
            <a:lvl2pPr>
              <a:defRPr sz="3900" b="1">
                <a:solidFill>
                  <a:srgbClr val="334FE4"/>
                </a:solidFill>
              </a:defRPr>
            </a:lvl2pPr>
            <a:lvl3pPr>
              <a:defRPr sz="3900" b="1">
                <a:solidFill>
                  <a:srgbClr val="334FE4"/>
                </a:solidFill>
              </a:defRPr>
            </a:lvl3pPr>
            <a:lvl4pPr>
              <a:defRPr sz="3900" b="1">
                <a:solidFill>
                  <a:srgbClr val="334FE4"/>
                </a:solidFill>
              </a:defRPr>
            </a:lvl4pPr>
            <a:lvl5pPr>
              <a:defRPr sz="3900" b="1">
                <a:solidFill>
                  <a:srgbClr val="334FE4"/>
                </a:solidFill>
              </a:defRPr>
            </a:lvl5pPr>
            <a:lvl6pPr>
              <a:defRPr sz="3900" b="1">
                <a:solidFill>
                  <a:srgbClr val="334FE4"/>
                </a:solidFill>
              </a:defRPr>
            </a:lvl6pPr>
            <a:lvl7pPr>
              <a:defRPr sz="3900" b="1">
                <a:solidFill>
                  <a:srgbClr val="334FE4"/>
                </a:solidFill>
              </a:defRPr>
            </a:lvl7pPr>
            <a:lvl8pPr>
              <a:defRPr sz="3900" b="1">
                <a:solidFill>
                  <a:srgbClr val="334FE4"/>
                </a:solidFill>
              </a:defRPr>
            </a:lvl8pPr>
            <a:lvl9pPr>
              <a:defRPr sz="3900" b="1">
                <a:solidFill>
                  <a:srgbClr val="334FE4"/>
                </a:solidFill>
              </a:defRPr>
            </a:lvl9pPr>
          </a:lstStyle>
          <a:p xmlns:a="http://schemas.openxmlformats.org/drawingml/2006/main">
            <a:pPr>
              <a:defRPr sz="3900" b="1">
                <a:solidFill>
                  <a:srgbClr val="334FE4"/>
                </a:solidFill>
              </a:defRPr>
            </a:pPr>
            <a:r>
              <a:rPr sz="3900" b="1">
                <a:solidFill>
                  <a:srgbClr val="334FE4"/>
                </a:solidFill>
              </a:rPr>
              <a:t>12.53%</a:t>
            </a:r>
          </a:p>
        </p:txBody>
      </p:sp>
      <p:sp>
        <p:nvSpPr>
          <p:cNvPr id="6" name="Rate definition">
            <a:extLst xmlns:a="http://schemas.openxmlformats.org/drawingml/2006/main">
              <a:ext uri="{FF2B5EF4-FFF2-40B4-BE49-F238E27FC236}">
                <a16:creationId xmlns:a16="http://schemas.microsoft.com/office/drawing/2014/main" id="{A8F98BFC-82DF-405C-9C35-CFA4408D9631}"/>
              </a:ext>
            </a:extLst>
          </p:cNvPr>
          <p:cNvSpPr>
            <a:spLocks xmlns:a="http://schemas.openxmlformats.org/drawingml/2006/main" noGrp="1"/>
          </p:cNvSpPr>
          <p:nvPr/>
        </p:nvSpPr>
        <p:spPr>
          <a:xfrm xmlns:a="http://schemas.openxmlformats.org/drawingml/2006/main">
            <a:off x="7096125" y="3114675"/>
            <a:ext cx="409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of all checks have a discount.</a:t>
            </a:r>
          </a:p>
          <a:p xmlns:a="http://schemas.openxmlformats.org/drawingml/2006/main">
            <a:pPr>
              <a:defRPr sz="2100" b="0">
                <a:solidFill>
                  <a:srgbClr val="172342"/>
                </a:solidFill>
              </a:defRPr>
            </a:pPr>
            <a:r>
              <a:rPr sz="2100" b="0">
                <a:solidFill>
                  <a:srgbClr val="172342"/>
                </a:solidFill>
              </a:rPr>
              <a:t>268,590 checks in the period.</a:t>
            </a:r>
          </a:p>
        </p:txBody>
      </p:sp>
      <p:sp>
        <p:nvSpPr>
          <p:cNvPr id="7" name="Decision">
            <a:extLst xmlns:a="http://schemas.openxmlformats.org/drawingml/2006/main">
              <a:ext uri="{FF2B5EF4-FFF2-40B4-BE49-F238E27FC236}">
                <a16:creationId xmlns:a16="http://schemas.microsoft.com/office/drawing/2014/main" id="{0B179FCA-3EF9-421B-B138-8E7B7A3524B9}"/>
              </a:ext>
            </a:extLst>
          </p:cNvPr>
          <p:cNvSpPr>
            <a:spLocks xmlns:a="http://schemas.openxmlformats.org/drawingml/2006/main" noGrp="1"/>
          </p:cNvSpPr>
          <p:nvPr/>
        </p:nvSpPr>
        <p:spPr>
          <a:xfrm xmlns:a="http://schemas.openxmlformats.org/drawingml/2006/main">
            <a:off x="7096125" y="4429125"/>
            <a:ext cx="4095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342"/>
                </a:solidFill>
              </a:defRPr>
            </a:defPPr>
            <a:lvl1pPr>
              <a:defRPr sz="2175" b="0">
                <a:solidFill>
                  <a:srgbClr val="172342"/>
                </a:solidFill>
              </a:defRPr>
            </a:lvl1pPr>
            <a:lvl2pPr>
              <a:defRPr sz="2175" b="0">
                <a:solidFill>
                  <a:srgbClr val="172342"/>
                </a:solidFill>
              </a:defRPr>
            </a:lvl2pPr>
            <a:lvl3pPr>
              <a:defRPr sz="2175" b="0">
                <a:solidFill>
                  <a:srgbClr val="172342"/>
                </a:solidFill>
              </a:defRPr>
            </a:lvl3pPr>
            <a:lvl4pPr>
              <a:defRPr sz="2175" b="0">
                <a:solidFill>
                  <a:srgbClr val="172342"/>
                </a:solidFill>
              </a:defRPr>
            </a:lvl4pPr>
            <a:lvl5pPr>
              <a:defRPr sz="2175" b="0">
                <a:solidFill>
                  <a:srgbClr val="172342"/>
                </a:solidFill>
              </a:defRPr>
            </a:lvl5pPr>
            <a:lvl6pPr>
              <a:defRPr sz="2175" b="0">
                <a:solidFill>
                  <a:srgbClr val="172342"/>
                </a:solidFill>
              </a:defRPr>
            </a:lvl6pPr>
            <a:lvl7pPr>
              <a:defRPr sz="2175" b="0">
                <a:solidFill>
                  <a:srgbClr val="172342"/>
                </a:solidFill>
              </a:defRPr>
            </a:lvl7pPr>
            <a:lvl8pPr>
              <a:defRPr sz="2175" b="0">
                <a:solidFill>
                  <a:srgbClr val="172342"/>
                </a:solidFill>
              </a:defRPr>
            </a:lvl8pPr>
            <a:lvl9pPr>
              <a:defRPr sz="2175" b="0">
                <a:solidFill>
                  <a:srgbClr val="172342"/>
                </a:solidFill>
              </a:defRPr>
            </a:lvl9pPr>
          </a:lstStyle>
          <a:p xmlns:a="http://schemas.openxmlformats.org/drawingml/2006/main">
            <a:pPr>
              <a:defRPr sz="2175" b="0">
                <a:solidFill>
                  <a:srgbClr val="172342"/>
                </a:solidFill>
              </a:defRPr>
            </a:pPr>
            <a:r>
              <a:rPr sz="2175" b="0">
                <a:solidFill>
                  <a:srgbClr val="172342"/>
                </a:solidFill>
              </a:rPr>
              <a:t>Prioritize source-system reconciliation at locations 87, 1 and 141.</a:t>
            </a:r>
          </a:p>
        </p:txBody>
      </p:sp>
      <p:sp>
        <p:nvSpPr>
          <p:cNvPr id="8" name="Source and scope">
            <a:extLst xmlns:a="http://schemas.openxmlformats.org/drawingml/2006/main">
              <a:ext uri="{FF2B5EF4-FFF2-40B4-BE49-F238E27FC236}">
                <a16:creationId xmlns:a16="http://schemas.microsoft.com/office/drawing/2014/main" id="{2C3E4A88-7735-4B56-93B3-9E15D458469B}"/>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Source audit / historical EDA baseline. Refresh from accepted Gold before claiming new pipeline results.</a:t>
            </a:r>
          </a:p>
        </p:txBody>
      </p:sp>
    </p:spTree>
    <p:extLst>
      <p:ext uri="{BB962C8B-B14F-4D97-AF65-F5344CB8AC3E}">
        <p14:creationId xmlns:p14="http://schemas.microsoft.com/office/powerpoint/2010/main" val="203479881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376D341-B45A-4A7B-9149-112A050A9B10}"/>
              </a:ext>
            </a:extLst>
          </p:cNvPr>
          <p:cNvSpPr>
            <a:spLocks xmlns:a="http://schemas.openxmlformats.org/drawingml/2006/main" noGrp="1"/>
          </p:cNvSpPr>
          <p:nvPr/>
        </p:nvSpPr>
        <p:spPr>
          <a:xfrm xmlns:a="http://schemas.openxmlformats.org/drawingml/2006/main">
            <a:off x="64770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Readiness and next decision</a:t>
            </a:r>
          </a:p>
        </p:txBody>
      </p:sp>
      <p:sp>
        <p:nvSpPr>
          <p:cNvPr id="3" name="Ready">
            <a:extLst xmlns:a="http://schemas.openxmlformats.org/drawingml/2006/main">
              <a:ext uri="{FF2B5EF4-FFF2-40B4-BE49-F238E27FC236}">
                <a16:creationId xmlns:a16="http://schemas.microsoft.com/office/drawing/2014/main" id="{303A2423-4AB4-4807-AAEA-2EC9FA22197C}"/>
              </a:ext>
            </a:extLst>
          </p:cNvPr>
          <p:cNvSpPr>
            <a:spLocks xmlns:a="http://schemas.openxmlformats.org/drawingml/2006/main" noGrp="1"/>
          </p:cNvSpPr>
          <p:nvPr/>
        </p:nvSpPr>
        <p:spPr>
          <a:xfrm xmlns:a="http://schemas.openxmlformats.org/drawingml/2006/main">
            <a:off x="666750" y="1666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334FE4"/>
                </a:solidFill>
              </a:defRPr>
            </a:defPPr>
            <a:lvl1pPr>
              <a:defRPr sz="2625" b="1">
                <a:solidFill>
                  <a:srgbClr val="334FE4"/>
                </a:solidFill>
              </a:defRPr>
            </a:lvl1pPr>
            <a:lvl2pPr>
              <a:defRPr sz="2625" b="1">
                <a:solidFill>
                  <a:srgbClr val="334FE4"/>
                </a:solidFill>
              </a:defRPr>
            </a:lvl2pPr>
            <a:lvl3pPr>
              <a:defRPr sz="2625" b="1">
                <a:solidFill>
                  <a:srgbClr val="334FE4"/>
                </a:solidFill>
              </a:defRPr>
            </a:lvl3pPr>
            <a:lvl4pPr>
              <a:defRPr sz="2625" b="1">
                <a:solidFill>
                  <a:srgbClr val="334FE4"/>
                </a:solidFill>
              </a:defRPr>
            </a:lvl4pPr>
            <a:lvl5pPr>
              <a:defRPr sz="2625" b="1">
                <a:solidFill>
                  <a:srgbClr val="334FE4"/>
                </a:solidFill>
              </a:defRPr>
            </a:lvl5pPr>
            <a:lvl6pPr>
              <a:defRPr sz="2625" b="1">
                <a:solidFill>
                  <a:srgbClr val="334FE4"/>
                </a:solidFill>
              </a:defRPr>
            </a:lvl6pPr>
            <a:lvl7pPr>
              <a:defRPr sz="2625" b="1">
                <a:solidFill>
                  <a:srgbClr val="334FE4"/>
                </a:solidFill>
              </a:defRPr>
            </a:lvl7pPr>
            <a:lvl8pPr>
              <a:defRPr sz="2625" b="1">
                <a:solidFill>
                  <a:srgbClr val="334FE4"/>
                </a:solidFill>
              </a:defRPr>
            </a:lvl8pPr>
            <a:lvl9pPr>
              <a:defRPr sz="2625" b="1">
                <a:solidFill>
                  <a:srgbClr val="334FE4"/>
                </a:solidFill>
              </a:defRPr>
            </a:lvl9pPr>
          </a:lstStyle>
          <a:p xmlns:a="http://schemas.openxmlformats.org/drawingml/2006/main">
            <a:pPr>
              <a:defRPr sz="2625" b="1">
                <a:solidFill>
                  <a:srgbClr val="334FE4"/>
                </a:solidFill>
              </a:defRPr>
            </a:pPr>
            <a:r>
              <a:rPr sz="2625" b="1">
                <a:solidFill>
                  <a:srgbClr val="334FE4"/>
                </a:solidFill>
              </a:rPr>
              <a:t>Implemented and checked locally</a:t>
            </a:r>
          </a:p>
        </p:txBody>
      </p:sp>
      <p:sp>
        <p:nvSpPr>
          <p:cNvPr id="4" name="Ready detail">
            <a:extLst xmlns:a="http://schemas.openxmlformats.org/drawingml/2006/main">
              <a:ext uri="{FF2B5EF4-FFF2-40B4-BE49-F238E27FC236}">
                <a16:creationId xmlns:a16="http://schemas.microsoft.com/office/drawing/2014/main" id="{15D7BA1C-7B5C-4D9C-838E-887826AC4C31}"/>
              </a:ext>
            </a:extLst>
          </p:cNvPr>
          <p:cNvSpPr>
            <a:spLocks xmlns:a="http://schemas.openxmlformats.org/drawingml/2006/main" noGrp="1"/>
          </p:cNvSpPr>
          <p:nvPr/>
        </p:nvSpPr>
        <p:spPr>
          <a:xfrm xmlns:a="http://schemas.openxmlformats.org/drawingml/2006/main">
            <a:off x="666750" y="23812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342"/>
                </a:solidFill>
              </a:defRPr>
            </a:defPPr>
            <a:lvl1pPr>
              <a:defRPr sz="2175" b="0">
                <a:solidFill>
                  <a:srgbClr val="172342"/>
                </a:solidFill>
              </a:defRPr>
            </a:lvl1pPr>
            <a:lvl2pPr>
              <a:defRPr sz="2175" b="0">
                <a:solidFill>
                  <a:srgbClr val="172342"/>
                </a:solidFill>
              </a:defRPr>
            </a:lvl2pPr>
            <a:lvl3pPr>
              <a:defRPr sz="2175" b="0">
                <a:solidFill>
                  <a:srgbClr val="172342"/>
                </a:solidFill>
              </a:defRPr>
            </a:lvl3pPr>
            <a:lvl4pPr>
              <a:defRPr sz="2175" b="0">
                <a:solidFill>
                  <a:srgbClr val="172342"/>
                </a:solidFill>
              </a:defRPr>
            </a:lvl4pPr>
            <a:lvl5pPr>
              <a:defRPr sz="2175" b="0">
                <a:solidFill>
                  <a:srgbClr val="172342"/>
                </a:solidFill>
              </a:defRPr>
            </a:lvl5pPr>
            <a:lvl6pPr>
              <a:defRPr sz="2175" b="0">
                <a:solidFill>
                  <a:srgbClr val="172342"/>
                </a:solidFill>
              </a:defRPr>
            </a:lvl6pPr>
            <a:lvl7pPr>
              <a:defRPr sz="2175" b="0">
                <a:solidFill>
                  <a:srgbClr val="172342"/>
                </a:solidFill>
              </a:defRPr>
            </a:lvl7pPr>
            <a:lvl8pPr>
              <a:defRPr sz="2175" b="0">
                <a:solidFill>
                  <a:srgbClr val="172342"/>
                </a:solidFill>
              </a:defRPr>
            </a:lvl8pPr>
            <a:lvl9pPr>
              <a:defRPr sz="2175" b="0">
                <a:solidFill>
                  <a:srgbClr val="172342"/>
                </a:solidFill>
              </a:defRPr>
            </a:lvl9pPr>
          </a:lstStyle>
          <a:p xmlns:a="http://schemas.openxmlformats.org/drawingml/2006/main">
            <a:pPr>
              <a:defRPr sz="2175" b="0">
                <a:solidFill>
                  <a:srgbClr val="172342"/>
                </a:solidFill>
              </a:defRPr>
            </a:pPr>
            <a:r>
              <a:rPr sz="2175" b="0">
                <a:solidFill>
                  <a:srgbClr val="172342"/>
                </a:solidFill>
              </a:rPr>
              <a:t>Repository structure, transformations, quality policies, job configuration and source audit.</a:t>
            </a:r>
          </a:p>
        </p:txBody>
      </p:sp>
      <p:sp>
        <p:nvSpPr>
          <p:cNvPr id="5" name="Next">
            <a:extLst xmlns:a="http://schemas.openxmlformats.org/drawingml/2006/main">
              <a:ext uri="{FF2B5EF4-FFF2-40B4-BE49-F238E27FC236}">
                <a16:creationId xmlns:a16="http://schemas.microsoft.com/office/drawing/2014/main" id="{A309BB30-6DE0-447F-AD18-D606A3D29424}"/>
              </a:ext>
            </a:extLst>
          </p:cNvPr>
          <p:cNvSpPr>
            <a:spLocks xmlns:a="http://schemas.openxmlformats.org/drawingml/2006/main" noGrp="1"/>
          </p:cNvSpPr>
          <p:nvPr/>
        </p:nvSpPr>
        <p:spPr>
          <a:xfrm xmlns:a="http://schemas.openxmlformats.org/drawingml/2006/main">
            <a:off x="666750" y="38100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334FE4"/>
                </a:solidFill>
              </a:defRPr>
            </a:defPPr>
            <a:lvl1pPr>
              <a:defRPr sz="2625" b="1">
                <a:solidFill>
                  <a:srgbClr val="334FE4"/>
                </a:solidFill>
              </a:defRPr>
            </a:lvl1pPr>
            <a:lvl2pPr>
              <a:defRPr sz="2625" b="1">
                <a:solidFill>
                  <a:srgbClr val="334FE4"/>
                </a:solidFill>
              </a:defRPr>
            </a:lvl2pPr>
            <a:lvl3pPr>
              <a:defRPr sz="2625" b="1">
                <a:solidFill>
                  <a:srgbClr val="334FE4"/>
                </a:solidFill>
              </a:defRPr>
            </a:lvl3pPr>
            <a:lvl4pPr>
              <a:defRPr sz="2625" b="1">
                <a:solidFill>
                  <a:srgbClr val="334FE4"/>
                </a:solidFill>
              </a:defRPr>
            </a:lvl4pPr>
            <a:lvl5pPr>
              <a:defRPr sz="2625" b="1">
                <a:solidFill>
                  <a:srgbClr val="334FE4"/>
                </a:solidFill>
              </a:defRPr>
            </a:lvl5pPr>
            <a:lvl6pPr>
              <a:defRPr sz="2625" b="1">
                <a:solidFill>
                  <a:srgbClr val="334FE4"/>
                </a:solidFill>
              </a:defRPr>
            </a:lvl6pPr>
            <a:lvl7pPr>
              <a:defRPr sz="2625" b="1">
                <a:solidFill>
                  <a:srgbClr val="334FE4"/>
                </a:solidFill>
              </a:defRPr>
            </a:lvl7pPr>
            <a:lvl8pPr>
              <a:defRPr sz="2625" b="1">
                <a:solidFill>
                  <a:srgbClr val="334FE4"/>
                </a:solidFill>
              </a:defRPr>
            </a:lvl8pPr>
            <a:lvl9pPr>
              <a:defRPr sz="2625" b="1">
                <a:solidFill>
                  <a:srgbClr val="334FE4"/>
                </a:solidFill>
              </a:defRPr>
            </a:lvl9pPr>
          </a:lstStyle>
          <a:p xmlns:a="http://schemas.openxmlformats.org/drawingml/2006/main">
            <a:pPr>
              <a:defRPr sz="2625" b="1">
                <a:solidFill>
                  <a:srgbClr val="334FE4"/>
                </a:solidFill>
              </a:defRPr>
            </a:pPr>
            <a:r>
              <a:rPr sz="2625" b="1">
                <a:solidFill>
                  <a:srgbClr val="334FE4"/>
                </a:solidFill>
              </a:rPr>
              <a:t>Databricks validation is the acceptance step</a:t>
            </a:r>
          </a:p>
        </p:txBody>
      </p:sp>
      <p:sp>
        <p:nvSpPr>
          <p:cNvPr id="6" name="Next detail">
            <a:extLst xmlns:a="http://schemas.openxmlformats.org/drawingml/2006/main">
              <a:ext uri="{FF2B5EF4-FFF2-40B4-BE49-F238E27FC236}">
                <a16:creationId xmlns:a16="http://schemas.microsoft.com/office/drawing/2014/main" id="{6EEDF248-72B5-4CE0-87E2-6841B1C4A7CD}"/>
              </a:ext>
            </a:extLst>
          </p:cNvPr>
          <p:cNvSpPr>
            <a:spLocks xmlns:a="http://schemas.openxmlformats.org/drawingml/2006/main" noGrp="1"/>
          </p:cNvSpPr>
          <p:nvPr/>
        </p:nvSpPr>
        <p:spPr>
          <a:xfrm xmlns:a="http://schemas.openxmlformats.org/drawingml/2006/main">
            <a:off x="666750" y="4524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342"/>
                </a:solidFill>
              </a:defRPr>
            </a:defPPr>
            <a:lvl1pPr>
              <a:defRPr sz="2175" b="0">
                <a:solidFill>
                  <a:srgbClr val="172342"/>
                </a:solidFill>
              </a:defRPr>
            </a:lvl1pPr>
            <a:lvl2pPr>
              <a:defRPr sz="2175" b="0">
                <a:solidFill>
                  <a:srgbClr val="172342"/>
                </a:solidFill>
              </a:defRPr>
            </a:lvl2pPr>
            <a:lvl3pPr>
              <a:defRPr sz="2175" b="0">
                <a:solidFill>
                  <a:srgbClr val="172342"/>
                </a:solidFill>
              </a:defRPr>
            </a:lvl3pPr>
            <a:lvl4pPr>
              <a:defRPr sz="2175" b="0">
                <a:solidFill>
                  <a:srgbClr val="172342"/>
                </a:solidFill>
              </a:defRPr>
            </a:lvl4pPr>
            <a:lvl5pPr>
              <a:defRPr sz="2175" b="0">
                <a:solidFill>
                  <a:srgbClr val="172342"/>
                </a:solidFill>
              </a:defRPr>
            </a:lvl5pPr>
            <a:lvl6pPr>
              <a:defRPr sz="2175" b="0">
                <a:solidFill>
                  <a:srgbClr val="172342"/>
                </a:solidFill>
              </a:defRPr>
            </a:lvl6pPr>
            <a:lvl7pPr>
              <a:defRPr sz="2175" b="0">
                <a:solidFill>
                  <a:srgbClr val="172342"/>
                </a:solidFill>
              </a:defRPr>
            </a:lvl7pPr>
            <a:lvl8pPr>
              <a:defRPr sz="2175" b="0">
                <a:solidFill>
                  <a:srgbClr val="172342"/>
                </a:solidFill>
              </a:defRPr>
            </a:lvl8pPr>
            <a:lvl9pPr>
              <a:defRPr sz="2175" b="0">
                <a:solidFill>
                  <a:srgbClr val="172342"/>
                </a:solidFill>
              </a:defRPr>
            </a:lvl9pPr>
          </a:lstStyle>
          <a:p xmlns:a="http://schemas.openxmlformats.org/drawingml/2006/main">
            <a:pPr>
              <a:defRPr sz="2175" b="0">
                <a:solidFill>
                  <a:srgbClr val="172342"/>
                </a:solidFill>
              </a:defRPr>
            </a:pPr>
            <a:r>
              <a:rPr sz="2175" b="0">
                <a:solidFill>
                  <a:srgbClr val="172342"/>
                </a:solidFill>
              </a:rPr>
              <a:t>Run the pipeline and job twice. Capture quality, reconciliation and Gold results.</a:t>
            </a:r>
          </a:p>
        </p:txBody>
      </p:sp>
      <p:sp>
        <p:nvSpPr>
          <p:cNvPr id="7" name="Source and scope">
            <a:extLst xmlns:a="http://schemas.openxmlformats.org/drawingml/2006/main">
              <a:ext uri="{FF2B5EF4-FFF2-40B4-BE49-F238E27FC236}">
                <a16:creationId xmlns:a16="http://schemas.microsoft.com/office/drawing/2014/main" id="{39EA7705-AF09-4869-A3EA-8D9B10FA0C72}"/>
              </a:ext>
            </a:extLst>
          </p:cNvPr>
          <p:cNvSpPr>
            <a:spLocks xmlns:a="http://schemas.openxmlformats.org/drawingml/2006/main" noGrp="1"/>
          </p:cNvSpPr>
          <p:nvPr/>
        </p:nvSpPr>
        <p:spPr>
          <a:xfrm xmlns:a="http://schemas.openxmlformats.org/drawingml/2006/main">
            <a:off x="666750" y="6191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26078"/>
                </a:solidFill>
              </a:defRPr>
            </a:defPPr>
            <a:lvl1pPr>
              <a:defRPr sz="1350" b="0">
                <a:solidFill>
                  <a:srgbClr val="526078"/>
                </a:solidFill>
              </a:defRPr>
            </a:lvl1pPr>
            <a:lvl2pPr>
              <a:defRPr sz="1350" b="0">
                <a:solidFill>
                  <a:srgbClr val="526078"/>
                </a:solidFill>
              </a:defRPr>
            </a:lvl2pPr>
            <a:lvl3pPr>
              <a:defRPr sz="1350" b="0">
                <a:solidFill>
                  <a:srgbClr val="526078"/>
                </a:solidFill>
              </a:defRPr>
            </a:lvl3pPr>
            <a:lvl4pPr>
              <a:defRPr sz="1350" b="0">
                <a:solidFill>
                  <a:srgbClr val="526078"/>
                </a:solidFill>
              </a:defRPr>
            </a:lvl4pPr>
            <a:lvl5pPr>
              <a:defRPr sz="1350" b="0">
                <a:solidFill>
                  <a:srgbClr val="526078"/>
                </a:solidFill>
              </a:defRPr>
            </a:lvl5pPr>
            <a:lvl6pPr>
              <a:defRPr sz="1350" b="0">
                <a:solidFill>
                  <a:srgbClr val="526078"/>
                </a:solidFill>
              </a:defRPr>
            </a:lvl6pPr>
            <a:lvl7pPr>
              <a:defRPr sz="1350" b="0">
                <a:solidFill>
                  <a:srgbClr val="526078"/>
                </a:solidFill>
              </a:defRPr>
            </a:lvl7pPr>
            <a:lvl8pPr>
              <a:defRPr sz="1350" b="0">
                <a:solidFill>
                  <a:srgbClr val="526078"/>
                </a:solidFill>
              </a:defRPr>
            </a:lvl8pPr>
            <a:lvl9pPr>
              <a:defRPr sz="1350" b="0">
                <a:solidFill>
                  <a:srgbClr val="526078"/>
                </a:solidFill>
              </a:defRPr>
            </a:lvl9pPr>
          </a:lstStyle>
          <a:p xmlns:a="http://schemas.openxmlformats.org/drawingml/2006/main">
            <a:pPr>
              <a:defRPr sz="1350" b="0">
                <a:solidFill>
                  <a:srgbClr val="526078"/>
                </a:solidFill>
              </a:defRPr>
            </a:pPr>
            <a:r>
              <a:rPr sz="1350" b="0">
                <a:solidFill>
                  <a:srgbClr val="526078"/>
                </a:solidFill>
              </a:rPr>
              <a:t>The goal: operational exceptions with evidence behind every metric.</a:t>
            </a:r>
          </a:p>
        </p:txBody>
      </p:sp>
    </p:spTree>
    <p:extLst>
      <p:ext uri="{BB962C8B-B14F-4D97-AF65-F5344CB8AC3E}">
        <p14:creationId xmlns:p14="http://schemas.microsoft.com/office/powerpoint/2010/main" val="159250877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7773618-0BF3-424E-B516-B7BDB3230BA5}"/>
              </a:ext>
            </a:extLst>
          </p:cNvPr>
          <p:cNvSpPr>
            <a:spLocks xmlns:a="http://schemas.openxmlformats.org/drawingml/2006/main" noGrp="1"/>
          </p:cNvSpPr>
          <p:nvPr/>
        </p:nvSpPr>
        <p:spPr>
          <a:xfrm xmlns:a="http://schemas.openxmlformats.org/drawingml/2006/main">
            <a:off x="66675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Appendix: definitions for questions</a:t>
            </a:r>
          </a:p>
        </p:txBody>
      </p:sp>
      <p:sp>
        <p:nvSpPr>
          <p:cNvPr id="3" name="">
            <a:extLst xmlns:a="http://schemas.openxmlformats.org/drawingml/2006/main">
              <a:ext uri="{FF2B5EF4-FFF2-40B4-BE49-F238E27FC236}">
                <a16:creationId xmlns:a16="http://schemas.microsoft.com/office/drawing/2014/main" id="{B36C75CB-1807-41C6-B72B-76C7968F03E8}"/>
              </a:ext>
            </a:extLst>
          </p:cNvPr>
          <p:cNvSpPr>
            <a:spLocks xmlns:a="http://schemas.openxmlformats.org/drawingml/2006/main" noGrp="1"/>
          </p:cNvSpPr>
          <p:nvPr/>
        </p:nvSpPr>
        <p:spPr>
          <a:xfrm xmlns:a="http://schemas.openxmlformats.org/drawingml/2006/main">
            <a:off x="666750" y="157162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334FE4"/>
                </a:solidFill>
              </a:defRPr>
            </a:defPPr>
            <a:lvl1pPr>
              <a:defRPr sz="2175" b="1">
                <a:solidFill>
                  <a:srgbClr val="334FE4"/>
                </a:solidFill>
              </a:defRPr>
            </a:lvl1pPr>
            <a:lvl2pPr>
              <a:defRPr sz="2175" b="1">
                <a:solidFill>
                  <a:srgbClr val="334FE4"/>
                </a:solidFill>
              </a:defRPr>
            </a:lvl2pPr>
            <a:lvl3pPr>
              <a:defRPr sz="2175" b="1">
                <a:solidFill>
                  <a:srgbClr val="334FE4"/>
                </a:solidFill>
              </a:defRPr>
            </a:lvl3pPr>
            <a:lvl4pPr>
              <a:defRPr sz="2175" b="1">
                <a:solidFill>
                  <a:srgbClr val="334FE4"/>
                </a:solidFill>
              </a:defRPr>
            </a:lvl4pPr>
            <a:lvl5pPr>
              <a:defRPr sz="2175" b="1">
                <a:solidFill>
                  <a:srgbClr val="334FE4"/>
                </a:solidFill>
              </a:defRPr>
            </a:lvl5pPr>
            <a:lvl6pPr>
              <a:defRPr sz="2175" b="1">
                <a:solidFill>
                  <a:srgbClr val="334FE4"/>
                </a:solidFill>
              </a:defRPr>
            </a:lvl6pPr>
            <a:lvl7pPr>
              <a:defRPr sz="2175" b="1">
                <a:solidFill>
                  <a:srgbClr val="334FE4"/>
                </a:solidFill>
              </a:defRPr>
            </a:lvl7pPr>
            <a:lvl8pPr>
              <a:defRPr sz="2175" b="1">
                <a:solidFill>
                  <a:srgbClr val="334FE4"/>
                </a:solidFill>
              </a:defRPr>
            </a:lvl8pPr>
            <a:lvl9pPr>
              <a:defRPr sz="2175" b="1">
                <a:solidFill>
                  <a:srgbClr val="334FE4"/>
                </a:solidFill>
              </a:defRPr>
            </a:lvl9pPr>
          </a:lstStyle>
          <a:p xmlns:a="http://schemas.openxmlformats.org/drawingml/2006/main">
            <a:pPr>
              <a:defRPr sz="2175" b="1">
                <a:solidFill>
                  <a:srgbClr val="334FE4"/>
                </a:solidFill>
              </a:defRPr>
            </a:pPr>
            <a:r>
              <a:rPr sz="2175" b="1">
                <a:solidFill>
                  <a:srgbClr val="334FE4"/>
                </a:solidFill>
              </a:rPr>
              <a:t>Tip magnitude</a:t>
            </a:r>
          </a:p>
        </p:txBody>
      </p:sp>
      <p:sp>
        <p:nvSpPr>
          <p:cNvPr id="4" name="">
            <a:extLst xmlns:a="http://schemas.openxmlformats.org/drawingml/2006/main">
              <a:ext uri="{FF2B5EF4-FFF2-40B4-BE49-F238E27FC236}">
                <a16:creationId xmlns:a16="http://schemas.microsoft.com/office/drawing/2014/main" id="{CAB1E8A2-AAD0-43BF-B75A-6FF19C792B3A}"/>
              </a:ext>
            </a:extLst>
          </p:cNvPr>
          <p:cNvSpPr>
            <a:spLocks xmlns:a="http://schemas.openxmlformats.org/drawingml/2006/main" noGrp="1"/>
          </p:cNvSpPr>
          <p:nvPr/>
        </p:nvSpPr>
        <p:spPr>
          <a:xfrm xmlns:a="http://schemas.openxmlformats.org/drawingml/2006/main">
            <a:off x="3905250" y="1571625"/>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Sum payment tips first, then take the absolute value. A recorded -4 is a larger tip than -3.</a:t>
            </a:r>
          </a:p>
        </p:txBody>
      </p:sp>
      <p:sp>
        <p:nvSpPr>
          <p:cNvPr id="5" name="">
            <a:extLst xmlns:a="http://schemas.openxmlformats.org/drawingml/2006/main">
              <a:ext uri="{FF2B5EF4-FFF2-40B4-BE49-F238E27FC236}">
                <a16:creationId xmlns:a16="http://schemas.microsoft.com/office/drawing/2014/main" id="{129BD527-4F8B-40BB-AA55-33C6F834BFE2}"/>
              </a:ext>
            </a:extLst>
          </p:cNvPr>
          <p:cNvSpPr>
            <a:spLocks xmlns:a="http://schemas.openxmlformats.org/drawingml/2006/main" noGrp="1"/>
          </p:cNvSpPr>
          <p:nvPr/>
        </p:nvSpPr>
        <p:spPr>
          <a:xfrm xmlns:a="http://schemas.openxmlformats.org/drawingml/2006/main">
            <a:off x="666750" y="285750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334FE4"/>
                </a:solidFill>
              </a:defRPr>
            </a:defPPr>
            <a:lvl1pPr>
              <a:defRPr sz="1875" b="1">
                <a:solidFill>
                  <a:srgbClr val="334FE4"/>
                </a:solidFill>
              </a:defRPr>
            </a:lvl1pPr>
            <a:lvl2pPr>
              <a:defRPr sz="1875" b="1">
                <a:solidFill>
                  <a:srgbClr val="334FE4"/>
                </a:solidFill>
              </a:defRPr>
            </a:lvl2pPr>
            <a:lvl3pPr>
              <a:defRPr sz="1875" b="1">
                <a:solidFill>
                  <a:srgbClr val="334FE4"/>
                </a:solidFill>
              </a:defRPr>
            </a:lvl3pPr>
            <a:lvl4pPr>
              <a:defRPr sz="1875" b="1">
                <a:solidFill>
                  <a:srgbClr val="334FE4"/>
                </a:solidFill>
              </a:defRPr>
            </a:lvl4pPr>
            <a:lvl5pPr>
              <a:defRPr sz="1875" b="1">
                <a:solidFill>
                  <a:srgbClr val="334FE4"/>
                </a:solidFill>
              </a:defRPr>
            </a:lvl5pPr>
            <a:lvl6pPr>
              <a:defRPr sz="1875" b="1">
                <a:solidFill>
                  <a:srgbClr val="334FE4"/>
                </a:solidFill>
              </a:defRPr>
            </a:lvl6pPr>
            <a:lvl7pPr>
              <a:defRPr sz="1875" b="1">
                <a:solidFill>
                  <a:srgbClr val="334FE4"/>
                </a:solidFill>
              </a:defRPr>
            </a:lvl7pPr>
            <a:lvl8pPr>
              <a:defRPr sz="1875" b="1">
                <a:solidFill>
                  <a:srgbClr val="334FE4"/>
                </a:solidFill>
              </a:defRPr>
            </a:lvl8pPr>
            <a:lvl9pPr>
              <a:defRPr sz="1875" b="1">
                <a:solidFill>
                  <a:srgbClr val="334FE4"/>
                </a:solidFill>
              </a:defRPr>
            </a:lvl9pPr>
          </a:lstStyle>
          <a:p xmlns:a="http://schemas.openxmlformats.org/drawingml/2006/main">
            <a:pPr>
              <a:defRPr sz="1875" b="1">
                <a:solidFill>
                  <a:srgbClr val="334FE4"/>
                </a:solidFill>
              </a:defRPr>
            </a:pPr>
            <a:r>
              <a:rPr sz="1875" b="1">
                <a:solidFill>
                  <a:srgbClr val="334FE4"/>
                </a:solidFill>
              </a:rPr>
              <a:t>IQR outlier rule</a:t>
            </a:r>
          </a:p>
        </p:txBody>
      </p:sp>
      <p:sp>
        <p:nvSpPr>
          <p:cNvPr id="6" name="">
            <a:extLst xmlns:a="http://schemas.openxmlformats.org/drawingml/2006/main">
              <a:ext uri="{FF2B5EF4-FFF2-40B4-BE49-F238E27FC236}">
                <a16:creationId xmlns:a16="http://schemas.microsoft.com/office/drawing/2014/main" id="{231AF53E-C5C4-4968-A142-F3D7692BD1A5}"/>
              </a:ext>
            </a:extLst>
          </p:cNvPr>
          <p:cNvSpPr>
            <a:spLocks xmlns:a="http://schemas.openxmlformats.org/drawingml/2006/main" noGrp="1"/>
          </p:cNvSpPr>
          <p:nvPr/>
        </p:nvSpPr>
        <p:spPr>
          <a:xfrm xmlns:a="http://schemas.openxmlformats.org/drawingml/2006/main">
            <a:off x="3905250" y="2857500"/>
            <a:ext cx="752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IQR is the distance from the 25th to the 75th percentile. Flag values above Q3 + 1.5 × IQR.</a:t>
            </a:r>
          </a:p>
        </p:txBody>
      </p:sp>
      <p:sp>
        <p:nvSpPr>
          <p:cNvPr id="7" name="">
            <a:extLst xmlns:a="http://schemas.openxmlformats.org/drawingml/2006/main">
              <a:ext uri="{FF2B5EF4-FFF2-40B4-BE49-F238E27FC236}">
                <a16:creationId xmlns:a16="http://schemas.microsoft.com/office/drawing/2014/main" id="{C7CB2622-8C05-42E3-B04B-5949FC085C2C}"/>
              </a:ext>
            </a:extLst>
          </p:cNvPr>
          <p:cNvSpPr>
            <a:spLocks xmlns:a="http://schemas.openxmlformats.org/drawingml/2006/main" noGrp="1"/>
          </p:cNvSpPr>
          <p:nvPr/>
        </p:nvSpPr>
        <p:spPr>
          <a:xfrm xmlns:a="http://schemas.openxmlformats.org/drawingml/2006/main">
            <a:off x="666750" y="423862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334FE4"/>
                </a:solidFill>
              </a:defRPr>
            </a:defPPr>
            <a:lvl1pPr>
              <a:defRPr sz="2175" b="1">
                <a:solidFill>
                  <a:srgbClr val="334FE4"/>
                </a:solidFill>
              </a:defRPr>
            </a:lvl1pPr>
            <a:lvl2pPr>
              <a:defRPr sz="2175" b="1">
                <a:solidFill>
                  <a:srgbClr val="334FE4"/>
                </a:solidFill>
              </a:defRPr>
            </a:lvl2pPr>
            <a:lvl3pPr>
              <a:defRPr sz="2175" b="1">
                <a:solidFill>
                  <a:srgbClr val="334FE4"/>
                </a:solidFill>
              </a:defRPr>
            </a:lvl3pPr>
            <a:lvl4pPr>
              <a:defRPr sz="2175" b="1">
                <a:solidFill>
                  <a:srgbClr val="334FE4"/>
                </a:solidFill>
              </a:defRPr>
            </a:lvl4pPr>
            <a:lvl5pPr>
              <a:defRPr sz="2175" b="1">
                <a:solidFill>
                  <a:srgbClr val="334FE4"/>
                </a:solidFill>
              </a:defRPr>
            </a:lvl5pPr>
            <a:lvl6pPr>
              <a:defRPr sz="2175" b="1">
                <a:solidFill>
                  <a:srgbClr val="334FE4"/>
                </a:solidFill>
              </a:defRPr>
            </a:lvl6pPr>
            <a:lvl7pPr>
              <a:defRPr sz="2175" b="1">
                <a:solidFill>
                  <a:srgbClr val="334FE4"/>
                </a:solidFill>
              </a:defRPr>
            </a:lvl7pPr>
            <a:lvl8pPr>
              <a:defRPr sz="2175" b="1">
                <a:solidFill>
                  <a:srgbClr val="334FE4"/>
                </a:solidFill>
              </a:defRPr>
            </a:lvl8pPr>
            <a:lvl9pPr>
              <a:defRPr sz="2175" b="1">
                <a:solidFill>
                  <a:srgbClr val="334FE4"/>
                </a:solidFill>
              </a:defRPr>
            </a:lvl9pPr>
          </a:lstStyle>
          <a:p xmlns:a="http://schemas.openxmlformats.org/drawingml/2006/main">
            <a:pPr>
              <a:defRPr sz="2175" b="1">
                <a:solidFill>
                  <a:srgbClr val="334FE4"/>
                </a:solidFill>
              </a:defRPr>
            </a:pPr>
            <a:r>
              <a:rPr sz="2175" b="1">
                <a:solidFill>
                  <a:srgbClr val="334FE4"/>
                </a:solidFill>
              </a:rPr>
              <a:t>Worked example</a:t>
            </a:r>
          </a:p>
        </p:txBody>
      </p:sp>
      <p:sp>
        <p:nvSpPr>
          <p:cNvPr id="8" name="">
            <a:extLst xmlns:a="http://schemas.openxmlformats.org/drawingml/2006/main">
              <a:ext uri="{FF2B5EF4-FFF2-40B4-BE49-F238E27FC236}">
                <a16:creationId xmlns:a16="http://schemas.microsoft.com/office/drawing/2014/main" id="{78098C90-B492-43B9-BEF4-0B40B2DCD891}"/>
              </a:ext>
            </a:extLst>
          </p:cNvPr>
          <p:cNvSpPr>
            <a:spLocks xmlns:a="http://schemas.openxmlformats.org/drawingml/2006/main" noGrp="1"/>
          </p:cNvSpPr>
          <p:nvPr/>
        </p:nvSpPr>
        <p:spPr>
          <a:xfrm xmlns:a="http://schemas.openxmlformats.org/drawingml/2006/main">
            <a:off x="3905250" y="4238625"/>
            <a:ext cx="7524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If Q1 = 0 and Q3 = 6, the high-outlier threshold is 15. This is an example, not a measured result.</a:t>
            </a:r>
          </a:p>
        </p:txBody>
      </p:sp>
      <p:sp>
        <p:nvSpPr>
          <p:cNvPr id="9" name="">
            <a:extLst xmlns:a="http://schemas.openxmlformats.org/drawingml/2006/main">
              <a:ext uri="{FF2B5EF4-FFF2-40B4-BE49-F238E27FC236}">
                <a16:creationId xmlns:a16="http://schemas.microsoft.com/office/drawing/2014/main" id="{4B1C5BEA-3142-4736-ADE8-AD8B2D23F772}"/>
              </a:ext>
            </a:extLst>
          </p:cNvPr>
          <p:cNvSpPr>
            <a:spLocks xmlns:a="http://schemas.openxmlformats.org/drawingml/2006/main" noGrp="1"/>
          </p:cNvSpPr>
          <p:nvPr/>
        </p:nvSpPr>
        <p:spPr>
          <a:xfrm xmlns:a="http://schemas.openxmlformats.org/drawingml/2006/main">
            <a:off x="666750" y="59531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334FE4"/>
                </a:solidFill>
              </a:defRPr>
            </a:defPPr>
            <a:lvl1pPr>
              <a:defRPr sz="1725" b="1">
                <a:solidFill>
                  <a:srgbClr val="334FE4"/>
                </a:solidFill>
              </a:defRPr>
            </a:lvl1pPr>
            <a:lvl2pPr>
              <a:defRPr sz="1725" b="1">
                <a:solidFill>
                  <a:srgbClr val="334FE4"/>
                </a:solidFill>
              </a:defRPr>
            </a:lvl2pPr>
            <a:lvl3pPr>
              <a:defRPr sz="1725" b="1">
                <a:solidFill>
                  <a:srgbClr val="334FE4"/>
                </a:solidFill>
              </a:defRPr>
            </a:lvl3pPr>
            <a:lvl4pPr>
              <a:defRPr sz="1725" b="1">
                <a:solidFill>
                  <a:srgbClr val="334FE4"/>
                </a:solidFill>
              </a:defRPr>
            </a:lvl4pPr>
            <a:lvl5pPr>
              <a:defRPr sz="1725" b="1">
                <a:solidFill>
                  <a:srgbClr val="334FE4"/>
                </a:solidFill>
              </a:defRPr>
            </a:lvl5pPr>
            <a:lvl6pPr>
              <a:defRPr sz="1725" b="1">
                <a:solidFill>
                  <a:srgbClr val="334FE4"/>
                </a:solidFill>
              </a:defRPr>
            </a:lvl6pPr>
            <a:lvl7pPr>
              <a:defRPr sz="1725" b="1">
                <a:solidFill>
                  <a:srgbClr val="334FE4"/>
                </a:solidFill>
              </a:defRPr>
            </a:lvl7pPr>
            <a:lvl8pPr>
              <a:defRPr sz="1725" b="1">
                <a:solidFill>
                  <a:srgbClr val="334FE4"/>
                </a:solidFill>
              </a:defRPr>
            </a:lvl8pPr>
            <a:lvl9pPr>
              <a:defRPr sz="1725" b="1">
                <a:solidFill>
                  <a:srgbClr val="334FE4"/>
                </a:solidFill>
              </a:defRPr>
            </a:lvl9pPr>
          </a:lstStyle>
          <a:p xmlns:a="http://schemas.openxmlformats.org/drawingml/2006/main">
            <a:pPr>
              <a:defRPr sz="1725" b="1">
                <a:solidFill>
                  <a:srgbClr val="334FE4"/>
                </a:solidFill>
              </a:defRPr>
            </a:pPr>
            <a:r>
              <a:rPr sz="1725" b="1">
                <a:solidFill>
                  <a:srgbClr val="334FE4"/>
                </a:solidFill>
              </a:rPr>
              <a:t>An outlier is a review signal. It does not establish fraud.</a:t>
            </a:r>
          </a:p>
        </p:txBody>
      </p:sp>
    </p:spTree>
    <p:extLst>
      <p:ext uri="{BB962C8B-B14F-4D97-AF65-F5344CB8AC3E}">
        <p14:creationId xmlns:p14="http://schemas.microsoft.com/office/powerpoint/2010/main" val="198735785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340B227-6B5F-42CB-9A03-189C2F6F69EB}"/>
              </a:ext>
            </a:extLst>
          </p:cNvPr>
          <p:cNvSpPr>
            <a:spLocks xmlns:a="http://schemas.openxmlformats.org/drawingml/2006/main" noGrp="1"/>
          </p:cNvSpPr>
          <p:nvPr/>
        </p:nvSpPr>
        <p:spPr>
          <a:xfrm xmlns:a="http://schemas.openxmlformats.org/drawingml/2006/main">
            <a:off x="666750" y="4381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334FE4"/>
                </a:solidFill>
              </a:defRPr>
            </a:defPPr>
            <a:lvl1pPr>
              <a:defRPr sz="3300" b="1">
                <a:solidFill>
                  <a:srgbClr val="334FE4"/>
                </a:solidFill>
              </a:defRPr>
            </a:lvl1pPr>
            <a:lvl2pPr>
              <a:defRPr sz="3300" b="1">
                <a:solidFill>
                  <a:srgbClr val="334FE4"/>
                </a:solidFill>
              </a:defRPr>
            </a:lvl2pPr>
            <a:lvl3pPr>
              <a:defRPr sz="3300" b="1">
                <a:solidFill>
                  <a:srgbClr val="334FE4"/>
                </a:solidFill>
              </a:defRPr>
            </a:lvl3pPr>
            <a:lvl4pPr>
              <a:defRPr sz="3300" b="1">
                <a:solidFill>
                  <a:srgbClr val="334FE4"/>
                </a:solidFill>
              </a:defRPr>
            </a:lvl4pPr>
            <a:lvl5pPr>
              <a:defRPr sz="3300" b="1">
                <a:solidFill>
                  <a:srgbClr val="334FE4"/>
                </a:solidFill>
              </a:defRPr>
            </a:lvl5pPr>
            <a:lvl6pPr>
              <a:defRPr sz="3300" b="1">
                <a:solidFill>
                  <a:srgbClr val="334FE4"/>
                </a:solidFill>
              </a:defRPr>
            </a:lvl6pPr>
            <a:lvl7pPr>
              <a:defRPr sz="3300" b="1">
                <a:solidFill>
                  <a:srgbClr val="334FE4"/>
                </a:solidFill>
              </a:defRPr>
            </a:lvl7pPr>
            <a:lvl8pPr>
              <a:defRPr sz="3300" b="1">
                <a:solidFill>
                  <a:srgbClr val="334FE4"/>
                </a:solidFill>
              </a:defRPr>
            </a:lvl8pPr>
            <a:lvl9pPr>
              <a:defRPr sz="3300" b="1">
                <a:solidFill>
                  <a:srgbClr val="334FE4"/>
                </a:solidFill>
              </a:defRPr>
            </a:lvl9pPr>
          </a:lstStyle>
          <a:p xmlns:a="http://schemas.openxmlformats.org/drawingml/2006/main">
            <a:pPr>
              <a:defRPr sz="3300" b="1">
                <a:solidFill>
                  <a:srgbClr val="334FE4"/>
                </a:solidFill>
              </a:defRPr>
            </a:pPr>
            <a:r>
              <a:rPr sz="3300" b="1">
                <a:solidFill>
                  <a:srgbClr val="334FE4"/>
                </a:solidFill>
              </a:rPr>
              <a:t>Appendix: evidence and execution status</a:t>
            </a:r>
          </a:p>
        </p:txBody>
      </p:sp>
      <p:sp>
        <p:nvSpPr>
          <p:cNvPr id="3" name="">
            <a:extLst xmlns:a="http://schemas.openxmlformats.org/drawingml/2006/main">
              <a:ext uri="{FF2B5EF4-FFF2-40B4-BE49-F238E27FC236}">
                <a16:creationId xmlns:a16="http://schemas.microsoft.com/office/drawing/2014/main" id="{52C861B0-3506-41E6-ABDB-B2C5E7A79C5C}"/>
              </a:ext>
            </a:extLst>
          </p:cNvPr>
          <p:cNvSpPr>
            <a:spLocks xmlns:a="http://schemas.openxmlformats.org/drawingml/2006/main" noGrp="1"/>
          </p:cNvSpPr>
          <p:nvPr/>
        </p:nvSpPr>
        <p:spPr>
          <a:xfrm xmlns:a="http://schemas.openxmlformats.org/drawingml/2006/main">
            <a:off x="666750" y="1619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334FE4"/>
                </a:solidFill>
              </a:defRPr>
            </a:defPPr>
            <a:lvl1pPr>
              <a:defRPr sz="2325" b="1">
                <a:solidFill>
                  <a:srgbClr val="334FE4"/>
                </a:solidFill>
              </a:defRPr>
            </a:lvl1pPr>
            <a:lvl2pPr>
              <a:defRPr sz="2325" b="1">
                <a:solidFill>
                  <a:srgbClr val="334FE4"/>
                </a:solidFill>
              </a:defRPr>
            </a:lvl2pPr>
            <a:lvl3pPr>
              <a:defRPr sz="2325" b="1">
                <a:solidFill>
                  <a:srgbClr val="334FE4"/>
                </a:solidFill>
              </a:defRPr>
            </a:lvl3pPr>
            <a:lvl4pPr>
              <a:defRPr sz="2325" b="1">
                <a:solidFill>
                  <a:srgbClr val="334FE4"/>
                </a:solidFill>
              </a:defRPr>
            </a:lvl4pPr>
            <a:lvl5pPr>
              <a:defRPr sz="2325" b="1">
                <a:solidFill>
                  <a:srgbClr val="334FE4"/>
                </a:solidFill>
              </a:defRPr>
            </a:lvl5pPr>
            <a:lvl6pPr>
              <a:defRPr sz="2325" b="1">
                <a:solidFill>
                  <a:srgbClr val="334FE4"/>
                </a:solidFill>
              </a:defRPr>
            </a:lvl6pPr>
            <a:lvl7pPr>
              <a:defRPr sz="2325" b="1">
                <a:solidFill>
                  <a:srgbClr val="334FE4"/>
                </a:solidFill>
              </a:defRPr>
            </a:lvl7pPr>
            <a:lvl8pPr>
              <a:defRPr sz="2325" b="1">
                <a:solidFill>
                  <a:srgbClr val="334FE4"/>
                </a:solidFill>
              </a:defRPr>
            </a:lvl8pPr>
            <a:lvl9pPr>
              <a:defRPr sz="2325" b="1">
                <a:solidFill>
                  <a:srgbClr val="334FE4"/>
                </a:solidFill>
              </a:defRPr>
            </a:lvl9pPr>
          </a:lstStyle>
          <a:p xmlns:a="http://schemas.openxmlformats.org/drawingml/2006/main">
            <a:pPr>
              <a:defRPr sz="2325" b="1">
                <a:solidFill>
                  <a:srgbClr val="334FE4"/>
                </a:solidFill>
              </a:defRPr>
            </a:pPr>
            <a:r>
              <a:rPr sz="2325" b="1">
                <a:solidFill>
                  <a:srgbClr val="334FE4"/>
                </a:solidFill>
              </a:rPr>
              <a:t>Completed</a:t>
            </a:r>
          </a:p>
        </p:txBody>
      </p:sp>
      <p:sp>
        <p:nvSpPr>
          <p:cNvPr id="4" name="">
            <a:extLst xmlns:a="http://schemas.openxmlformats.org/drawingml/2006/main">
              <a:ext uri="{FF2B5EF4-FFF2-40B4-BE49-F238E27FC236}">
                <a16:creationId xmlns:a16="http://schemas.microsoft.com/office/drawing/2014/main" id="{5851F356-FD85-4039-890D-2886E05DC552}"/>
              </a:ext>
            </a:extLst>
          </p:cNvPr>
          <p:cNvSpPr>
            <a:spLocks xmlns:a="http://schemas.openxmlformats.org/drawingml/2006/main" noGrp="1"/>
          </p:cNvSpPr>
          <p:nvPr/>
        </p:nvSpPr>
        <p:spPr>
          <a:xfrm xmlns:a="http://schemas.openxmlformats.org/drawingml/2006/main">
            <a:off x="3905250" y="1619250"/>
            <a:ext cx="7524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115 source files audited. 15 local fixture and repository checks passed. Baseline totals reproduced.</a:t>
            </a:r>
          </a:p>
        </p:txBody>
      </p:sp>
      <p:sp>
        <p:nvSpPr>
          <p:cNvPr id="5" name="">
            <a:extLst xmlns:a="http://schemas.openxmlformats.org/drawingml/2006/main">
              <a:ext uri="{FF2B5EF4-FFF2-40B4-BE49-F238E27FC236}">
                <a16:creationId xmlns:a16="http://schemas.microsoft.com/office/drawing/2014/main" id="{D33A227D-9243-49DB-8BAD-D5FEE99F8DDB}"/>
              </a:ext>
            </a:extLst>
          </p:cNvPr>
          <p:cNvSpPr>
            <a:spLocks xmlns:a="http://schemas.openxmlformats.org/drawingml/2006/main" noGrp="1"/>
          </p:cNvSpPr>
          <p:nvPr/>
        </p:nvSpPr>
        <p:spPr>
          <a:xfrm xmlns:a="http://schemas.openxmlformats.org/drawingml/2006/main">
            <a:off x="666750" y="3143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334FE4"/>
                </a:solidFill>
              </a:defRPr>
            </a:defPPr>
            <a:lvl1pPr>
              <a:defRPr sz="2325" b="1">
                <a:solidFill>
                  <a:srgbClr val="334FE4"/>
                </a:solidFill>
              </a:defRPr>
            </a:lvl1pPr>
            <a:lvl2pPr>
              <a:defRPr sz="2325" b="1">
                <a:solidFill>
                  <a:srgbClr val="334FE4"/>
                </a:solidFill>
              </a:defRPr>
            </a:lvl2pPr>
            <a:lvl3pPr>
              <a:defRPr sz="2325" b="1">
                <a:solidFill>
                  <a:srgbClr val="334FE4"/>
                </a:solidFill>
              </a:defRPr>
            </a:lvl3pPr>
            <a:lvl4pPr>
              <a:defRPr sz="2325" b="1">
                <a:solidFill>
                  <a:srgbClr val="334FE4"/>
                </a:solidFill>
              </a:defRPr>
            </a:lvl4pPr>
            <a:lvl5pPr>
              <a:defRPr sz="2325" b="1">
                <a:solidFill>
                  <a:srgbClr val="334FE4"/>
                </a:solidFill>
              </a:defRPr>
            </a:lvl5pPr>
            <a:lvl6pPr>
              <a:defRPr sz="2325" b="1">
                <a:solidFill>
                  <a:srgbClr val="334FE4"/>
                </a:solidFill>
              </a:defRPr>
            </a:lvl6pPr>
            <a:lvl7pPr>
              <a:defRPr sz="2325" b="1">
                <a:solidFill>
                  <a:srgbClr val="334FE4"/>
                </a:solidFill>
              </a:defRPr>
            </a:lvl7pPr>
            <a:lvl8pPr>
              <a:defRPr sz="2325" b="1">
                <a:solidFill>
                  <a:srgbClr val="334FE4"/>
                </a:solidFill>
              </a:defRPr>
            </a:lvl8pPr>
            <a:lvl9pPr>
              <a:defRPr sz="2325" b="1">
                <a:solidFill>
                  <a:srgbClr val="334FE4"/>
                </a:solidFill>
              </a:defRPr>
            </a:lvl9pPr>
          </a:lstStyle>
          <a:p xmlns:a="http://schemas.openxmlformats.org/drawingml/2006/main">
            <a:pPr>
              <a:defRPr sz="2325" b="1">
                <a:solidFill>
                  <a:srgbClr val="334FE4"/>
                </a:solidFill>
              </a:defRPr>
            </a:pPr>
            <a:r>
              <a:rPr sz="2325" b="1">
                <a:solidFill>
                  <a:srgbClr val="334FE4"/>
                </a:solidFill>
              </a:rPr>
              <a:t>Prepared</a:t>
            </a:r>
          </a:p>
        </p:txBody>
      </p:sp>
      <p:sp>
        <p:nvSpPr>
          <p:cNvPr id="6" name="">
            <a:extLst xmlns:a="http://schemas.openxmlformats.org/drawingml/2006/main">
              <a:ext uri="{FF2B5EF4-FFF2-40B4-BE49-F238E27FC236}">
                <a16:creationId xmlns:a16="http://schemas.microsoft.com/office/drawing/2014/main" id="{19BA3C15-EA8F-4E39-AB28-CB62F1658759}"/>
              </a:ext>
            </a:extLst>
          </p:cNvPr>
          <p:cNvSpPr>
            <a:spLocks xmlns:a="http://schemas.openxmlformats.org/drawingml/2006/main" noGrp="1"/>
          </p:cNvSpPr>
          <p:nvPr/>
        </p:nvSpPr>
        <p:spPr>
          <a:xfrm xmlns:a="http://schemas.openxmlformats.org/drawingml/2006/main">
            <a:off x="3905250" y="3143250"/>
            <a:ext cx="7524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Pipeline libraries, job definition, validation notebook, demonstration SQL and runbook.</a:t>
            </a:r>
          </a:p>
        </p:txBody>
      </p:sp>
      <p:sp>
        <p:nvSpPr>
          <p:cNvPr id="7" name="">
            <a:extLst xmlns:a="http://schemas.openxmlformats.org/drawingml/2006/main">
              <a:ext uri="{FF2B5EF4-FFF2-40B4-BE49-F238E27FC236}">
                <a16:creationId xmlns:a16="http://schemas.microsoft.com/office/drawing/2014/main" id="{F4C595FB-270E-4DFD-9D81-14ECB167D22F}"/>
              </a:ext>
            </a:extLst>
          </p:cNvPr>
          <p:cNvSpPr>
            <a:spLocks xmlns:a="http://schemas.openxmlformats.org/drawingml/2006/main" noGrp="1"/>
          </p:cNvSpPr>
          <p:nvPr/>
        </p:nvSpPr>
        <p:spPr>
          <a:xfrm xmlns:a="http://schemas.openxmlformats.org/drawingml/2006/main">
            <a:off x="666750" y="4667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334FE4"/>
                </a:solidFill>
              </a:defRPr>
            </a:defPPr>
            <a:lvl1pPr>
              <a:defRPr sz="2325" b="1">
                <a:solidFill>
                  <a:srgbClr val="334FE4"/>
                </a:solidFill>
              </a:defRPr>
            </a:lvl1pPr>
            <a:lvl2pPr>
              <a:defRPr sz="2325" b="1">
                <a:solidFill>
                  <a:srgbClr val="334FE4"/>
                </a:solidFill>
              </a:defRPr>
            </a:lvl2pPr>
            <a:lvl3pPr>
              <a:defRPr sz="2325" b="1">
                <a:solidFill>
                  <a:srgbClr val="334FE4"/>
                </a:solidFill>
              </a:defRPr>
            </a:lvl3pPr>
            <a:lvl4pPr>
              <a:defRPr sz="2325" b="1">
                <a:solidFill>
                  <a:srgbClr val="334FE4"/>
                </a:solidFill>
              </a:defRPr>
            </a:lvl4pPr>
            <a:lvl5pPr>
              <a:defRPr sz="2325" b="1">
                <a:solidFill>
                  <a:srgbClr val="334FE4"/>
                </a:solidFill>
              </a:defRPr>
            </a:lvl5pPr>
            <a:lvl6pPr>
              <a:defRPr sz="2325" b="1">
                <a:solidFill>
                  <a:srgbClr val="334FE4"/>
                </a:solidFill>
              </a:defRPr>
            </a:lvl6pPr>
            <a:lvl7pPr>
              <a:defRPr sz="2325" b="1">
                <a:solidFill>
                  <a:srgbClr val="334FE4"/>
                </a:solidFill>
              </a:defRPr>
            </a:lvl7pPr>
            <a:lvl8pPr>
              <a:defRPr sz="2325" b="1">
                <a:solidFill>
                  <a:srgbClr val="334FE4"/>
                </a:solidFill>
              </a:defRPr>
            </a:lvl8pPr>
            <a:lvl9pPr>
              <a:defRPr sz="2325" b="1">
                <a:solidFill>
                  <a:srgbClr val="334FE4"/>
                </a:solidFill>
              </a:defRPr>
            </a:lvl9pPr>
          </a:lstStyle>
          <a:p xmlns:a="http://schemas.openxmlformats.org/drawingml/2006/main">
            <a:pPr>
              <a:defRPr sz="2325" b="1">
                <a:solidFill>
                  <a:srgbClr val="334FE4"/>
                </a:solidFill>
              </a:defRPr>
            </a:pPr>
            <a:r>
              <a:rPr sz="2325" b="1">
                <a:solidFill>
                  <a:srgbClr val="334FE4"/>
                </a:solidFill>
              </a:rPr>
              <a:t>Pending</a:t>
            </a:r>
          </a:p>
        </p:txBody>
      </p:sp>
      <p:sp>
        <p:nvSpPr>
          <p:cNvPr id="8" name="">
            <a:extLst xmlns:a="http://schemas.openxmlformats.org/drawingml/2006/main">
              <a:ext uri="{FF2B5EF4-FFF2-40B4-BE49-F238E27FC236}">
                <a16:creationId xmlns:a16="http://schemas.microsoft.com/office/drawing/2014/main" id="{1EE538BF-2AD7-4E3B-8967-A7FD39EEBE4E}"/>
              </a:ext>
            </a:extLst>
          </p:cNvPr>
          <p:cNvSpPr>
            <a:spLocks xmlns:a="http://schemas.openxmlformats.org/drawingml/2006/main" noGrp="1"/>
          </p:cNvSpPr>
          <p:nvPr/>
        </p:nvSpPr>
        <p:spPr>
          <a:xfrm xmlns:a="http://schemas.openxmlformats.org/drawingml/2006/main">
            <a:off x="3905250" y="4667250"/>
            <a:ext cx="7524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342"/>
                </a:solidFill>
              </a:defRPr>
            </a:defPPr>
            <a:lvl1pPr>
              <a:defRPr sz="2100" b="0">
                <a:solidFill>
                  <a:srgbClr val="172342"/>
                </a:solidFill>
              </a:defRPr>
            </a:lvl1pPr>
            <a:lvl2pPr>
              <a:defRPr sz="2100" b="0">
                <a:solidFill>
                  <a:srgbClr val="172342"/>
                </a:solidFill>
              </a:defRPr>
            </a:lvl2pPr>
            <a:lvl3pPr>
              <a:defRPr sz="2100" b="0">
                <a:solidFill>
                  <a:srgbClr val="172342"/>
                </a:solidFill>
              </a:defRPr>
            </a:lvl3pPr>
            <a:lvl4pPr>
              <a:defRPr sz="2100" b="0">
                <a:solidFill>
                  <a:srgbClr val="172342"/>
                </a:solidFill>
              </a:defRPr>
            </a:lvl4pPr>
            <a:lvl5pPr>
              <a:defRPr sz="2100" b="0">
                <a:solidFill>
                  <a:srgbClr val="172342"/>
                </a:solidFill>
              </a:defRPr>
            </a:lvl5pPr>
            <a:lvl6pPr>
              <a:defRPr sz="2100" b="0">
                <a:solidFill>
                  <a:srgbClr val="172342"/>
                </a:solidFill>
              </a:defRPr>
            </a:lvl6pPr>
            <a:lvl7pPr>
              <a:defRPr sz="2100" b="0">
                <a:solidFill>
                  <a:srgbClr val="172342"/>
                </a:solidFill>
              </a:defRPr>
            </a:lvl7pPr>
            <a:lvl8pPr>
              <a:defRPr sz="2100" b="0">
                <a:solidFill>
                  <a:srgbClr val="172342"/>
                </a:solidFill>
              </a:defRPr>
            </a:lvl8pPr>
            <a:lvl9pPr>
              <a:defRPr sz="2100" b="0">
                <a:solidFill>
                  <a:srgbClr val="172342"/>
                </a:solidFill>
              </a:defRPr>
            </a:lvl9pPr>
          </a:lstStyle>
          <a:p xmlns:a="http://schemas.openxmlformats.org/drawingml/2006/main">
            <a:pPr>
              <a:defRPr sz="2100" b="0">
                <a:solidFill>
                  <a:srgbClr val="172342"/>
                </a:solidFill>
              </a:defRPr>
            </a:pPr>
            <a:r>
              <a:rPr sz="2100" b="0">
                <a:solidFill>
                  <a:srgbClr val="172342"/>
                </a:solidFill>
              </a:rPr>
              <a:t>Databricks pipeline/job execution, second-run consistency and Gold query evidence.</a:t>
            </a:r>
          </a:p>
        </p:txBody>
      </p:sp>
    </p:spTree>
    <p:extLst>
      <p:ext uri="{BB962C8B-B14F-4D97-AF65-F5344CB8AC3E}">
        <p14:creationId xmlns:p14="http://schemas.microsoft.com/office/powerpoint/2010/main" val="6669537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2026-10-29T04:43:42.7430000Z</dcterms:created>
  <dcterms:modified xsi:type="dcterms:W3CDTF">2026-10-29T04:43:42.7430000Z</dcterms:modified>
</coreProperties>
</file>