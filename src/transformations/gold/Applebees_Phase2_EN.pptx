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963d2b24ca4a90" /><Relationship Type="http://schemas.openxmlformats.org/officeDocument/2006/relationships/extended-properties" Target="/docProps/app.xml" Id="Re03d1236f22e4e76" /><Relationship Type="http://schemas.openxmlformats.org/officeDocument/2006/relationships/officeDocument" Target="/ppt/presentation.xml" Id="Rbb0e086a654f450a" /></Relationships>
</file>

<file path=ppt/presentation.xml><?xml version="1.0" encoding="utf-8"?>
<p:presentation xmlns:p="http://schemas.openxmlformats.org/presentationml/2006/main">
  <p:sldMasterIdLst>
    <p:sldMasterId xmlns:r="http://schemas.openxmlformats.org/officeDocument/2006/relationships" id="2147483648" r:id="Rf79456efadf6471d"/>
  </p:sldMasterIdLst>
  <p:notesMasterIdLst>
    <p:notesMasterId xmlns:r="http://schemas.openxmlformats.org/officeDocument/2006/relationships" r:id="Rc93edbc6d9af4f28"/>
  </p:notesMasterIdLst>
  <p:sldIdLst>
    <p:sldId xmlns:r="http://schemas.openxmlformats.org/officeDocument/2006/relationships" id="256" r:id="R0a13d41a29f04618"/>
    <p:sldId xmlns:r="http://schemas.openxmlformats.org/officeDocument/2006/relationships" id="257" r:id="Rccd3758597b94d88"/>
    <p:sldId xmlns:r="http://schemas.openxmlformats.org/officeDocument/2006/relationships" id="258" r:id="Ra9cb911039b141b2"/>
    <p:sldId xmlns:r="http://schemas.openxmlformats.org/officeDocument/2006/relationships" id="259" r:id="R48ba666e5ffe4f1b"/>
    <p:sldId xmlns:r="http://schemas.openxmlformats.org/officeDocument/2006/relationships" id="260" r:id="R6bdfa6ddbbfb40cb"/>
    <p:sldId xmlns:r="http://schemas.openxmlformats.org/officeDocument/2006/relationships" id="261" r:id="R64165a722f064151"/>
    <p:sldId xmlns:r="http://schemas.openxmlformats.org/officeDocument/2006/relationships" id="262" r:id="R643a922609794fc7"/>
    <p:sldId xmlns:r="http://schemas.openxmlformats.org/officeDocument/2006/relationships" id="263" r:id="Raa9ced9752884d32"/>
    <p:sldId xmlns:r="http://schemas.openxmlformats.org/officeDocument/2006/relationships" id="264" r:id="R65c91c2871e54e7e"/>
    <p:sldId xmlns:r="http://schemas.openxmlformats.org/officeDocument/2006/relationships" id="265" r:id="R720477d37a5345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2666d4f1f34024" /><Relationship Type="http://schemas.openxmlformats.org/officeDocument/2006/relationships/slideMaster" Target="/ppt/slideMasters/slideMaster1.xml" Id="Rf79456efadf6471d" /><Relationship Type="http://schemas.openxmlformats.org/officeDocument/2006/relationships/notesMaster" Target="/ppt/notesMasters/notesMaster1.xml" Id="Rc93edbc6d9af4f28" /><Relationship Type="http://schemas.openxmlformats.org/officeDocument/2006/relationships/presProps" Target="/ppt/presProps.xml" Id="Rdaffea80234a49ae" /><Relationship Type="http://schemas.openxmlformats.org/officeDocument/2006/relationships/tableStyles" Target="/ppt/tableStyles.xml" Id="Ra71baaad3b6b4343" /><Relationship Type="http://schemas.openxmlformats.org/officeDocument/2006/relationships/slide" Target="/ppt/slides/slide1.xml" Id="R0a13d41a29f04618" /><Relationship Type="http://schemas.openxmlformats.org/officeDocument/2006/relationships/slide" Target="/ppt/slides/slide2.xml" Id="Rccd3758597b94d88" /><Relationship Type="http://schemas.openxmlformats.org/officeDocument/2006/relationships/slide" Target="/ppt/slides/slide3.xml" Id="Ra9cb911039b141b2" /><Relationship Type="http://schemas.openxmlformats.org/officeDocument/2006/relationships/slide" Target="/ppt/slides/slide4.xml" Id="R48ba666e5ffe4f1b" /><Relationship Type="http://schemas.openxmlformats.org/officeDocument/2006/relationships/slide" Target="/ppt/slides/slide5.xml" Id="R6bdfa6ddbbfb40cb" /><Relationship Type="http://schemas.openxmlformats.org/officeDocument/2006/relationships/slide" Target="/ppt/slides/slide6.xml" Id="R64165a722f064151" /><Relationship Type="http://schemas.openxmlformats.org/officeDocument/2006/relationships/slide" Target="/ppt/slides/slide7.xml" Id="R643a922609794fc7" /><Relationship Type="http://schemas.openxmlformats.org/officeDocument/2006/relationships/slide" Target="/ppt/slides/slide8.xml" Id="Raa9ced9752884d32" /><Relationship Type="http://schemas.openxmlformats.org/officeDocument/2006/relationships/slide" Target="/ppt/slides/slide9.xml" Id="R65c91c2871e54e7e" /><Relationship Type="http://schemas.openxmlformats.org/officeDocument/2006/relationships/slide" Target="/ppt/slides/slide10.xml" Id="R720477d37a5345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c0701adca54f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a28c72fba74058" /><Relationship Type="http://schemas.openxmlformats.org/officeDocument/2006/relationships/notesMaster" Target="/ppt/notesMasters/notesMaster1.xml" Id="Re43957d4288c4f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b86a4ead4b47be" /><Relationship Type="http://schemas.openxmlformats.org/officeDocument/2006/relationships/notesMaster" Target="/ppt/notesMasters/notesMaster1.xml" Id="R9b8c5a62e73b49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fc2cdcf5774705" /><Relationship Type="http://schemas.openxmlformats.org/officeDocument/2006/relationships/notesMaster" Target="/ppt/notesMasters/notesMaster1.xml" Id="R5bad1c16562044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d1d5a6046f4e40" /><Relationship Type="http://schemas.openxmlformats.org/officeDocument/2006/relationships/notesMaster" Target="/ppt/notesMasters/notesMaster1.xml" Id="R5c3bd4924f3143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43b78d255f46e0" /><Relationship Type="http://schemas.openxmlformats.org/officeDocument/2006/relationships/notesMaster" Target="/ppt/notesMasters/notesMaster1.xml" Id="Ra7331c2b8aa24f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2480b798e64554" /><Relationship Type="http://schemas.openxmlformats.org/officeDocument/2006/relationships/notesMaster" Target="/ppt/notesMasters/notesMaster1.xml" Id="Rac2a3b9cf4b040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571d3020ed4cff" /><Relationship Type="http://schemas.openxmlformats.org/officeDocument/2006/relationships/notesMaster" Target="/ppt/notesMasters/notesMaster1.xml" Id="Rb252f39d988145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a73a3880894e21" /><Relationship Type="http://schemas.openxmlformats.org/officeDocument/2006/relationships/notesMaster" Target="/ppt/notesMasters/notesMaster1.xml" Id="R7f7876d8095541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ffd0a0525b4f49" /><Relationship Type="http://schemas.openxmlformats.org/officeDocument/2006/relationships/notesMaster" Target="/ppt/notesMasters/notesMaster1.xml" Id="Rd9da37a1f0bd41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2a3580806d496b" /><Relationship Type="http://schemas.openxmlformats.org/officeDocument/2006/relationships/notesMaster" Target="/ppt/notesMasters/notesMaster1.xml" Id="Refe27e3aaa6042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00:00–00:25. If you flagged a restaurant check as suspicious, could you trace every number back to its source? Our Phase 2 pipeline provides that foundation. We processed 2,142,846 checks from 127 locations across 115 days. Today I will show how the workflow preserves the data, validates its outputs and supports focused operational review.</a:t>
            </a:r>
          </a:p>
          <a:p xmlns:a="http://schemas.openxmlformats.org/drawingml/2006/main">
            <a:r>
              <a:t/>
            </a:r>
          </a:p>
          <a:p xmlns:a="http://schemas.openxmlformats.org/drawingml/2006/main">
            <a:r>
              <a:t>Source and scope: runtime_evidence.json, runtime_job_1_validation.csv and source_audit.json. Scope: 2026-04-28 through 2026-08-20.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00:25–01:00. The source contains complete daily JSON arrays. Our first processing attempt exceeded the JSON reader’s memory. We added a preparation task that reads one check at a time and writes smaller files, with one check per JSON line. Silver standardizes fields and enriches them with location and channel references. Gold prepares reporting metrics. A separate acceptance task reconciles the results. Every stage retains the original file lineage.</a:t>
            </a:r>
          </a:p>
          <a:p xmlns:a="http://schemas.openxmlformats.org/drawingml/2006/main">
            <a:r>
              <a:t/>
            </a:r>
          </a:p>
          <a:p xmlns:a="http://schemas.openxmlformats.org/drawingml/2006/main">
            <a:r>
              <a:t>Source and scope: prepare_checks_jsonl_source.py, mv_checks_cleaned.py and the two Gold SQL libraries. Preparation source inventory SHA256 matches the independent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01:00–01:40. The transformations preserve the meaning of a check. We identify it with business date, location and check ID together. Payments and discounts become separate child tables, so expanding one array cannot multiply the other. A check’s tip equals the sum of its payment Gratuity values. We compare the magnitude of that sum because the usual source sign is negative. We also keep ticket discounts separate from item discounts until the business confirms whether their amounts overlap.</a:t>
            </a:r>
          </a:p>
          <a:p xmlns:a="http://schemas.openxmlformats.org/drawingml/2006/main">
            <a:r>
              <a:t/>
            </a:r>
          </a:p>
          <a:p xmlns:a="http://schemas.openxmlformats.org/drawingml/2006/main">
            <a:r>
              <a:t>Source and scope: DATA_CONTRACT.md and mv_checks_cleaned.py. EmployeeId in a payment identifies its actor, without a verified waiter-role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01:40–02:20. Each quality rule has a defined response. Invalid reference dimensions stop publication. Unusable checks retain their evidence in quarantine, and the acceptance task rejects a nonempty quarantine. Empty payment lists remain visible for investigation. The accepted run contains all 2,142,846 checks, with zero duplicate keys, corrupt records or missing dates. We retained 3,856 checks with empty payment lists. That describes missing records in this export. Accounting reconciliation must establish whether customers actually paid.</a:t>
            </a:r>
          </a:p>
          <a:p xmlns:a="http://schemas.openxmlformats.org/drawingml/2006/main">
            <a:r>
              <a:t/>
            </a:r>
          </a:p>
          <a:p xmlns:a="http://schemas.openxmlformats.org/drawingml/2006/main">
            <a:r>
              <a:t>Source and scope: runtime_job_1_validation.csv and mv_quality_metrics.sql. Blocking results all passed. Empty payment lists remain in the published population.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02:20–02:55. The job runs three tasks in order: prepare the files, refresh the pipeline, then validate its outputs. Each task requires the previous task to succeed. The first complete job finished successfully in 19 minutes and 34 seconds. All 28 audit results passed. Its source and published-check fingerprints matched the prior accepted manual run. Bounded retries handle processing failures. Failed data checks require review, and the job remains manually triggered during verification.</a:t>
            </a:r>
          </a:p>
          <a:p xmlns:a="http://schemas.openxmlformats.org/drawingml/2006/main">
            <a:r>
              <a:t/>
            </a:r>
          </a:p>
          <a:p xmlns:a="http://schemas.openxmlformats.org/drawingml/2006/main">
            <a:r>
              <a:t>Source and scope: runtime_evidence.json and runtime_job_1_validation.csv. Job ID 54448068766203. Run ID 469997930036472. Screenshot duration 19m 34s. All 28 audit rows passed, including 24 blocking results. A second full job run is still pending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02:55–03:30. Our engineering choices fit the current source. Batch suits a fixed historical export. Materialized views store computed reporting results and refresh them through Lakeflow. Liquid clustering uses business date and location, which match common filters. Query profiles are still needed to measure its performance benefit. Expectations distinguish monitored exceptions from blocking integrity failures. Preparation reuses verified output files, but still reads source and output bytes to check their hashes. Incremental ingestion is a future improvement.</a:t>
            </a:r>
          </a:p>
          <a:p xmlns:a="http://schemas.openxmlformats.org/drawingml/2006/main">
            <a:r>
              <a:t/>
            </a:r>
          </a:p>
          <a:p xmlns:a="http://schemas.openxmlformats.org/drawingml/2006/main">
            <a:r>
              <a:t>Source and scope: README.md engineering choices and https://docs.databricks.com/aws/en/ldp/concepts/refresh. Clustering configuration is implemented in code. No measured acceleration, cost reduction or full incremental-ingestion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03:30–04:20. The data supports a practical investigation priority. In the audited source and Week 4 analysis, locations 87, 1 and 141 account for 71.08 percent of checks with empty payment lists. That is their share of missing-payment cases. Their local missing-payment rates answer a separate question. We would reconcile the source-system records at those locations first. The accepted Gold coverage also confirms 268,590 discounted checks, or 12.53 percent of all checks. Explicit denominators help the business compare locations fairly and investigate exceptions without treating concentration as proof of misconduct.</a:t>
            </a:r>
          </a:p>
          <a:p xmlns:a="http://schemas.openxmlformats.org/drawingml/2006/main">
            <a:r>
              <a:t/>
            </a:r>
          </a:p>
          <a:p xmlns:a="http://schemas.openxmlformats.org/drawingml/2006/main">
            <a:r>
              <a:t>Source and scope: Location concentration: historical_reports_week4_tickets_sin_pago_por_sucursal.csv and source audit. Runtime coverage: runtime_job_1_validation.csv. Specific location concentration still uses the historical baseline until the Gold query export is captured.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04:20–05:00. We now have a working workflow with traceable data and a passing acceptance audit. Payment and discount event counts reconcile with their parent checks, and the repeat test preserved the published-check fingerprint. The next business step is to resolve missing-payment records and confirm discount definitions and permissions. The next engineering step is to verify the second complete job run and measure each task’s cost and duration. This gives the team a reliable starting point for investigation and future anomaly models.</a:t>
            </a:r>
          </a:p>
          <a:p xmlns:a="http://schemas.openxmlformats.org/drawingml/2006/main">
            <a:r>
              <a:t/>
            </a:r>
          </a:p>
          <a:p xmlns:a="http://schemas.openxmlformats.org/drawingml/2006/main">
            <a:r>
              <a:t>Source and scope: runtime_evidence.json, runtime_job_1_validation.csv and RUBRIC_EVIDENCE.md. Fingerprint scope covers selected source fields and published checks. Gold totals reconcile separately. Second full job and performance evidence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Questions only, outside the five-minute talk. IQR means interquartile range. The example is illustrative. Gold stores actual quartiles and thresholds. Source: DATA_CONTRACT.md.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runtime_evidence.json and the two exported validator CSVs. The first automated job matches the earlier accepted manual run. The second complete job remains pending user evidence. Job duration is an observed screenshot value, without a claimed speed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94712556874c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fb671911c548a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8a25462de546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f8753d00b7439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e48c86759545a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f445b4d84742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EF85AA-9FB8-47B3-9494-7418B5D968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2B6B38F-71BF-4F0A-B190-2D701CAD069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A9E3D3D-E450-4A2E-B584-24966FB11D0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18631E-FA9D-49CE-BF5E-38895D8404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FEEBDB-F64C-4E3F-B37C-FB87F2B2A1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D81216-FD8F-4BF4-A2C1-2E6B606E24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5B5260-B6EE-4C59-A271-2FEC10493F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BC07C9-B49A-424E-B89E-12FE8AAA31E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B94165-236D-40D9-B45B-08BCC841A8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4D6D74-6FF8-4FC2-B37E-331D76D490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092f86790b4722" /><Relationship Type="http://schemas.openxmlformats.org/officeDocument/2006/relationships/slideLayout" Target="/ppt/slideLayouts/slideLayout1.xml" Id="R49ee778ddc5c467d" /><Relationship Type="http://schemas.openxmlformats.org/officeDocument/2006/relationships/slideLayout" Target="/ppt/slideLayouts/slideLayout2.xml" Id="Rdc59542312e7422b" /><Relationship Type="http://schemas.openxmlformats.org/officeDocument/2006/relationships/slideLayout" Target="/ppt/slideLayouts/slideLayout3.xml" Id="Ra3fd7048a89146e0" /><Relationship Type="http://schemas.openxmlformats.org/officeDocument/2006/relationships/slideLayout" Target="/ppt/slideLayouts/slideLayout4.xml" Id="R094a8b9e6f824a32" /><Relationship Type="http://schemas.openxmlformats.org/officeDocument/2006/relationships/slideLayout" Target="/ppt/slideLayouts/slideLayout5.xml" Id="R570957718daf4754" /><Relationship Type="http://schemas.openxmlformats.org/officeDocument/2006/relationships/slideLayout" Target="/ppt/slideLayouts/slideLayout6.xml" Id="R3a8ae92bb43341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ee778ddc5c467d"/>
    <p:sldLayoutId xmlns:r="http://schemas.openxmlformats.org/officeDocument/2006/relationships" id="2147483650" r:id="Rdc59542312e7422b"/>
    <p:sldLayoutId xmlns:r="http://schemas.openxmlformats.org/officeDocument/2006/relationships" id="2147483651" r:id="Ra3fd7048a89146e0"/>
    <p:sldLayoutId xmlns:r="http://schemas.openxmlformats.org/officeDocument/2006/relationships" id="2147483652" r:id="R094a8b9e6f824a32"/>
    <p:sldLayoutId xmlns:r="http://schemas.openxmlformats.org/officeDocument/2006/relationships" id="2147483653" r:id="R570957718daf4754"/>
    <p:sldLayoutId xmlns:r="http://schemas.openxmlformats.org/officeDocument/2006/relationships" id="2147483654" r:id="R3a8ae92bb43341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17db424480497f" /><Relationship Type="http://schemas.openxmlformats.org/officeDocument/2006/relationships/notesSlide" Target="/ppt/notesSlides/notesSlide1.xml" Id="Ra2d25363104043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58043145184c84" /><Relationship Type="http://schemas.openxmlformats.org/officeDocument/2006/relationships/notesSlide" Target="/ppt/notesSlides/notesSlide2.xml" Id="R6b09bb03ce3345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19adad5ea774138" /><Relationship Type="http://schemas.openxmlformats.org/officeDocument/2006/relationships/notesSlide" Target="/ppt/notesSlides/notesSlide3.xml" Id="R68006c3608a84c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b95c6cac58c464e" /><Relationship Type="http://schemas.openxmlformats.org/officeDocument/2006/relationships/notesSlide" Target="/ppt/notesSlides/notesSlide4.xml" Id="Rc90a41d8c08440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d3ca300b5442ae" /><Relationship Type="http://schemas.openxmlformats.org/officeDocument/2006/relationships/notesSlide" Target="/ppt/notesSlides/notesSlide5.xml" Id="R6b780583360449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6690a04a8a941b1" /><Relationship Type="http://schemas.openxmlformats.org/officeDocument/2006/relationships/notesSlide" Target="/ppt/notesSlides/notesSlide6.xml" Id="R779151379d5b4c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8b89120c5914097" /><Relationship Type="http://schemas.openxmlformats.org/officeDocument/2006/relationships/chart" Target="/ppt/slides/charts/chart1.xml" Id="R235dd6d78d7349e1" /><Relationship Type="http://schemas.openxmlformats.org/officeDocument/2006/relationships/notesSlide" Target="/ppt/notesSlides/notesSlide7.xml" Id="R2dd156efad264c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eabee186eb64e54" /><Relationship Type="http://schemas.openxmlformats.org/officeDocument/2006/relationships/notesSlide" Target="/ppt/notesSlides/notesSlide8.xml" Id="Rf878771b7c914b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4bff1d1537c4699" /><Relationship Type="http://schemas.openxmlformats.org/officeDocument/2006/relationships/notesSlide" Target="/ppt/notesSlides/notesSlide9.xml" Id="R881457cc2f524a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f63db9860a4474b" /><Relationship Type="http://schemas.openxmlformats.org/officeDocument/2006/relationships/notesSlide" Target="/ppt/notesSlides/notesSlide10.xml" Id="Rd408f24095224ee7" /></Relationships>
</file>

<file path=ppt/slides/charts/chart1.xml><?xml version="1.0" encoding="utf-8"?>
<c:chartSpace xmlns:c="http://schemas.openxmlformats.org/drawingml/2006/chart">
  <c:lang val="en-US"/>
  <c:chart>
    <c:plotArea>
      <c:barChart>
        <c:barDir val="col"/>
        <c:varyColors val="0"/>
        <c:ser>
          <c:idx val="0"/>
          <c:order val="0"/>
          <c:tx>
            <c:v>Share of missing-payment cases</c:v>
          </c:tx>
          <c:spPr>
            <a:solidFill xmlns:a="http://schemas.openxmlformats.org/drawingml/2006/main">
              <a:srgbClr val="334FE4"/>
            </a:solidFill>
          </c:spPr>
          <c:invertIfNegative val="0"/>
          <c:cat>
            <c:numLit>
              <c:formatCode>General</c:formatCode>
              <c:ptCount val="3"/>
              <c:pt idx="0">
                <c:v>87</c:v>
              </c:pt>
              <c:pt idx="1">
                <c:v>1</c:v>
              </c:pt>
              <c:pt idx="2">
                <c:v>141</c:v>
              </c:pt>
            </c:numLit>
          </c:cat>
          <c:val>
            <c:numLit>
              <c:formatCode>0%</c:formatCode>
              <c:ptCount val="3"/>
              <c:pt idx="0">
                <c:v>0.3462136929460581</c:v>
              </c:pt>
              <c:pt idx="1">
                <c:v>0.24066390041493776</c:v>
              </c:pt>
              <c:pt idx="2">
                <c:v>0.12396265560165975</c:v>
              </c:pt>
            </c:numLit>
          </c:val>
        </c:ser>
        <c:dLbls>
          <c:numFmt formatCode="0.00%" sourceLinked="0"/>
          <c:txPr>
            <a:bodyPr xmlns:a="http://schemas.openxmlformats.org/drawingml/2006/main" anchorCtr="1"/>
            <a:lstStyle xmlns:a="http://schemas.openxmlformats.org/drawingml/2006/main"/>
            <a:p xmlns:a="http://schemas.openxmlformats.org/drawingml/2006/main">
              <a:pPr>
                <a:defRPr sz="1650"/>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Location ID</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defRPr>
            </a:pPr>
          </a:p>
        </c:txPr>
        <c:crossAx val="48672768"/>
      </c:catAx>
      <c:valAx>
        <c:axId val="48672768"/>
        <c:scaling>
          <c:orientation val="minMax"/>
          <c:max val="0.4"/>
          <c:min val="0"/>
        </c:scaling>
        <c:delete val="0"/>
        <c:axPos val="l"/>
        <c:majorGridlines>
          <c:spPr>
            <a:ln xmlns:a="http://schemas.openxmlformats.org/drawingml/2006/main" w="9525">
              <a:solidFill>
                <a:srgbClr val="DCE2F3"/>
              </a:solidFill>
            </a:ln>
          </c:spPr>
        </c:majorGridlines>
        <c:title>
          <c:tx>
            <c:rich>
              <a:bodyPr xmlns:a="http://schemas.openxmlformats.org/drawingml/2006/main"/>
              <a:lstStyle xmlns:a="http://schemas.openxmlformats.org/drawingml/2006/main"/>
              <a:p xmlns:a="http://schemas.openxmlformats.org/drawingml/2006/main">
                <a:r>
                  <a:t>Share of all missing-payment cases</a:t>
                </a:r>
              </a:p>
            </c:rich>
          </c:tx>
          <c:overlay val="0"/>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A6D9FAE-4BB8-466F-9AD7-1195CE46B99B}"/>
              </a:ext>
            </a:extLst>
          </p:cNvPr>
          <p:cNvSpPr>
            <a:spLocks xmlns:a="http://schemas.openxmlformats.org/drawingml/2006/main" noGrp="1"/>
          </p:cNvSpPr>
          <p:nvPr/>
        </p:nvSpPr>
        <p:spPr>
          <a:xfrm xmlns:a="http://schemas.openxmlformats.org/drawingml/2006/main">
            <a:off x="666750" y="66675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334FE4"/>
                </a:solidFill>
              </a:defRPr>
            </a:defPPr>
            <a:lvl1pPr>
              <a:defRPr sz="4050" b="1">
                <a:solidFill>
                  <a:srgbClr val="334FE4"/>
                </a:solidFill>
              </a:defRPr>
            </a:lvl1pPr>
            <a:lvl2pPr>
              <a:defRPr sz="4050" b="1">
                <a:solidFill>
                  <a:srgbClr val="334FE4"/>
                </a:solidFill>
              </a:defRPr>
            </a:lvl2pPr>
            <a:lvl3pPr>
              <a:defRPr sz="4050" b="1">
                <a:solidFill>
                  <a:srgbClr val="334FE4"/>
                </a:solidFill>
              </a:defRPr>
            </a:lvl3pPr>
            <a:lvl4pPr>
              <a:defRPr sz="4050" b="1">
                <a:solidFill>
                  <a:srgbClr val="334FE4"/>
                </a:solidFill>
              </a:defRPr>
            </a:lvl4pPr>
            <a:lvl5pPr>
              <a:defRPr sz="4050" b="1">
                <a:solidFill>
                  <a:srgbClr val="334FE4"/>
                </a:solidFill>
              </a:defRPr>
            </a:lvl5pPr>
            <a:lvl6pPr>
              <a:defRPr sz="4050" b="1">
                <a:solidFill>
                  <a:srgbClr val="334FE4"/>
                </a:solidFill>
              </a:defRPr>
            </a:lvl6pPr>
            <a:lvl7pPr>
              <a:defRPr sz="4050" b="1">
                <a:solidFill>
                  <a:srgbClr val="334FE4"/>
                </a:solidFill>
              </a:defRPr>
            </a:lvl7pPr>
            <a:lvl8pPr>
              <a:defRPr sz="4050" b="1">
                <a:solidFill>
                  <a:srgbClr val="334FE4"/>
                </a:solidFill>
              </a:defRPr>
            </a:lvl8pPr>
            <a:lvl9pPr>
              <a:defRPr sz="4050" b="1">
                <a:solidFill>
                  <a:srgbClr val="334FE4"/>
                </a:solidFill>
              </a:defRPr>
            </a:lvl9pPr>
          </a:lstStyle>
          <a:p xmlns:a="http://schemas.openxmlformats.org/drawingml/2006/main">
            <a:pPr>
              <a:defRPr sz="4050" b="1">
                <a:solidFill>
                  <a:srgbClr val="334FE4"/>
                </a:solidFill>
              </a:defRPr>
            </a:pPr>
            <a:r>
              <a:rPr sz="4050" b="1">
                <a:solidFill>
                  <a:srgbClr val="334FE4"/>
                </a:solidFill>
              </a:rPr>
              <a:t>Reliable data for</a:t>
            </a:r>
          </a:p>
          <a:p xmlns:a="http://schemas.openxmlformats.org/drawingml/2006/main">
            <a:pPr>
              <a:defRPr sz="4050" b="1">
                <a:solidFill>
                  <a:srgbClr val="334FE4"/>
                </a:solidFill>
              </a:defRPr>
            </a:pPr>
            <a:r>
              <a:rPr sz="4050" b="1">
                <a:solidFill>
                  <a:srgbClr val="334FE4"/>
                </a:solidFill>
              </a:rPr>
              <a:t>operational anomaly detection</a:t>
            </a:r>
          </a:p>
        </p:txBody>
      </p:sp>
      <p:sp>
        <p:nvSpPr>
          <p:cNvPr id="3" name="Project">
            <a:extLst xmlns:a="http://schemas.openxmlformats.org/drawingml/2006/main">
              <a:ext uri="{FF2B5EF4-FFF2-40B4-BE49-F238E27FC236}">
                <a16:creationId xmlns:a16="http://schemas.microsoft.com/office/drawing/2014/main" id="{CA15B868-AA3D-44B5-AC64-A33BD307E0AF}"/>
              </a:ext>
            </a:extLst>
          </p:cNvPr>
          <p:cNvSpPr>
            <a:spLocks xmlns:a="http://schemas.openxmlformats.org/drawingml/2006/main" noGrp="1"/>
          </p:cNvSpPr>
          <p:nvPr/>
        </p:nvSpPr>
        <p:spPr>
          <a:xfrm xmlns:a="http://schemas.openxmlformats.org/drawingml/2006/main">
            <a:off x="666750" y="2333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342"/>
                </a:solidFill>
              </a:defRPr>
            </a:defPPr>
            <a:lvl1pPr>
              <a:defRPr sz="2100" b="0">
                <a:solidFill>
                  <a:srgbClr val="172342"/>
                </a:solidFill>
              </a:defRPr>
            </a:lvl1pPr>
            <a:lvl2pPr>
              <a:defRPr sz="2100" b="0">
                <a:solidFill>
                  <a:srgbClr val="172342"/>
                </a:solidFill>
              </a:defRPr>
            </a:lvl2pPr>
            <a:lvl3pPr>
              <a:defRPr sz="2100" b="0">
                <a:solidFill>
                  <a:srgbClr val="172342"/>
                </a:solidFill>
              </a:defRPr>
            </a:lvl3pPr>
            <a:lvl4pPr>
              <a:defRPr sz="2100" b="0">
                <a:solidFill>
                  <a:srgbClr val="172342"/>
                </a:solidFill>
              </a:defRPr>
            </a:lvl4pPr>
            <a:lvl5pPr>
              <a:defRPr sz="2100" b="0">
                <a:solidFill>
                  <a:srgbClr val="172342"/>
                </a:solidFill>
              </a:defRPr>
            </a:lvl5pPr>
            <a:lvl6pPr>
              <a:defRPr sz="2100" b="0">
                <a:solidFill>
                  <a:srgbClr val="172342"/>
                </a:solidFill>
              </a:defRPr>
            </a:lvl6pPr>
            <a:lvl7pPr>
              <a:defRPr sz="2100" b="0">
                <a:solidFill>
                  <a:srgbClr val="172342"/>
                </a:solidFill>
              </a:defRPr>
            </a:lvl7pPr>
            <a:lvl8pPr>
              <a:defRPr sz="2100" b="0">
                <a:solidFill>
                  <a:srgbClr val="172342"/>
                </a:solidFill>
              </a:defRPr>
            </a:lvl8pPr>
            <a:lvl9pPr>
              <a:defRPr sz="2100" b="0">
                <a:solidFill>
                  <a:srgbClr val="172342"/>
                </a:solidFill>
              </a:defRPr>
            </a:lvl9pPr>
          </a:lstStyle>
          <a:p xmlns:a="http://schemas.openxmlformats.org/drawingml/2006/main">
            <a:pPr>
              <a:defRPr sz="2100" b="0">
                <a:solidFill>
                  <a:srgbClr val="172342"/>
                </a:solidFill>
              </a:defRPr>
            </a:pPr>
            <a:r>
              <a:rPr sz="2100" b="0">
                <a:solidFill>
                  <a:srgbClr val="172342"/>
                </a:solidFill>
              </a:rPr>
              <a:t>Applebee’s Phase 2 pipeline deliverable</a:t>
            </a:r>
          </a:p>
        </p:txBody>
      </p:sp>
      <p:sp>
        <p:nvSpPr>
          <p:cNvPr id="4" name="Purpose">
            <a:extLst xmlns:a="http://schemas.openxmlformats.org/drawingml/2006/main">
              <a:ext uri="{FF2B5EF4-FFF2-40B4-BE49-F238E27FC236}">
                <a16:creationId xmlns:a16="http://schemas.microsoft.com/office/drawing/2014/main" id="{2F03B78B-58B8-46CF-A78F-8C9A993954BF}"/>
              </a:ext>
            </a:extLst>
          </p:cNvPr>
          <p:cNvSpPr>
            <a:spLocks xmlns:a="http://schemas.openxmlformats.org/drawingml/2006/main" noGrp="1"/>
          </p:cNvSpPr>
          <p:nvPr/>
        </p:nvSpPr>
        <p:spPr>
          <a:xfrm xmlns:a="http://schemas.openxmlformats.org/drawingml/2006/main">
            <a:off x="666750" y="3067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342"/>
                </a:solidFill>
              </a:defRPr>
            </a:defPPr>
            <a:lvl1pPr>
              <a:defRPr sz="2400" b="0">
                <a:solidFill>
                  <a:srgbClr val="172342"/>
                </a:solidFill>
              </a:defRPr>
            </a:lvl1pPr>
            <a:lvl2pPr>
              <a:defRPr sz="2400" b="0">
                <a:solidFill>
                  <a:srgbClr val="172342"/>
                </a:solidFill>
              </a:defRPr>
            </a:lvl2pPr>
            <a:lvl3pPr>
              <a:defRPr sz="2400" b="0">
                <a:solidFill>
                  <a:srgbClr val="172342"/>
                </a:solidFill>
              </a:defRPr>
            </a:lvl3pPr>
            <a:lvl4pPr>
              <a:defRPr sz="2400" b="0">
                <a:solidFill>
                  <a:srgbClr val="172342"/>
                </a:solidFill>
              </a:defRPr>
            </a:lvl4pPr>
            <a:lvl5pPr>
              <a:defRPr sz="2400" b="0">
                <a:solidFill>
                  <a:srgbClr val="172342"/>
                </a:solidFill>
              </a:defRPr>
            </a:lvl5pPr>
            <a:lvl6pPr>
              <a:defRPr sz="2400" b="0">
                <a:solidFill>
                  <a:srgbClr val="172342"/>
                </a:solidFill>
              </a:defRPr>
            </a:lvl6pPr>
            <a:lvl7pPr>
              <a:defRPr sz="2400" b="0">
                <a:solidFill>
                  <a:srgbClr val="172342"/>
                </a:solidFill>
              </a:defRPr>
            </a:lvl7pPr>
            <a:lvl8pPr>
              <a:defRPr sz="2400" b="0">
                <a:solidFill>
                  <a:srgbClr val="172342"/>
                </a:solidFill>
              </a:defRPr>
            </a:lvl8pPr>
            <a:lvl9pPr>
              <a:defRPr sz="2400" b="0">
                <a:solidFill>
                  <a:srgbClr val="172342"/>
                </a:solidFill>
              </a:defRPr>
            </a:lvl9pPr>
          </a:lstStyle>
          <a:p xmlns:a="http://schemas.openxmlformats.org/drawingml/2006/main">
            <a:pPr>
              <a:defRPr sz="2400" b="0">
                <a:solidFill>
                  <a:srgbClr val="172342"/>
                </a:solidFill>
              </a:defRPr>
            </a:pPr>
            <a:r>
              <a:rPr sz="2400" b="0">
                <a:solidFill>
                  <a:srgbClr val="172342"/>
                </a:solidFill>
              </a:rPr>
              <a:t>Which unusual checks deserve a closer look?</a:t>
            </a:r>
          </a:p>
          <a:p xmlns:a="http://schemas.openxmlformats.org/drawingml/2006/main">
            <a:pPr>
              <a:defRPr sz="2400" b="0">
                <a:solidFill>
                  <a:srgbClr val="172342"/>
                </a:solidFill>
              </a:defRPr>
            </a:pPr>
            <a:r>
              <a:rPr sz="2400" b="0">
                <a:solidFill>
                  <a:srgbClr val="172342"/>
                </a:solidFill>
              </a:rPr>
              <a:t>Reliable data must come before a risk score.</a:t>
            </a:r>
          </a:p>
        </p:txBody>
      </p:sp>
      <p:sp>
        <p:nvSpPr>
          <p:cNvPr id="5" name="checks value">
            <a:extLst xmlns:a="http://schemas.openxmlformats.org/drawingml/2006/main">
              <a:ext uri="{FF2B5EF4-FFF2-40B4-BE49-F238E27FC236}">
                <a16:creationId xmlns:a16="http://schemas.microsoft.com/office/drawing/2014/main" id="{5605CA07-AD02-4556-8DEE-60FBF9255A57}"/>
              </a:ext>
            </a:extLst>
          </p:cNvPr>
          <p:cNvSpPr>
            <a:spLocks xmlns:a="http://schemas.openxmlformats.org/drawingml/2006/main" noGrp="1"/>
          </p:cNvSpPr>
          <p:nvPr/>
        </p:nvSpPr>
        <p:spPr>
          <a:xfrm xmlns:a="http://schemas.openxmlformats.org/drawingml/2006/main">
            <a:off x="666750" y="44291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34FE4"/>
                </a:solidFill>
              </a:defRPr>
            </a:defPPr>
            <a:lvl1pPr>
              <a:defRPr sz="3600" b="1">
                <a:solidFill>
                  <a:srgbClr val="334FE4"/>
                </a:solidFill>
              </a:defRPr>
            </a:lvl1pPr>
            <a:lvl2pPr>
              <a:defRPr sz="3600" b="1">
                <a:solidFill>
                  <a:srgbClr val="334FE4"/>
                </a:solidFill>
              </a:defRPr>
            </a:lvl2pPr>
            <a:lvl3pPr>
              <a:defRPr sz="3600" b="1">
                <a:solidFill>
                  <a:srgbClr val="334FE4"/>
                </a:solidFill>
              </a:defRPr>
            </a:lvl3pPr>
            <a:lvl4pPr>
              <a:defRPr sz="3600" b="1">
                <a:solidFill>
                  <a:srgbClr val="334FE4"/>
                </a:solidFill>
              </a:defRPr>
            </a:lvl4pPr>
            <a:lvl5pPr>
              <a:defRPr sz="3600" b="1">
                <a:solidFill>
                  <a:srgbClr val="334FE4"/>
                </a:solidFill>
              </a:defRPr>
            </a:lvl5pPr>
            <a:lvl6pPr>
              <a:defRPr sz="3600" b="1">
                <a:solidFill>
                  <a:srgbClr val="334FE4"/>
                </a:solidFill>
              </a:defRPr>
            </a:lvl6pPr>
            <a:lvl7pPr>
              <a:defRPr sz="3600" b="1">
                <a:solidFill>
                  <a:srgbClr val="334FE4"/>
                </a:solidFill>
              </a:defRPr>
            </a:lvl7pPr>
            <a:lvl8pPr>
              <a:defRPr sz="3600" b="1">
                <a:solidFill>
                  <a:srgbClr val="334FE4"/>
                </a:solidFill>
              </a:defRPr>
            </a:lvl8pPr>
            <a:lvl9pPr>
              <a:defRPr sz="3600" b="1">
                <a:solidFill>
                  <a:srgbClr val="334FE4"/>
                </a:solidFill>
              </a:defRPr>
            </a:lvl9pPr>
          </a:lstStyle>
          <a:p xmlns:a="http://schemas.openxmlformats.org/drawingml/2006/main">
            <a:pPr>
              <a:defRPr sz="3600" b="1">
                <a:solidFill>
                  <a:srgbClr val="334FE4"/>
                </a:solidFill>
              </a:defRPr>
            </a:pPr>
            <a:r>
              <a:rPr sz="3600" b="1">
                <a:solidFill>
                  <a:srgbClr val="334FE4"/>
                </a:solidFill>
              </a:rPr>
              <a:t>2,142,846</a:t>
            </a:r>
          </a:p>
        </p:txBody>
      </p:sp>
      <p:sp>
        <p:nvSpPr>
          <p:cNvPr id="6" name="checks label">
            <a:extLst xmlns:a="http://schemas.openxmlformats.org/drawingml/2006/main">
              <a:ext uri="{FF2B5EF4-FFF2-40B4-BE49-F238E27FC236}">
                <a16:creationId xmlns:a16="http://schemas.microsoft.com/office/drawing/2014/main" id="{AFA8AEB8-B9EC-4434-88D3-3B71D6096506}"/>
              </a:ext>
            </a:extLst>
          </p:cNvPr>
          <p:cNvSpPr>
            <a:spLocks xmlns:a="http://schemas.openxmlformats.org/drawingml/2006/main" noGrp="1"/>
          </p:cNvSpPr>
          <p:nvPr/>
        </p:nvSpPr>
        <p:spPr>
          <a:xfrm xmlns:a="http://schemas.openxmlformats.org/drawingml/2006/main">
            <a:off x="666750" y="50768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342"/>
                </a:solidFill>
              </a:defRPr>
            </a:defPPr>
            <a:lvl1pPr>
              <a:defRPr sz="1875" b="0">
                <a:solidFill>
                  <a:srgbClr val="172342"/>
                </a:solidFill>
              </a:defRPr>
            </a:lvl1pPr>
            <a:lvl2pPr>
              <a:defRPr sz="1875" b="0">
                <a:solidFill>
                  <a:srgbClr val="172342"/>
                </a:solidFill>
              </a:defRPr>
            </a:lvl2pPr>
            <a:lvl3pPr>
              <a:defRPr sz="1875" b="0">
                <a:solidFill>
                  <a:srgbClr val="172342"/>
                </a:solidFill>
              </a:defRPr>
            </a:lvl3pPr>
            <a:lvl4pPr>
              <a:defRPr sz="1875" b="0">
                <a:solidFill>
                  <a:srgbClr val="172342"/>
                </a:solidFill>
              </a:defRPr>
            </a:lvl4pPr>
            <a:lvl5pPr>
              <a:defRPr sz="1875" b="0">
                <a:solidFill>
                  <a:srgbClr val="172342"/>
                </a:solidFill>
              </a:defRPr>
            </a:lvl5pPr>
            <a:lvl6pPr>
              <a:defRPr sz="1875" b="0">
                <a:solidFill>
                  <a:srgbClr val="172342"/>
                </a:solidFill>
              </a:defRPr>
            </a:lvl6pPr>
            <a:lvl7pPr>
              <a:defRPr sz="1875" b="0">
                <a:solidFill>
                  <a:srgbClr val="172342"/>
                </a:solidFill>
              </a:defRPr>
            </a:lvl7pPr>
            <a:lvl8pPr>
              <a:defRPr sz="1875" b="0">
                <a:solidFill>
                  <a:srgbClr val="172342"/>
                </a:solidFill>
              </a:defRPr>
            </a:lvl8pPr>
            <a:lvl9pPr>
              <a:defRPr sz="1875" b="0">
                <a:solidFill>
                  <a:srgbClr val="172342"/>
                </a:solidFill>
              </a:defRPr>
            </a:lvl9pPr>
          </a:lstStyle>
          <a:p xmlns:a="http://schemas.openxmlformats.org/drawingml/2006/main">
            <a:pPr>
              <a:defRPr sz="1875" b="0">
                <a:solidFill>
                  <a:srgbClr val="172342"/>
                </a:solidFill>
              </a:defRPr>
            </a:pPr>
            <a:r>
              <a:rPr sz="1875" b="0">
                <a:solidFill>
                  <a:srgbClr val="172342"/>
                </a:solidFill>
              </a:rPr>
              <a:t>checks</a:t>
            </a:r>
          </a:p>
        </p:txBody>
      </p:sp>
      <p:sp>
        <p:nvSpPr>
          <p:cNvPr id="7" name="locations value">
            <a:extLst xmlns:a="http://schemas.openxmlformats.org/drawingml/2006/main">
              <a:ext uri="{FF2B5EF4-FFF2-40B4-BE49-F238E27FC236}">
                <a16:creationId xmlns:a16="http://schemas.microsoft.com/office/drawing/2014/main" id="{CE1ED268-334F-4B7A-9780-208509165A47}"/>
              </a:ext>
            </a:extLst>
          </p:cNvPr>
          <p:cNvSpPr>
            <a:spLocks xmlns:a="http://schemas.openxmlformats.org/drawingml/2006/main" noGrp="1"/>
          </p:cNvSpPr>
          <p:nvPr/>
        </p:nvSpPr>
        <p:spPr>
          <a:xfrm xmlns:a="http://schemas.openxmlformats.org/drawingml/2006/main">
            <a:off x="4667250" y="44291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34FE4"/>
                </a:solidFill>
              </a:defRPr>
            </a:defPPr>
            <a:lvl1pPr>
              <a:defRPr sz="3600" b="1">
                <a:solidFill>
                  <a:srgbClr val="334FE4"/>
                </a:solidFill>
              </a:defRPr>
            </a:lvl1pPr>
            <a:lvl2pPr>
              <a:defRPr sz="3600" b="1">
                <a:solidFill>
                  <a:srgbClr val="334FE4"/>
                </a:solidFill>
              </a:defRPr>
            </a:lvl2pPr>
            <a:lvl3pPr>
              <a:defRPr sz="3600" b="1">
                <a:solidFill>
                  <a:srgbClr val="334FE4"/>
                </a:solidFill>
              </a:defRPr>
            </a:lvl3pPr>
            <a:lvl4pPr>
              <a:defRPr sz="3600" b="1">
                <a:solidFill>
                  <a:srgbClr val="334FE4"/>
                </a:solidFill>
              </a:defRPr>
            </a:lvl4pPr>
            <a:lvl5pPr>
              <a:defRPr sz="3600" b="1">
                <a:solidFill>
                  <a:srgbClr val="334FE4"/>
                </a:solidFill>
              </a:defRPr>
            </a:lvl5pPr>
            <a:lvl6pPr>
              <a:defRPr sz="3600" b="1">
                <a:solidFill>
                  <a:srgbClr val="334FE4"/>
                </a:solidFill>
              </a:defRPr>
            </a:lvl6pPr>
            <a:lvl7pPr>
              <a:defRPr sz="3600" b="1">
                <a:solidFill>
                  <a:srgbClr val="334FE4"/>
                </a:solidFill>
              </a:defRPr>
            </a:lvl7pPr>
            <a:lvl8pPr>
              <a:defRPr sz="3600" b="1">
                <a:solidFill>
                  <a:srgbClr val="334FE4"/>
                </a:solidFill>
              </a:defRPr>
            </a:lvl8pPr>
            <a:lvl9pPr>
              <a:defRPr sz="3600" b="1">
                <a:solidFill>
                  <a:srgbClr val="334FE4"/>
                </a:solidFill>
              </a:defRPr>
            </a:lvl9pPr>
          </a:lstStyle>
          <a:p xmlns:a="http://schemas.openxmlformats.org/drawingml/2006/main">
            <a:pPr>
              <a:defRPr sz="3600" b="1">
                <a:solidFill>
                  <a:srgbClr val="334FE4"/>
                </a:solidFill>
              </a:defRPr>
            </a:pPr>
            <a:r>
              <a:rPr sz="3600" b="1">
                <a:solidFill>
                  <a:srgbClr val="334FE4"/>
                </a:solidFill>
              </a:rPr>
              <a:t>127</a:t>
            </a:r>
          </a:p>
        </p:txBody>
      </p:sp>
      <p:sp>
        <p:nvSpPr>
          <p:cNvPr id="8" name="locations label">
            <a:extLst xmlns:a="http://schemas.openxmlformats.org/drawingml/2006/main">
              <a:ext uri="{FF2B5EF4-FFF2-40B4-BE49-F238E27FC236}">
                <a16:creationId xmlns:a16="http://schemas.microsoft.com/office/drawing/2014/main" id="{041757B4-1AEC-4089-988A-0F5327117321}"/>
              </a:ext>
            </a:extLst>
          </p:cNvPr>
          <p:cNvSpPr>
            <a:spLocks xmlns:a="http://schemas.openxmlformats.org/drawingml/2006/main" noGrp="1"/>
          </p:cNvSpPr>
          <p:nvPr/>
        </p:nvSpPr>
        <p:spPr>
          <a:xfrm xmlns:a="http://schemas.openxmlformats.org/drawingml/2006/main">
            <a:off x="4667250" y="50768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342"/>
                </a:solidFill>
              </a:defRPr>
            </a:defPPr>
            <a:lvl1pPr>
              <a:defRPr sz="1875" b="0">
                <a:solidFill>
                  <a:srgbClr val="172342"/>
                </a:solidFill>
              </a:defRPr>
            </a:lvl1pPr>
            <a:lvl2pPr>
              <a:defRPr sz="1875" b="0">
                <a:solidFill>
                  <a:srgbClr val="172342"/>
                </a:solidFill>
              </a:defRPr>
            </a:lvl2pPr>
            <a:lvl3pPr>
              <a:defRPr sz="1875" b="0">
                <a:solidFill>
                  <a:srgbClr val="172342"/>
                </a:solidFill>
              </a:defRPr>
            </a:lvl3pPr>
            <a:lvl4pPr>
              <a:defRPr sz="1875" b="0">
                <a:solidFill>
                  <a:srgbClr val="172342"/>
                </a:solidFill>
              </a:defRPr>
            </a:lvl4pPr>
            <a:lvl5pPr>
              <a:defRPr sz="1875" b="0">
                <a:solidFill>
                  <a:srgbClr val="172342"/>
                </a:solidFill>
              </a:defRPr>
            </a:lvl5pPr>
            <a:lvl6pPr>
              <a:defRPr sz="1875" b="0">
                <a:solidFill>
                  <a:srgbClr val="172342"/>
                </a:solidFill>
              </a:defRPr>
            </a:lvl6pPr>
            <a:lvl7pPr>
              <a:defRPr sz="1875" b="0">
                <a:solidFill>
                  <a:srgbClr val="172342"/>
                </a:solidFill>
              </a:defRPr>
            </a:lvl7pPr>
            <a:lvl8pPr>
              <a:defRPr sz="1875" b="0">
                <a:solidFill>
                  <a:srgbClr val="172342"/>
                </a:solidFill>
              </a:defRPr>
            </a:lvl8pPr>
            <a:lvl9pPr>
              <a:defRPr sz="1875" b="0">
                <a:solidFill>
                  <a:srgbClr val="172342"/>
                </a:solidFill>
              </a:defRPr>
            </a:lvl9pPr>
          </a:lstStyle>
          <a:p xmlns:a="http://schemas.openxmlformats.org/drawingml/2006/main">
            <a:pPr>
              <a:defRPr sz="1875" b="0">
                <a:solidFill>
                  <a:srgbClr val="172342"/>
                </a:solidFill>
              </a:defRPr>
            </a:pPr>
            <a:r>
              <a:rPr sz="1875" b="0">
                <a:solidFill>
                  <a:srgbClr val="172342"/>
                </a:solidFill>
              </a:rPr>
              <a:t>locations</a:t>
            </a:r>
          </a:p>
        </p:txBody>
      </p:sp>
      <p:sp>
        <p:nvSpPr>
          <p:cNvPr id="9" name="days value">
            <a:extLst xmlns:a="http://schemas.openxmlformats.org/drawingml/2006/main">
              <a:ext uri="{FF2B5EF4-FFF2-40B4-BE49-F238E27FC236}">
                <a16:creationId xmlns:a16="http://schemas.microsoft.com/office/drawing/2014/main" id="{54588950-ADD7-4740-BA6E-C89D34A25BA5}"/>
              </a:ext>
            </a:extLst>
          </p:cNvPr>
          <p:cNvSpPr>
            <a:spLocks xmlns:a="http://schemas.openxmlformats.org/drawingml/2006/main" noGrp="1"/>
          </p:cNvSpPr>
          <p:nvPr/>
        </p:nvSpPr>
        <p:spPr>
          <a:xfrm xmlns:a="http://schemas.openxmlformats.org/drawingml/2006/main">
            <a:off x="8572500" y="44291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34FE4"/>
                </a:solidFill>
              </a:defRPr>
            </a:defPPr>
            <a:lvl1pPr>
              <a:defRPr sz="3600" b="1">
                <a:solidFill>
                  <a:srgbClr val="334FE4"/>
                </a:solidFill>
              </a:defRPr>
            </a:lvl1pPr>
            <a:lvl2pPr>
              <a:defRPr sz="3600" b="1">
                <a:solidFill>
                  <a:srgbClr val="334FE4"/>
                </a:solidFill>
              </a:defRPr>
            </a:lvl2pPr>
            <a:lvl3pPr>
              <a:defRPr sz="3600" b="1">
                <a:solidFill>
                  <a:srgbClr val="334FE4"/>
                </a:solidFill>
              </a:defRPr>
            </a:lvl3pPr>
            <a:lvl4pPr>
              <a:defRPr sz="3600" b="1">
                <a:solidFill>
                  <a:srgbClr val="334FE4"/>
                </a:solidFill>
              </a:defRPr>
            </a:lvl4pPr>
            <a:lvl5pPr>
              <a:defRPr sz="3600" b="1">
                <a:solidFill>
                  <a:srgbClr val="334FE4"/>
                </a:solidFill>
              </a:defRPr>
            </a:lvl5pPr>
            <a:lvl6pPr>
              <a:defRPr sz="3600" b="1">
                <a:solidFill>
                  <a:srgbClr val="334FE4"/>
                </a:solidFill>
              </a:defRPr>
            </a:lvl6pPr>
            <a:lvl7pPr>
              <a:defRPr sz="3600" b="1">
                <a:solidFill>
                  <a:srgbClr val="334FE4"/>
                </a:solidFill>
              </a:defRPr>
            </a:lvl7pPr>
            <a:lvl8pPr>
              <a:defRPr sz="3600" b="1">
                <a:solidFill>
                  <a:srgbClr val="334FE4"/>
                </a:solidFill>
              </a:defRPr>
            </a:lvl8pPr>
            <a:lvl9pPr>
              <a:defRPr sz="3600" b="1">
                <a:solidFill>
                  <a:srgbClr val="334FE4"/>
                </a:solidFill>
              </a:defRPr>
            </a:lvl9pPr>
          </a:lstStyle>
          <a:p xmlns:a="http://schemas.openxmlformats.org/drawingml/2006/main">
            <a:pPr>
              <a:defRPr sz="3600" b="1">
                <a:solidFill>
                  <a:srgbClr val="334FE4"/>
                </a:solidFill>
              </a:defRPr>
            </a:pPr>
            <a:r>
              <a:rPr sz="3600" b="1">
                <a:solidFill>
                  <a:srgbClr val="334FE4"/>
                </a:solidFill>
              </a:rPr>
              <a:t>115</a:t>
            </a:r>
          </a:p>
        </p:txBody>
      </p:sp>
      <p:sp>
        <p:nvSpPr>
          <p:cNvPr id="10" name="days label">
            <a:extLst xmlns:a="http://schemas.openxmlformats.org/drawingml/2006/main">
              <a:ext uri="{FF2B5EF4-FFF2-40B4-BE49-F238E27FC236}">
                <a16:creationId xmlns:a16="http://schemas.microsoft.com/office/drawing/2014/main" id="{D0DA4B3F-1FFA-46ED-A4E1-DFAC95D64712}"/>
              </a:ext>
            </a:extLst>
          </p:cNvPr>
          <p:cNvSpPr>
            <a:spLocks xmlns:a="http://schemas.openxmlformats.org/drawingml/2006/main" noGrp="1"/>
          </p:cNvSpPr>
          <p:nvPr/>
        </p:nvSpPr>
        <p:spPr>
          <a:xfrm xmlns:a="http://schemas.openxmlformats.org/drawingml/2006/main">
            <a:off x="8572500" y="50768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342"/>
                </a:solidFill>
              </a:defRPr>
            </a:defPPr>
            <a:lvl1pPr>
              <a:defRPr sz="1875" b="0">
                <a:solidFill>
                  <a:srgbClr val="172342"/>
                </a:solidFill>
              </a:defRPr>
            </a:lvl1pPr>
            <a:lvl2pPr>
              <a:defRPr sz="1875" b="0">
                <a:solidFill>
                  <a:srgbClr val="172342"/>
                </a:solidFill>
              </a:defRPr>
            </a:lvl2pPr>
            <a:lvl3pPr>
              <a:defRPr sz="1875" b="0">
                <a:solidFill>
                  <a:srgbClr val="172342"/>
                </a:solidFill>
              </a:defRPr>
            </a:lvl3pPr>
            <a:lvl4pPr>
              <a:defRPr sz="1875" b="0">
                <a:solidFill>
                  <a:srgbClr val="172342"/>
                </a:solidFill>
              </a:defRPr>
            </a:lvl4pPr>
            <a:lvl5pPr>
              <a:defRPr sz="1875" b="0">
                <a:solidFill>
                  <a:srgbClr val="172342"/>
                </a:solidFill>
              </a:defRPr>
            </a:lvl5pPr>
            <a:lvl6pPr>
              <a:defRPr sz="1875" b="0">
                <a:solidFill>
                  <a:srgbClr val="172342"/>
                </a:solidFill>
              </a:defRPr>
            </a:lvl6pPr>
            <a:lvl7pPr>
              <a:defRPr sz="1875" b="0">
                <a:solidFill>
                  <a:srgbClr val="172342"/>
                </a:solidFill>
              </a:defRPr>
            </a:lvl7pPr>
            <a:lvl8pPr>
              <a:defRPr sz="1875" b="0">
                <a:solidFill>
                  <a:srgbClr val="172342"/>
                </a:solidFill>
              </a:defRPr>
            </a:lvl8pPr>
            <a:lvl9pPr>
              <a:defRPr sz="1875" b="0">
                <a:solidFill>
                  <a:srgbClr val="172342"/>
                </a:solidFill>
              </a:defRPr>
            </a:lvl9pPr>
          </a:lstStyle>
          <a:p xmlns:a="http://schemas.openxmlformats.org/drawingml/2006/main">
            <a:pPr>
              <a:defRPr sz="1875" b="0">
                <a:solidFill>
                  <a:srgbClr val="172342"/>
                </a:solidFill>
              </a:defRPr>
            </a:pPr>
            <a:r>
              <a:rPr sz="1875" b="0">
                <a:solidFill>
                  <a:srgbClr val="172342"/>
                </a:solidFill>
              </a:rPr>
              <a:t>days</a:t>
            </a:r>
          </a:p>
        </p:txBody>
      </p:sp>
      <p:sp>
        <p:nvSpPr>
          <p:cNvPr id="11" name="Source and scope">
            <a:extLst xmlns:a="http://schemas.openxmlformats.org/drawingml/2006/main">
              <a:ext uri="{FF2B5EF4-FFF2-40B4-BE49-F238E27FC236}">
                <a16:creationId xmlns:a16="http://schemas.microsoft.com/office/drawing/2014/main" id="{815C9064-45D9-474D-9ABE-F1D73658DF32}"/>
              </a:ext>
            </a:extLst>
          </p:cNvPr>
          <p:cNvSpPr>
            <a:spLocks xmlns:a="http://schemas.openxmlformats.org/drawingml/2006/main" noGrp="1"/>
          </p:cNvSpPr>
          <p:nvPr/>
        </p:nvSpPr>
        <p:spPr>
          <a:xfrm xmlns:a="http://schemas.openxmlformats.org/drawingml/2006/main">
            <a:off x="666750" y="61912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defRPr>
            </a:defPPr>
            <a:lvl1pPr>
              <a:defRPr sz="1350" b="0">
                <a:solidFill>
                  <a:srgbClr val="526078"/>
                </a:solidFill>
              </a:defRPr>
            </a:lvl1pPr>
            <a:lvl2pPr>
              <a:defRPr sz="1350" b="0">
                <a:solidFill>
                  <a:srgbClr val="526078"/>
                </a:solidFill>
              </a:defRPr>
            </a:lvl2pPr>
            <a:lvl3pPr>
              <a:defRPr sz="1350" b="0">
                <a:solidFill>
                  <a:srgbClr val="526078"/>
                </a:solidFill>
              </a:defRPr>
            </a:lvl3pPr>
            <a:lvl4pPr>
              <a:defRPr sz="1350" b="0">
                <a:solidFill>
                  <a:srgbClr val="526078"/>
                </a:solidFill>
              </a:defRPr>
            </a:lvl4pPr>
            <a:lvl5pPr>
              <a:defRPr sz="1350" b="0">
                <a:solidFill>
                  <a:srgbClr val="526078"/>
                </a:solidFill>
              </a:defRPr>
            </a:lvl5pPr>
            <a:lvl6pPr>
              <a:defRPr sz="1350" b="0">
                <a:solidFill>
                  <a:srgbClr val="526078"/>
                </a:solidFill>
              </a:defRPr>
            </a:lvl6pPr>
            <a:lvl7pPr>
              <a:defRPr sz="1350" b="0">
                <a:solidFill>
                  <a:srgbClr val="526078"/>
                </a:solidFill>
              </a:defRPr>
            </a:lvl7pPr>
            <a:lvl8pPr>
              <a:defRPr sz="1350" b="0">
                <a:solidFill>
                  <a:srgbClr val="526078"/>
                </a:solidFill>
              </a:defRPr>
            </a:lvl8pPr>
            <a:lvl9pPr>
              <a:defRPr sz="1350" b="0">
                <a:solidFill>
                  <a:srgbClr val="526078"/>
                </a:solidFill>
              </a:defRPr>
            </a:lvl9pPr>
          </a:lstStyle>
          <a:p xmlns:a="http://schemas.openxmlformats.org/drawingml/2006/main">
            <a:pPr>
              <a:defRPr sz="1350" b="0">
                <a:solidFill>
                  <a:srgbClr val="526078"/>
                </a:solidFill>
              </a:defRPr>
            </a:pPr>
            <a:r>
              <a:rPr sz="1350" b="0">
                <a:solidFill>
                  <a:srgbClr val="526078"/>
                </a:solidFill>
              </a:rPr>
              <a:t>April 28–August 20, 2026. Pipeline refreshed and validated in Databricks on October 29, 2026.</a:t>
            </a:r>
          </a:p>
        </p:txBody>
      </p:sp>
    </p:spTree>
    <p:extLst>
      <p:ext uri="{BB962C8B-B14F-4D97-AF65-F5344CB8AC3E}">
        <p14:creationId xmlns:p14="http://schemas.microsoft.com/office/powerpoint/2010/main" val="55496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13EED54-79C2-41FF-B8FF-59F63C8479B5}"/>
              </a:ext>
            </a:extLst>
          </p:cNvPr>
          <p:cNvSpPr>
            <a:spLocks xmlns:a="http://schemas.openxmlformats.org/drawingml/2006/main" noGrp="1"/>
          </p:cNvSpPr>
          <p:nvPr/>
        </p:nvSpPr>
        <p:spPr>
          <a:xfrm xmlns:a="http://schemas.openxmlformats.org/drawingml/2006/main">
            <a:off x="647700" y="438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34FE4"/>
                </a:solidFill>
              </a:defRPr>
            </a:defPPr>
            <a:lvl1pPr>
              <a:defRPr sz="3300" b="1">
                <a:solidFill>
                  <a:srgbClr val="334FE4"/>
                </a:solidFill>
              </a:defRPr>
            </a:lvl1pPr>
            <a:lvl2pPr>
              <a:defRPr sz="3300" b="1">
                <a:solidFill>
                  <a:srgbClr val="334FE4"/>
                </a:solidFill>
              </a:defRPr>
            </a:lvl2pPr>
            <a:lvl3pPr>
              <a:defRPr sz="3300" b="1">
                <a:solidFill>
                  <a:srgbClr val="334FE4"/>
                </a:solidFill>
              </a:defRPr>
            </a:lvl3pPr>
            <a:lvl4pPr>
              <a:defRPr sz="3300" b="1">
                <a:solidFill>
                  <a:srgbClr val="334FE4"/>
                </a:solidFill>
              </a:defRPr>
            </a:lvl4pPr>
            <a:lvl5pPr>
              <a:defRPr sz="3300" b="1">
                <a:solidFill>
                  <a:srgbClr val="334FE4"/>
                </a:solidFill>
              </a:defRPr>
            </a:lvl5pPr>
            <a:lvl6pPr>
              <a:defRPr sz="3300" b="1">
                <a:solidFill>
                  <a:srgbClr val="334FE4"/>
                </a:solidFill>
              </a:defRPr>
            </a:lvl6pPr>
            <a:lvl7pPr>
              <a:defRPr sz="3300" b="1">
                <a:solidFill>
                  <a:srgbClr val="334FE4"/>
                </a:solidFill>
              </a:defRPr>
            </a:lvl7pPr>
            <a:lvl8pPr>
              <a:defRPr sz="3300" b="1">
                <a:solidFill>
                  <a:srgbClr val="334FE4"/>
                </a:solidFill>
              </a:defRPr>
            </a:lvl8pPr>
            <a:lvl9pPr>
              <a:defRPr sz="3300" b="1">
                <a:solidFill>
                  <a:srgbClr val="334FE4"/>
                </a:solidFill>
              </a:defRPr>
            </a:lvl9pPr>
          </a:lstStyle>
          <a:p xmlns:a="http://schemas.openxmlformats.org/drawingml/2006/main">
            <a:pPr>
              <a:defRPr sz="3300" b="1">
                <a:solidFill>
                  <a:srgbClr val="334FE4"/>
                </a:solidFill>
              </a:defRPr>
            </a:pPr>
            <a:r>
              <a:rPr sz="3300" b="1">
                <a:solidFill>
                  <a:srgbClr val="334FE4"/>
                </a:solidFill>
              </a:rPr>
              <a:t>Pipeline architecture</a:t>
            </a:r>
          </a:p>
        </p:txBody>
      </p:sp>
      <p:sp>
        <p:nvSpPr>
          <p:cNvPr id="3" name="01 SOURCE">
            <a:extLst xmlns:a="http://schemas.openxmlformats.org/drawingml/2006/main">
              <a:ext uri="{FF2B5EF4-FFF2-40B4-BE49-F238E27FC236}">
                <a16:creationId xmlns:a16="http://schemas.microsoft.com/office/drawing/2014/main" id="{591DDF24-4425-47C2-A21D-D8ABC95E5E3B}"/>
              </a:ext>
            </a:extLst>
          </p:cNvPr>
          <p:cNvSpPr>
            <a:spLocks xmlns:a="http://schemas.openxmlformats.org/drawingml/2006/main" noGrp="1"/>
          </p:cNvSpPr>
          <p:nvPr/>
        </p:nvSpPr>
        <p:spPr>
          <a:xfrm xmlns:a="http://schemas.openxmlformats.org/drawingml/2006/main">
            <a:off x="666750" y="1905000"/>
            <a:ext cx="2514600" cy="1905000"/>
          </a:xfrm>
          <a:prstGeom xmlns:a="http://schemas.openxmlformats.org/drawingml/2006/main" prst="rect">
            <a:avLst/>
          </a:prstGeom>
          <a:solidFill xmlns:a="http://schemas.openxmlformats.org/drawingml/2006/main">
            <a:srgbClr val="F1F4FF"/>
          </a:solidFill>
          <a:ln xmlns:a="http://schemas.openxmlformats.org/drawingml/2006/main" w="9525">
            <a:solidFill>
              <a:srgbClr val="334FE4"/>
            </a:solidFill>
          </a:ln>
        </p:spPr>
        <p:txBody>
          <a:bodyPr xmlns:a="http://schemas.openxmlformats.org/drawingml/2006/main"/>
          <a:lstStyle xmlns:a="http://schemas.openxmlformats.org/drawingml/2006/main">
            <a:defPPr>
              <a:defRPr sz="1875">
                <a:solidFill>
                  <a:srgbClr val="172342"/>
                </a:solidFill>
              </a:defRPr>
            </a:defPPr>
            <a:lvl1pPr>
              <a:defRPr sz="1875">
                <a:solidFill>
                  <a:srgbClr val="172342"/>
                </a:solidFill>
              </a:defRPr>
            </a:lvl1pPr>
            <a:lvl2pPr>
              <a:defRPr sz="1875">
                <a:solidFill>
                  <a:srgbClr val="172342"/>
                </a:solidFill>
              </a:defRPr>
            </a:lvl2pPr>
            <a:lvl3pPr>
              <a:defRPr sz="1875">
                <a:solidFill>
                  <a:srgbClr val="172342"/>
                </a:solidFill>
              </a:defRPr>
            </a:lvl3pPr>
            <a:lvl4pPr>
              <a:defRPr sz="1875">
                <a:solidFill>
                  <a:srgbClr val="172342"/>
                </a:solidFill>
              </a:defRPr>
            </a:lvl4pPr>
            <a:lvl5pPr>
              <a:defRPr sz="1875">
                <a:solidFill>
                  <a:srgbClr val="172342"/>
                </a:solidFill>
              </a:defRPr>
            </a:lvl5pPr>
            <a:lvl6pPr>
              <a:defRPr sz="1875">
                <a:solidFill>
                  <a:srgbClr val="172342"/>
                </a:solidFill>
              </a:defRPr>
            </a:lvl6pPr>
            <a:lvl7pPr>
              <a:defRPr sz="1875">
                <a:solidFill>
                  <a:srgbClr val="172342"/>
                </a:solidFill>
              </a:defRPr>
            </a:lvl7pPr>
            <a:lvl8pPr>
              <a:defRPr sz="1875">
                <a:solidFill>
                  <a:srgbClr val="172342"/>
                </a:solidFill>
              </a:defRPr>
            </a:lvl8pPr>
            <a:lvl9pPr>
              <a:defRPr sz="1875">
                <a:solidFill>
                  <a:srgbClr val="172342"/>
                </a:solidFill>
              </a:defRPr>
            </a:lvl9pPr>
          </a:lstStyle>
          <a:p xmlns:a="http://schemas.openxmlformats.org/drawingml/2006/main">
            <a:pPr>
              <a:defRPr sz="1875">
                <a:solidFill>
                  <a:srgbClr val="172342"/>
                </a:solidFill>
              </a:defRPr>
            </a:pPr>
            <a:r>
              <a:rPr sz="1875">
                <a:solidFill>
                  <a:srgbClr val="172342"/>
                </a:solidFill>
              </a:rPr>
              <a:t>01 PREPARATION</a:t>
            </a:r>
          </a:p>
          <a:p xmlns:a="http://schemas.openxmlformats.org/drawingml/2006/main">
            <a:pPr>
              <a:defRPr sz="1875">
                <a:solidFill>
                  <a:srgbClr val="172342"/>
                </a:solidFill>
              </a:defRPr>
            </a:pPr>
            <a:r>
              <a:t/>
            </a:r>
          </a:p>
          <a:p xmlns:a="http://schemas.openxmlformats.org/drawingml/2006/main">
            <a:pPr>
              <a:defRPr sz="1875">
                <a:solidFill>
                  <a:srgbClr val="172342"/>
                </a:solidFill>
              </a:defRPr>
            </a:pPr>
            <a:r>
              <a:rPr sz="1875">
                <a:solidFill>
                  <a:srgbClr val="172342"/>
                </a:solidFill>
              </a:rPr>
              <a:t>One check per JSON line</a:t>
            </a:r>
          </a:p>
          <a:p xmlns:a="http://schemas.openxmlformats.org/drawingml/2006/main">
            <a:pPr>
              <a:defRPr sz="1875">
                <a:solidFill>
                  <a:srgbClr val="172342"/>
                </a:solidFill>
              </a:defRPr>
            </a:pPr>
            <a:r>
              <a:rPr sz="1875">
                <a:solidFill>
                  <a:srgbClr val="172342"/>
                </a:solidFill>
              </a:rPr>
              <a:t>Files target 16 MiB</a:t>
            </a:r>
          </a:p>
        </p:txBody>
      </p:sp>
      <p:sp>
        <p:nvSpPr>
          <p:cNvPr id="4" name="">
            <a:extLst xmlns:a="http://schemas.openxmlformats.org/drawingml/2006/main">
              <a:ext uri="{FF2B5EF4-FFF2-40B4-BE49-F238E27FC236}">
                <a16:creationId xmlns:a16="http://schemas.microsoft.com/office/drawing/2014/main" id="{67EA5D89-65F0-4D81-AD83-6C81A123A2B1}"/>
              </a:ext>
            </a:extLst>
          </p:cNvPr>
          <p:cNvSpPr>
            <a:spLocks xmlns:a="http://schemas.openxmlformats.org/drawingml/2006/main" noGrp="1"/>
          </p:cNvSpPr>
          <p:nvPr/>
        </p:nvSpPr>
        <p:spPr>
          <a:xfrm xmlns:a="http://schemas.openxmlformats.org/drawingml/2006/main">
            <a:off x="3238500" y="2647950"/>
            <a:ext cx="238125" cy="285750"/>
          </a:xfrm>
          <a:prstGeom xmlns:a="http://schemas.openxmlformats.org/drawingml/2006/main" prst="rightArrow">
            <a:avLst/>
          </a:prstGeom>
          <a:solidFill xmlns:a="http://schemas.openxmlformats.org/drawingml/2006/main">
            <a:srgbClr val="334FE4"/>
          </a:solidFill>
          <a:ln xmlns:a="http://schemas.openxmlformats.org/drawingml/2006/main" w="0">
            <a:noFill/>
          </a:ln>
        </p:spPr>
      </p:sp>
      <p:sp>
        <p:nvSpPr>
          <p:cNvPr id="5" name="02 SILVER">
            <a:extLst xmlns:a="http://schemas.openxmlformats.org/drawingml/2006/main">
              <a:ext uri="{FF2B5EF4-FFF2-40B4-BE49-F238E27FC236}">
                <a16:creationId xmlns:a16="http://schemas.microsoft.com/office/drawing/2014/main" id="{6E702020-401E-44F0-9C47-2503FE0A586D}"/>
              </a:ext>
            </a:extLst>
          </p:cNvPr>
          <p:cNvSpPr>
            <a:spLocks xmlns:a="http://schemas.openxmlformats.org/drawingml/2006/main" noGrp="1"/>
          </p:cNvSpPr>
          <p:nvPr/>
        </p:nvSpPr>
        <p:spPr>
          <a:xfrm xmlns:a="http://schemas.openxmlformats.org/drawingml/2006/main">
            <a:off x="3524250" y="1905000"/>
            <a:ext cx="2514600" cy="1905000"/>
          </a:xfrm>
          <a:prstGeom xmlns:a="http://schemas.openxmlformats.org/drawingml/2006/main" prst="rect">
            <a:avLst/>
          </a:prstGeom>
          <a:solidFill xmlns:a="http://schemas.openxmlformats.org/drawingml/2006/main">
            <a:srgbClr val="F1F4FF"/>
          </a:solidFill>
          <a:ln xmlns:a="http://schemas.openxmlformats.org/drawingml/2006/main" w="9525">
            <a:solidFill>
              <a:srgbClr val="334FE4"/>
            </a:solidFill>
          </a:ln>
        </p:spPr>
        <p:txBody>
          <a:bodyPr xmlns:a="http://schemas.openxmlformats.org/drawingml/2006/main"/>
          <a:lstStyle xmlns:a="http://schemas.openxmlformats.org/drawingml/2006/main">
            <a:defPPr>
              <a:defRPr sz="1875">
                <a:solidFill>
                  <a:srgbClr val="172342"/>
                </a:solidFill>
              </a:defRPr>
            </a:defPPr>
            <a:lvl1pPr>
              <a:defRPr sz="1875">
                <a:solidFill>
                  <a:srgbClr val="172342"/>
                </a:solidFill>
              </a:defRPr>
            </a:lvl1pPr>
            <a:lvl2pPr>
              <a:defRPr sz="1875">
                <a:solidFill>
                  <a:srgbClr val="172342"/>
                </a:solidFill>
              </a:defRPr>
            </a:lvl2pPr>
            <a:lvl3pPr>
              <a:defRPr sz="1875">
                <a:solidFill>
                  <a:srgbClr val="172342"/>
                </a:solidFill>
              </a:defRPr>
            </a:lvl3pPr>
            <a:lvl4pPr>
              <a:defRPr sz="1875">
                <a:solidFill>
                  <a:srgbClr val="172342"/>
                </a:solidFill>
              </a:defRPr>
            </a:lvl4pPr>
            <a:lvl5pPr>
              <a:defRPr sz="1875">
                <a:solidFill>
                  <a:srgbClr val="172342"/>
                </a:solidFill>
              </a:defRPr>
            </a:lvl5pPr>
            <a:lvl6pPr>
              <a:defRPr sz="1875">
                <a:solidFill>
                  <a:srgbClr val="172342"/>
                </a:solidFill>
              </a:defRPr>
            </a:lvl6pPr>
            <a:lvl7pPr>
              <a:defRPr sz="1875">
                <a:solidFill>
                  <a:srgbClr val="172342"/>
                </a:solidFill>
              </a:defRPr>
            </a:lvl7pPr>
            <a:lvl8pPr>
              <a:defRPr sz="1875">
                <a:solidFill>
                  <a:srgbClr val="172342"/>
                </a:solidFill>
              </a:defRPr>
            </a:lvl8pPr>
            <a:lvl9pPr>
              <a:defRPr sz="1875">
                <a:solidFill>
                  <a:srgbClr val="172342"/>
                </a:solidFill>
              </a:defRPr>
            </a:lvl9pPr>
          </a:lstStyle>
          <a:p xmlns:a="http://schemas.openxmlformats.org/drawingml/2006/main">
            <a:pPr>
              <a:defRPr sz="1875">
                <a:solidFill>
                  <a:srgbClr val="172342"/>
                </a:solidFill>
              </a:defRPr>
            </a:pPr>
            <a:r>
              <a:rPr sz="1875">
                <a:solidFill>
                  <a:srgbClr val="172342"/>
                </a:solidFill>
              </a:rPr>
              <a:t>02 SILVER</a:t>
            </a:r>
          </a:p>
          <a:p xmlns:a="http://schemas.openxmlformats.org/drawingml/2006/main">
            <a:r>
              <a:t/>
            </a:r>
          </a:p>
          <a:p xmlns:a="http://schemas.openxmlformats.org/drawingml/2006/main">
            <a:pPr>
              <a:defRPr sz="1875">
                <a:solidFill>
                  <a:srgbClr val="172342"/>
                </a:solidFill>
              </a:defRPr>
            </a:pPr>
            <a:r>
              <a:rPr sz="1875">
                <a:solidFill>
                  <a:srgbClr val="172342"/>
                </a:solidFill>
              </a:rPr>
              <a:t>Typed checks and quality flags</a:t>
            </a:r>
          </a:p>
          <a:p xmlns:a="http://schemas.openxmlformats.org/drawingml/2006/main">
            <a:pPr>
              <a:defRPr sz="1875">
                <a:solidFill>
                  <a:srgbClr val="172342"/>
                </a:solidFill>
              </a:defRPr>
            </a:pPr>
            <a:r>
              <a:rPr sz="1875">
                <a:solidFill>
                  <a:srgbClr val="172342"/>
                </a:solidFill>
              </a:rPr>
              <a:t>Payments and discount events</a:t>
            </a:r>
          </a:p>
        </p:txBody>
      </p:sp>
      <p:sp>
        <p:nvSpPr>
          <p:cNvPr id="6" name="">
            <a:extLst xmlns:a="http://schemas.openxmlformats.org/drawingml/2006/main">
              <a:ext uri="{FF2B5EF4-FFF2-40B4-BE49-F238E27FC236}">
                <a16:creationId xmlns:a16="http://schemas.microsoft.com/office/drawing/2014/main" id="{0A51F837-C7E4-466D-981A-D47B68F84A7F}"/>
              </a:ext>
            </a:extLst>
          </p:cNvPr>
          <p:cNvSpPr>
            <a:spLocks xmlns:a="http://schemas.openxmlformats.org/drawingml/2006/main" noGrp="1"/>
          </p:cNvSpPr>
          <p:nvPr/>
        </p:nvSpPr>
        <p:spPr>
          <a:xfrm xmlns:a="http://schemas.openxmlformats.org/drawingml/2006/main">
            <a:off x="6096000" y="2647950"/>
            <a:ext cx="238125" cy="285750"/>
          </a:xfrm>
          <a:prstGeom xmlns:a="http://schemas.openxmlformats.org/drawingml/2006/main" prst="rightArrow">
            <a:avLst/>
          </a:prstGeom>
          <a:solidFill xmlns:a="http://schemas.openxmlformats.org/drawingml/2006/main">
            <a:srgbClr val="334FE4"/>
          </a:solidFill>
          <a:ln xmlns:a="http://schemas.openxmlformats.org/drawingml/2006/main" w="0">
            <a:noFill/>
          </a:ln>
        </p:spPr>
      </p:sp>
      <p:sp>
        <p:nvSpPr>
          <p:cNvPr id="7" name="03 GOLD">
            <a:extLst xmlns:a="http://schemas.openxmlformats.org/drawingml/2006/main">
              <a:ext uri="{FF2B5EF4-FFF2-40B4-BE49-F238E27FC236}">
                <a16:creationId xmlns:a16="http://schemas.microsoft.com/office/drawing/2014/main" id="{69AEAD87-BCFA-4BB6-AF30-766FC98AF66E}"/>
              </a:ext>
            </a:extLst>
          </p:cNvPr>
          <p:cNvSpPr>
            <a:spLocks xmlns:a="http://schemas.openxmlformats.org/drawingml/2006/main" noGrp="1"/>
          </p:cNvSpPr>
          <p:nvPr/>
        </p:nvSpPr>
        <p:spPr>
          <a:xfrm xmlns:a="http://schemas.openxmlformats.org/drawingml/2006/main">
            <a:off x="6381750" y="1905000"/>
            <a:ext cx="2514600" cy="1905000"/>
          </a:xfrm>
          <a:prstGeom xmlns:a="http://schemas.openxmlformats.org/drawingml/2006/main" prst="rect">
            <a:avLst/>
          </a:prstGeom>
          <a:solidFill xmlns:a="http://schemas.openxmlformats.org/drawingml/2006/main">
            <a:srgbClr val="F1F4FF"/>
          </a:solidFill>
          <a:ln xmlns:a="http://schemas.openxmlformats.org/drawingml/2006/main" w="9525">
            <a:solidFill>
              <a:srgbClr val="334FE4"/>
            </a:solidFill>
          </a:ln>
        </p:spPr>
        <p:txBody>
          <a:bodyPr xmlns:a="http://schemas.openxmlformats.org/drawingml/2006/main"/>
          <a:lstStyle xmlns:a="http://schemas.openxmlformats.org/drawingml/2006/main">
            <a:defPPr>
              <a:defRPr sz="1875">
                <a:solidFill>
                  <a:srgbClr val="172342"/>
                </a:solidFill>
              </a:defRPr>
            </a:defPPr>
            <a:lvl1pPr>
              <a:defRPr sz="1875">
                <a:solidFill>
                  <a:srgbClr val="172342"/>
                </a:solidFill>
              </a:defRPr>
            </a:lvl1pPr>
            <a:lvl2pPr>
              <a:defRPr sz="1875">
                <a:solidFill>
                  <a:srgbClr val="172342"/>
                </a:solidFill>
              </a:defRPr>
            </a:lvl2pPr>
            <a:lvl3pPr>
              <a:defRPr sz="1875">
                <a:solidFill>
                  <a:srgbClr val="172342"/>
                </a:solidFill>
              </a:defRPr>
            </a:lvl3pPr>
            <a:lvl4pPr>
              <a:defRPr sz="1875">
                <a:solidFill>
                  <a:srgbClr val="172342"/>
                </a:solidFill>
              </a:defRPr>
            </a:lvl4pPr>
            <a:lvl5pPr>
              <a:defRPr sz="1875">
                <a:solidFill>
                  <a:srgbClr val="172342"/>
                </a:solidFill>
              </a:defRPr>
            </a:lvl5pPr>
            <a:lvl6pPr>
              <a:defRPr sz="1875">
                <a:solidFill>
                  <a:srgbClr val="172342"/>
                </a:solidFill>
              </a:defRPr>
            </a:lvl6pPr>
            <a:lvl7pPr>
              <a:defRPr sz="1875">
                <a:solidFill>
                  <a:srgbClr val="172342"/>
                </a:solidFill>
              </a:defRPr>
            </a:lvl7pPr>
            <a:lvl8pPr>
              <a:defRPr sz="1875">
                <a:solidFill>
                  <a:srgbClr val="172342"/>
                </a:solidFill>
              </a:defRPr>
            </a:lvl8pPr>
            <a:lvl9pPr>
              <a:defRPr sz="1875">
                <a:solidFill>
                  <a:srgbClr val="172342"/>
                </a:solidFill>
              </a:defRPr>
            </a:lvl9pPr>
          </a:lstStyle>
          <a:p xmlns:a="http://schemas.openxmlformats.org/drawingml/2006/main">
            <a:pPr>
              <a:defRPr sz="1875">
                <a:solidFill>
                  <a:srgbClr val="172342"/>
                </a:solidFill>
              </a:defRPr>
            </a:pPr>
            <a:r>
              <a:rPr sz="1875">
                <a:solidFill>
                  <a:srgbClr val="172342"/>
                </a:solidFill>
              </a:rPr>
              <a:t>03 GOLD</a:t>
            </a:r>
          </a:p>
          <a:p xmlns:a="http://schemas.openxmlformats.org/drawingml/2006/main">
            <a:r>
              <a:t/>
            </a:r>
          </a:p>
          <a:p xmlns:a="http://schemas.openxmlformats.org/drawingml/2006/main">
            <a:pPr>
              <a:defRPr sz="1875">
                <a:solidFill>
                  <a:srgbClr val="172342"/>
                </a:solidFill>
              </a:defRPr>
            </a:pPr>
            <a:r>
              <a:rPr sz="1875">
                <a:solidFill>
                  <a:srgbClr val="172342"/>
                </a:solidFill>
              </a:rPr>
              <a:t>Daily and location metrics</a:t>
            </a:r>
          </a:p>
          <a:p xmlns:a="http://schemas.openxmlformats.org/drawingml/2006/main">
            <a:pPr>
              <a:defRPr sz="1875">
                <a:solidFill>
                  <a:srgbClr val="172342"/>
                </a:solidFill>
              </a:defRPr>
            </a:pPr>
            <a:r>
              <a:rPr sz="1875">
                <a:solidFill>
                  <a:srgbClr val="172342"/>
                </a:solidFill>
              </a:rPr>
              <a:t>Exceptions and comparisons</a:t>
            </a:r>
          </a:p>
        </p:txBody>
      </p:sp>
      <p:sp>
        <p:nvSpPr>
          <p:cNvPr id="8" name="">
            <a:extLst xmlns:a="http://schemas.openxmlformats.org/drawingml/2006/main">
              <a:ext uri="{FF2B5EF4-FFF2-40B4-BE49-F238E27FC236}">
                <a16:creationId xmlns:a16="http://schemas.microsoft.com/office/drawing/2014/main" id="{F8EFC1E8-69A5-4804-B4BD-7CA30154FC20}"/>
              </a:ext>
            </a:extLst>
          </p:cNvPr>
          <p:cNvSpPr>
            <a:spLocks xmlns:a="http://schemas.openxmlformats.org/drawingml/2006/main" noGrp="1"/>
          </p:cNvSpPr>
          <p:nvPr/>
        </p:nvSpPr>
        <p:spPr>
          <a:xfrm xmlns:a="http://schemas.openxmlformats.org/drawingml/2006/main">
            <a:off x="8953500" y="2647950"/>
            <a:ext cx="238125" cy="285750"/>
          </a:xfrm>
          <a:prstGeom xmlns:a="http://schemas.openxmlformats.org/drawingml/2006/main" prst="rightArrow">
            <a:avLst/>
          </a:prstGeom>
          <a:solidFill xmlns:a="http://schemas.openxmlformats.org/drawingml/2006/main">
            <a:srgbClr val="334FE4"/>
          </a:solidFill>
          <a:ln xmlns:a="http://schemas.openxmlformats.org/drawingml/2006/main" w="0">
            <a:noFill/>
          </a:ln>
        </p:spPr>
      </p:sp>
      <p:sp>
        <p:nvSpPr>
          <p:cNvPr id="9" name="04 VALIDATION">
            <a:extLst xmlns:a="http://schemas.openxmlformats.org/drawingml/2006/main">
              <a:ext uri="{FF2B5EF4-FFF2-40B4-BE49-F238E27FC236}">
                <a16:creationId xmlns:a16="http://schemas.microsoft.com/office/drawing/2014/main" id="{6E4FE302-CF7C-404B-8C45-7FA146A0E7A4}"/>
              </a:ext>
            </a:extLst>
          </p:cNvPr>
          <p:cNvSpPr>
            <a:spLocks xmlns:a="http://schemas.openxmlformats.org/drawingml/2006/main" noGrp="1"/>
          </p:cNvSpPr>
          <p:nvPr/>
        </p:nvSpPr>
        <p:spPr>
          <a:xfrm xmlns:a="http://schemas.openxmlformats.org/drawingml/2006/main">
            <a:off x="9239250" y="1905000"/>
            <a:ext cx="2514600" cy="1905000"/>
          </a:xfrm>
          <a:prstGeom xmlns:a="http://schemas.openxmlformats.org/drawingml/2006/main" prst="rect">
            <a:avLst/>
          </a:prstGeom>
          <a:solidFill xmlns:a="http://schemas.openxmlformats.org/drawingml/2006/main">
            <a:srgbClr val="F1F4FF"/>
          </a:solidFill>
          <a:ln xmlns:a="http://schemas.openxmlformats.org/drawingml/2006/main" w="9525">
            <a:solidFill>
              <a:srgbClr val="334FE4"/>
            </a:solidFill>
          </a:ln>
        </p:spPr>
        <p:txBody>
          <a:bodyPr xmlns:a="http://schemas.openxmlformats.org/drawingml/2006/main"/>
          <a:lstStyle xmlns:a="http://schemas.openxmlformats.org/drawingml/2006/main">
            <a:defPPr>
              <a:defRPr sz="1875">
                <a:solidFill>
                  <a:srgbClr val="172342"/>
                </a:solidFill>
              </a:defRPr>
            </a:defPPr>
            <a:lvl1pPr>
              <a:defRPr sz="1875">
                <a:solidFill>
                  <a:srgbClr val="172342"/>
                </a:solidFill>
              </a:defRPr>
            </a:lvl1pPr>
            <a:lvl2pPr>
              <a:defRPr sz="1875">
                <a:solidFill>
                  <a:srgbClr val="172342"/>
                </a:solidFill>
              </a:defRPr>
            </a:lvl2pPr>
            <a:lvl3pPr>
              <a:defRPr sz="1875">
                <a:solidFill>
                  <a:srgbClr val="172342"/>
                </a:solidFill>
              </a:defRPr>
            </a:lvl3pPr>
            <a:lvl4pPr>
              <a:defRPr sz="1875">
                <a:solidFill>
                  <a:srgbClr val="172342"/>
                </a:solidFill>
              </a:defRPr>
            </a:lvl4pPr>
            <a:lvl5pPr>
              <a:defRPr sz="1875">
                <a:solidFill>
                  <a:srgbClr val="172342"/>
                </a:solidFill>
              </a:defRPr>
            </a:lvl5pPr>
            <a:lvl6pPr>
              <a:defRPr sz="1875">
                <a:solidFill>
                  <a:srgbClr val="172342"/>
                </a:solidFill>
              </a:defRPr>
            </a:lvl6pPr>
            <a:lvl7pPr>
              <a:defRPr sz="1875">
                <a:solidFill>
                  <a:srgbClr val="172342"/>
                </a:solidFill>
              </a:defRPr>
            </a:lvl7pPr>
            <a:lvl8pPr>
              <a:defRPr sz="1875">
                <a:solidFill>
                  <a:srgbClr val="172342"/>
                </a:solidFill>
              </a:defRPr>
            </a:lvl8pPr>
            <a:lvl9pPr>
              <a:defRPr sz="1875">
                <a:solidFill>
                  <a:srgbClr val="172342"/>
                </a:solidFill>
              </a:defRPr>
            </a:lvl9pPr>
          </a:lstStyle>
          <a:p xmlns:a="http://schemas.openxmlformats.org/drawingml/2006/main">
            <a:pPr>
              <a:defRPr sz="1875">
                <a:solidFill>
                  <a:srgbClr val="172342"/>
                </a:solidFill>
              </a:defRPr>
            </a:pPr>
            <a:r>
              <a:rPr sz="1875">
                <a:solidFill>
                  <a:srgbClr val="172342"/>
                </a:solidFill>
              </a:rPr>
              <a:t>04 VALIDATION</a:t>
            </a:r>
          </a:p>
          <a:p xmlns:a="http://schemas.openxmlformats.org/drawingml/2006/main">
            <a:r>
              <a:t/>
            </a:r>
          </a:p>
          <a:p xmlns:a="http://schemas.openxmlformats.org/drawingml/2006/main">
            <a:pPr>
              <a:defRPr sz="1875">
                <a:solidFill>
                  <a:srgbClr val="172342"/>
                </a:solidFill>
              </a:defRPr>
            </a:pPr>
            <a:r>
              <a:rPr sz="1875">
                <a:solidFill>
                  <a:srgbClr val="172342"/>
                </a:solidFill>
              </a:rPr>
              <a:t>Population reconciliation</a:t>
            </a:r>
          </a:p>
          <a:p xmlns:a="http://schemas.openxmlformats.org/drawingml/2006/main">
            <a:pPr>
              <a:defRPr sz="1875">
                <a:solidFill>
                  <a:srgbClr val="172342"/>
                </a:solidFill>
              </a:defRPr>
            </a:pPr>
            <a:r>
              <a:rPr sz="1875">
                <a:solidFill>
                  <a:srgbClr val="172342"/>
                </a:solidFill>
              </a:rPr>
              <a:t>Accepted-run audit</a:t>
            </a:r>
          </a:p>
        </p:txBody>
      </p:sp>
      <p:sp>
        <p:nvSpPr>
          <p:cNvPr id="10" name="Exceptions">
            <a:extLst xmlns:a="http://schemas.openxmlformats.org/drawingml/2006/main">
              <a:ext uri="{FF2B5EF4-FFF2-40B4-BE49-F238E27FC236}">
                <a16:creationId xmlns:a16="http://schemas.microsoft.com/office/drawing/2014/main" id="{BD053DE3-4635-4F5F-92CD-09D2615EA572}"/>
              </a:ext>
            </a:extLst>
          </p:cNvPr>
          <p:cNvSpPr>
            <a:spLocks xmlns:a="http://schemas.openxmlformats.org/drawingml/2006/main" noGrp="1"/>
          </p:cNvSpPr>
          <p:nvPr/>
        </p:nvSpPr>
        <p:spPr>
          <a:xfrm xmlns:a="http://schemas.openxmlformats.org/drawingml/2006/main">
            <a:off x="666750" y="43815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334FE4"/>
                </a:solidFill>
              </a:defRPr>
            </a:defPPr>
            <a:lvl1pPr>
              <a:defRPr sz="2175" b="1">
                <a:solidFill>
                  <a:srgbClr val="334FE4"/>
                </a:solidFill>
              </a:defRPr>
            </a:lvl1pPr>
            <a:lvl2pPr>
              <a:defRPr sz="2175" b="1">
                <a:solidFill>
                  <a:srgbClr val="334FE4"/>
                </a:solidFill>
              </a:defRPr>
            </a:lvl2pPr>
            <a:lvl3pPr>
              <a:defRPr sz="2175" b="1">
                <a:solidFill>
                  <a:srgbClr val="334FE4"/>
                </a:solidFill>
              </a:defRPr>
            </a:lvl3pPr>
            <a:lvl4pPr>
              <a:defRPr sz="2175" b="1">
                <a:solidFill>
                  <a:srgbClr val="334FE4"/>
                </a:solidFill>
              </a:defRPr>
            </a:lvl4pPr>
            <a:lvl5pPr>
              <a:defRPr sz="2175" b="1">
                <a:solidFill>
                  <a:srgbClr val="334FE4"/>
                </a:solidFill>
              </a:defRPr>
            </a:lvl5pPr>
            <a:lvl6pPr>
              <a:defRPr sz="2175" b="1">
                <a:solidFill>
                  <a:srgbClr val="334FE4"/>
                </a:solidFill>
              </a:defRPr>
            </a:lvl6pPr>
            <a:lvl7pPr>
              <a:defRPr sz="2175" b="1">
                <a:solidFill>
                  <a:srgbClr val="334FE4"/>
                </a:solidFill>
              </a:defRPr>
            </a:lvl7pPr>
            <a:lvl8pPr>
              <a:defRPr sz="2175" b="1">
                <a:solidFill>
                  <a:srgbClr val="334FE4"/>
                </a:solidFill>
              </a:defRPr>
            </a:lvl8pPr>
            <a:lvl9pPr>
              <a:defRPr sz="2175" b="1">
                <a:solidFill>
                  <a:srgbClr val="334FE4"/>
                </a:solidFill>
              </a:defRPr>
            </a:lvl9pPr>
          </a:lstStyle>
          <a:p xmlns:a="http://schemas.openxmlformats.org/drawingml/2006/main">
            <a:pPr>
              <a:defRPr sz="2175" b="1">
                <a:solidFill>
                  <a:srgbClr val="334FE4"/>
                </a:solidFill>
              </a:defRPr>
            </a:pPr>
            <a:r>
              <a:rPr sz="2175" b="1">
                <a:solidFill>
                  <a:srgbClr val="334FE4"/>
                </a:solidFill>
              </a:rPr>
              <a:t>Silver keeps quarantine and out-of-scope rows separately.</a:t>
            </a:r>
          </a:p>
        </p:txBody>
      </p:sp>
      <p:sp>
        <p:nvSpPr>
          <p:cNvPr id="11" name="Traceability">
            <a:extLst xmlns:a="http://schemas.openxmlformats.org/drawingml/2006/main">
              <a:ext uri="{FF2B5EF4-FFF2-40B4-BE49-F238E27FC236}">
                <a16:creationId xmlns:a16="http://schemas.microsoft.com/office/drawing/2014/main" id="{31DC14AE-1B37-42A3-BD09-72DD95FBB408}"/>
              </a:ext>
            </a:extLst>
          </p:cNvPr>
          <p:cNvSpPr>
            <a:spLocks xmlns:a="http://schemas.openxmlformats.org/drawingml/2006/main" noGrp="1"/>
          </p:cNvSpPr>
          <p:nvPr/>
        </p:nvSpPr>
        <p:spPr>
          <a:xfrm xmlns:a="http://schemas.openxmlformats.org/drawingml/2006/main">
            <a:off x="666750" y="51244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342"/>
                </a:solidFill>
              </a:defRPr>
            </a:defPPr>
            <a:lvl1pPr>
              <a:defRPr sz="2025" b="0">
                <a:solidFill>
                  <a:srgbClr val="172342"/>
                </a:solidFill>
              </a:defRPr>
            </a:lvl1pPr>
            <a:lvl2pPr>
              <a:defRPr sz="2025" b="0">
                <a:solidFill>
                  <a:srgbClr val="172342"/>
                </a:solidFill>
              </a:defRPr>
            </a:lvl2pPr>
            <a:lvl3pPr>
              <a:defRPr sz="2025" b="0">
                <a:solidFill>
                  <a:srgbClr val="172342"/>
                </a:solidFill>
              </a:defRPr>
            </a:lvl3pPr>
            <a:lvl4pPr>
              <a:defRPr sz="2025" b="0">
                <a:solidFill>
                  <a:srgbClr val="172342"/>
                </a:solidFill>
              </a:defRPr>
            </a:lvl4pPr>
            <a:lvl5pPr>
              <a:defRPr sz="2025" b="0">
                <a:solidFill>
                  <a:srgbClr val="172342"/>
                </a:solidFill>
              </a:defRPr>
            </a:lvl5pPr>
            <a:lvl6pPr>
              <a:defRPr sz="2025" b="0">
                <a:solidFill>
                  <a:srgbClr val="172342"/>
                </a:solidFill>
              </a:defRPr>
            </a:lvl6pPr>
            <a:lvl7pPr>
              <a:defRPr sz="2025" b="0">
                <a:solidFill>
                  <a:srgbClr val="172342"/>
                </a:solidFill>
              </a:defRPr>
            </a:lvl7pPr>
            <a:lvl8pPr>
              <a:defRPr sz="2025" b="0">
                <a:solidFill>
                  <a:srgbClr val="172342"/>
                </a:solidFill>
              </a:defRPr>
            </a:lvl8pPr>
            <a:lvl9pPr>
              <a:defRPr sz="2025" b="0">
                <a:solidFill>
                  <a:srgbClr val="172342"/>
                </a:solidFill>
              </a:defRPr>
            </a:lvl9pPr>
          </a:lstStyle>
          <a:p xmlns:a="http://schemas.openxmlformats.org/drawingml/2006/main">
            <a:pPr>
              <a:defRPr sz="2025" b="0">
                <a:solidFill>
                  <a:srgbClr val="172342"/>
                </a:solidFill>
              </a:defRPr>
            </a:pPr>
            <a:r>
              <a:rPr sz="2025" b="0">
                <a:solidFill>
                  <a:srgbClr val="172342"/>
                </a:solidFill>
              </a:rPr>
              <a:t>Reference files enrich Silver. Every check and child event retains its original source file.</a:t>
            </a:r>
          </a:p>
        </p:txBody>
      </p:sp>
      <p:sp>
        <p:nvSpPr>
          <p:cNvPr id="12" name="Source and scope">
            <a:extLst xmlns:a="http://schemas.openxmlformats.org/drawingml/2006/main">
              <a:ext uri="{FF2B5EF4-FFF2-40B4-BE49-F238E27FC236}">
                <a16:creationId xmlns:a16="http://schemas.microsoft.com/office/drawing/2014/main" id="{E8AD6CED-0D72-4066-8EAF-188EAAAFD5DA}"/>
              </a:ext>
            </a:extLst>
          </p:cNvPr>
          <p:cNvSpPr>
            <a:spLocks xmlns:a="http://schemas.openxmlformats.org/drawingml/2006/main" noGrp="1"/>
          </p:cNvSpPr>
          <p:nvPr/>
        </p:nvSpPr>
        <p:spPr>
          <a:xfrm xmlns:a="http://schemas.openxmlformats.org/drawingml/2006/main">
            <a:off x="666750" y="61912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defRPr>
            </a:defPPr>
            <a:lvl1pPr>
              <a:defRPr sz="1350" b="0">
                <a:solidFill>
                  <a:srgbClr val="526078"/>
                </a:solidFill>
              </a:defRPr>
            </a:lvl1pPr>
            <a:lvl2pPr>
              <a:defRPr sz="1350" b="0">
                <a:solidFill>
                  <a:srgbClr val="526078"/>
                </a:solidFill>
              </a:defRPr>
            </a:lvl2pPr>
            <a:lvl3pPr>
              <a:defRPr sz="1350" b="0">
                <a:solidFill>
                  <a:srgbClr val="526078"/>
                </a:solidFill>
              </a:defRPr>
            </a:lvl3pPr>
            <a:lvl4pPr>
              <a:defRPr sz="1350" b="0">
                <a:solidFill>
                  <a:srgbClr val="526078"/>
                </a:solidFill>
              </a:defRPr>
            </a:lvl4pPr>
            <a:lvl5pPr>
              <a:defRPr sz="1350" b="0">
                <a:solidFill>
                  <a:srgbClr val="526078"/>
                </a:solidFill>
              </a:defRPr>
            </a:lvl5pPr>
            <a:lvl6pPr>
              <a:defRPr sz="1350" b="0">
                <a:solidFill>
                  <a:srgbClr val="526078"/>
                </a:solidFill>
              </a:defRPr>
            </a:lvl6pPr>
            <a:lvl7pPr>
              <a:defRPr sz="1350" b="0">
                <a:solidFill>
                  <a:srgbClr val="526078"/>
                </a:solidFill>
              </a:defRPr>
            </a:lvl7pPr>
            <a:lvl8pPr>
              <a:defRPr sz="1350" b="0">
                <a:solidFill>
                  <a:srgbClr val="526078"/>
                </a:solidFill>
              </a:defRPr>
            </a:lvl8pPr>
            <a:lvl9pPr>
              <a:defRPr sz="1350" b="0">
                <a:solidFill>
                  <a:srgbClr val="526078"/>
                </a:solidFill>
              </a:defRPr>
            </a:lvl9pPr>
          </a:lstStyle>
          <a:p xmlns:a="http://schemas.openxmlformats.org/drawingml/2006/main">
            <a:pPr>
              <a:defRPr sz="1350" b="0">
                <a:solidFill>
                  <a:srgbClr val="526078"/>
                </a:solidFill>
              </a:defRPr>
            </a:pPr>
            <a:r>
              <a:rPr sz="1350" b="0">
                <a:solidFill>
                  <a:srgbClr val="526078"/>
                </a:solidFill>
              </a:rPr>
              <a:t>Nine Silver datasets and eighteen Gold datasets. A separate validation task controls acceptance.</a:t>
            </a:r>
          </a:p>
        </p:txBody>
      </p:sp>
    </p:spTree>
    <p:extLst>
      <p:ext uri="{BB962C8B-B14F-4D97-AF65-F5344CB8AC3E}">
        <p14:creationId xmlns:p14="http://schemas.microsoft.com/office/powerpoint/2010/main" val="6963019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155CE63-77D7-40A8-9C8A-FA94E9FBB573}"/>
              </a:ext>
            </a:extLst>
          </p:cNvPr>
          <p:cNvSpPr>
            <a:spLocks xmlns:a="http://schemas.openxmlformats.org/drawingml/2006/main" noGrp="1"/>
          </p:cNvSpPr>
          <p:nvPr/>
        </p:nvSpPr>
        <p:spPr>
          <a:xfrm xmlns:a="http://schemas.openxmlformats.org/drawingml/2006/main">
            <a:off x="647700" y="438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34FE4"/>
                </a:solidFill>
              </a:defRPr>
            </a:defPPr>
            <a:lvl1pPr>
              <a:defRPr sz="3300" b="1">
                <a:solidFill>
                  <a:srgbClr val="334FE4"/>
                </a:solidFill>
              </a:defRPr>
            </a:lvl1pPr>
            <a:lvl2pPr>
              <a:defRPr sz="3300" b="1">
                <a:solidFill>
                  <a:srgbClr val="334FE4"/>
                </a:solidFill>
              </a:defRPr>
            </a:lvl2pPr>
            <a:lvl3pPr>
              <a:defRPr sz="3300" b="1">
                <a:solidFill>
                  <a:srgbClr val="334FE4"/>
                </a:solidFill>
              </a:defRPr>
            </a:lvl3pPr>
            <a:lvl4pPr>
              <a:defRPr sz="3300" b="1">
                <a:solidFill>
                  <a:srgbClr val="334FE4"/>
                </a:solidFill>
              </a:defRPr>
            </a:lvl4pPr>
            <a:lvl5pPr>
              <a:defRPr sz="3300" b="1">
                <a:solidFill>
                  <a:srgbClr val="334FE4"/>
                </a:solidFill>
              </a:defRPr>
            </a:lvl5pPr>
            <a:lvl6pPr>
              <a:defRPr sz="3300" b="1">
                <a:solidFill>
                  <a:srgbClr val="334FE4"/>
                </a:solidFill>
              </a:defRPr>
            </a:lvl6pPr>
            <a:lvl7pPr>
              <a:defRPr sz="3300" b="1">
                <a:solidFill>
                  <a:srgbClr val="334FE4"/>
                </a:solidFill>
              </a:defRPr>
            </a:lvl7pPr>
            <a:lvl8pPr>
              <a:defRPr sz="3300" b="1">
                <a:solidFill>
                  <a:srgbClr val="334FE4"/>
                </a:solidFill>
              </a:defRPr>
            </a:lvl8pPr>
            <a:lvl9pPr>
              <a:defRPr sz="3300" b="1">
                <a:solidFill>
                  <a:srgbClr val="334FE4"/>
                </a:solidFill>
              </a:defRPr>
            </a:lvl9pPr>
          </a:lstStyle>
          <a:p xmlns:a="http://schemas.openxmlformats.org/drawingml/2006/main">
            <a:pPr>
              <a:defRPr sz="3300" b="1">
                <a:solidFill>
                  <a:srgbClr val="334FE4"/>
                </a:solidFill>
              </a:defRPr>
            </a:pPr>
            <a:r>
              <a:rPr sz="3300" b="1">
                <a:solidFill>
                  <a:srgbClr val="334FE4"/>
                </a:solidFill>
              </a:rPr>
              <a:t>Transformations that preserve meaning</a:t>
            </a:r>
          </a:p>
        </p:txBody>
      </p:sp>
      <p:sp>
        <p:nvSpPr>
          <p:cNvPr id="3" name="Concept">
            <a:extLst xmlns:a="http://schemas.openxmlformats.org/drawingml/2006/main">
              <a:ext uri="{FF2B5EF4-FFF2-40B4-BE49-F238E27FC236}">
                <a16:creationId xmlns:a16="http://schemas.microsoft.com/office/drawing/2014/main" id="{7594729D-74BE-4965-BE9F-9362782F8DB6}"/>
              </a:ext>
            </a:extLst>
          </p:cNvPr>
          <p:cNvSpPr>
            <a:spLocks xmlns:a="http://schemas.openxmlformats.org/drawingml/2006/main" noGrp="1"/>
          </p:cNvSpPr>
          <p:nvPr/>
        </p:nvSpPr>
        <p:spPr>
          <a:xfrm xmlns:a="http://schemas.openxmlformats.org/drawingml/2006/main">
            <a:off x="666750" y="1571625"/>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34FE4"/>
                </a:solidFill>
              </a:defRPr>
            </a:defPPr>
            <a:lvl1pPr>
              <a:defRPr sz="2100" b="1">
                <a:solidFill>
                  <a:srgbClr val="334FE4"/>
                </a:solidFill>
              </a:defRPr>
            </a:lvl1pPr>
            <a:lvl2pPr>
              <a:defRPr sz="2100" b="1">
                <a:solidFill>
                  <a:srgbClr val="334FE4"/>
                </a:solidFill>
              </a:defRPr>
            </a:lvl2pPr>
            <a:lvl3pPr>
              <a:defRPr sz="2100" b="1">
                <a:solidFill>
                  <a:srgbClr val="334FE4"/>
                </a:solidFill>
              </a:defRPr>
            </a:lvl3pPr>
            <a:lvl4pPr>
              <a:defRPr sz="2100" b="1">
                <a:solidFill>
                  <a:srgbClr val="334FE4"/>
                </a:solidFill>
              </a:defRPr>
            </a:lvl4pPr>
            <a:lvl5pPr>
              <a:defRPr sz="2100" b="1">
                <a:solidFill>
                  <a:srgbClr val="334FE4"/>
                </a:solidFill>
              </a:defRPr>
            </a:lvl5pPr>
            <a:lvl6pPr>
              <a:defRPr sz="2100" b="1">
                <a:solidFill>
                  <a:srgbClr val="334FE4"/>
                </a:solidFill>
              </a:defRPr>
            </a:lvl6pPr>
            <a:lvl7pPr>
              <a:defRPr sz="2100" b="1">
                <a:solidFill>
                  <a:srgbClr val="334FE4"/>
                </a:solidFill>
              </a:defRPr>
            </a:lvl7pPr>
            <a:lvl8pPr>
              <a:defRPr sz="2100" b="1">
                <a:solidFill>
                  <a:srgbClr val="334FE4"/>
                </a:solidFill>
              </a:defRPr>
            </a:lvl8pPr>
            <a:lvl9pPr>
              <a:defRPr sz="2100" b="1">
                <a:solidFill>
                  <a:srgbClr val="334FE4"/>
                </a:solidFill>
              </a:defRPr>
            </a:lvl9pPr>
          </a:lstStyle>
          <a:p xmlns:a="http://schemas.openxmlformats.org/drawingml/2006/main">
            <a:pPr>
              <a:defRPr sz="2100" b="1">
                <a:solidFill>
                  <a:srgbClr val="334FE4"/>
                </a:solidFill>
              </a:defRPr>
            </a:pPr>
            <a:r>
              <a:rPr sz="2100" b="1">
                <a:solidFill>
                  <a:srgbClr val="334FE4"/>
                </a:solidFill>
              </a:rPr>
              <a:t>Composite check key</a:t>
            </a:r>
          </a:p>
        </p:txBody>
      </p:sp>
      <p:sp>
        <p:nvSpPr>
          <p:cNvPr id="4" name="Explanation">
            <a:extLst xmlns:a="http://schemas.openxmlformats.org/drawingml/2006/main">
              <a:ext uri="{FF2B5EF4-FFF2-40B4-BE49-F238E27FC236}">
                <a16:creationId xmlns:a16="http://schemas.microsoft.com/office/drawing/2014/main" id="{55A2BB14-ABC9-4A60-93B4-7B3E0176EB19}"/>
              </a:ext>
            </a:extLst>
          </p:cNvPr>
          <p:cNvSpPr>
            <a:spLocks xmlns:a="http://schemas.openxmlformats.org/drawingml/2006/main" noGrp="1"/>
          </p:cNvSpPr>
          <p:nvPr/>
        </p:nvSpPr>
        <p:spPr>
          <a:xfrm xmlns:a="http://schemas.openxmlformats.org/drawingml/2006/main">
            <a:off x="4048125" y="1571625"/>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342"/>
                </a:solidFill>
              </a:defRPr>
            </a:defPPr>
            <a:lvl1pPr>
              <a:defRPr sz="1950" b="0">
                <a:solidFill>
                  <a:srgbClr val="172342"/>
                </a:solidFill>
              </a:defRPr>
            </a:lvl1pPr>
            <a:lvl2pPr>
              <a:defRPr sz="1950" b="0">
                <a:solidFill>
                  <a:srgbClr val="172342"/>
                </a:solidFill>
              </a:defRPr>
            </a:lvl2pPr>
            <a:lvl3pPr>
              <a:defRPr sz="1950" b="0">
                <a:solidFill>
                  <a:srgbClr val="172342"/>
                </a:solidFill>
              </a:defRPr>
            </a:lvl3pPr>
            <a:lvl4pPr>
              <a:defRPr sz="1950" b="0">
                <a:solidFill>
                  <a:srgbClr val="172342"/>
                </a:solidFill>
              </a:defRPr>
            </a:lvl4pPr>
            <a:lvl5pPr>
              <a:defRPr sz="1950" b="0">
                <a:solidFill>
                  <a:srgbClr val="172342"/>
                </a:solidFill>
              </a:defRPr>
            </a:lvl5pPr>
            <a:lvl6pPr>
              <a:defRPr sz="1950" b="0">
                <a:solidFill>
                  <a:srgbClr val="172342"/>
                </a:solidFill>
              </a:defRPr>
            </a:lvl6pPr>
            <a:lvl7pPr>
              <a:defRPr sz="1950" b="0">
                <a:solidFill>
                  <a:srgbClr val="172342"/>
                </a:solidFill>
              </a:defRPr>
            </a:lvl7pPr>
            <a:lvl8pPr>
              <a:defRPr sz="1950" b="0">
                <a:solidFill>
                  <a:srgbClr val="172342"/>
                </a:solidFill>
              </a:defRPr>
            </a:lvl8pPr>
            <a:lvl9pPr>
              <a:defRPr sz="1950" b="0">
                <a:solidFill>
                  <a:srgbClr val="172342"/>
                </a:solidFill>
              </a:defRPr>
            </a:lvl9pPr>
          </a:lstStyle>
          <a:p xmlns:a="http://schemas.openxmlformats.org/drawingml/2006/main">
            <a:pPr>
              <a:defRPr sz="1950" b="0">
                <a:solidFill>
                  <a:srgbClr val="172342"/>
                </a:solidFill>
              </a:defRPr>
            </a:pPr>
            <a:r>
              <a:rPr sz="1950" b="0">
                <a:solidFill>
                  <a:srgbClr val="172342"/>
                </a:solidFill>
              </a:rPr>
              <a:t>Date + location + check ID. Check ID alone can repeat.</a:t>
            </a:r>
          </a:p>
        </p:txBody>
      </p:sp>
      <p:sp>
        <p:nvSpPr>
          <p:cNvPr id="5" name="Concept">
            <a:extLst xmlns:a="http://schemas.openxmlformats.org/drawingml/2006/main">
              <a:ext uri="{FF2B5EF4-FFF2-40B4-BE49-F238E27FC236}">
                <a16:creationId xmlns:a16="http://schemas.microsoft.com/office/drawing/2014/main" id="{E8A355FA-82A2-4995-83D2-631CE488540C}"/>
              </a:ext>
            </a:extLst>
          </p:cNvPr>
          <p:cNvSpPr>
            <a:spLocks xmlns:a="http://schemas.openxmlformats.org/drawingml/2006/main" noGrp="1"/>
          </p:cNvSpPr>
          <p:nvPr/>
        </p:nvSpPr>
        <p:spPr>
          <a:xfrm xmlns:a="http://schemas.openxmlformats.org/drawingml/2006/main">
            <a:off x="666750" y="2619375"/>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34FE4"/>
                </a:solidFill>
              </a:defRPr>
            </a:defPPr>
            <a:lvl1pPr>
              <a:defRPr sz="2100" b="1">
                <a:solidFill>
                  <a:srgbClr val="334FE4"/>
                </a:solidFill>
              </a:defRPr>
            </a:lvl1pPr>
            <a:lvl2pPr>
              <a:defRPr sz="2100" b="1">
                <a:solidFill>
                  <a:srgbClr val="334FE4"/>
                </a:solidFill>
              </a:defRPr>
            </a:lvl2pPr>
            <a:lvl3pPr>
              <a:defRPr sz="2100" b="1">
                <a:solidFill>
                  <a:srgbClr val="334FE4"/>
                </a:solidFill>
              </a:defRPr>
            </a:lvl3pPr>
            <a:lvl4pPr>
              <a:defRPr sz="2100" b="1">
                <a:solidFill>
                  <a:srgbClr val="334FE4"/>
                </a:solidFill>
              </a:defRPr>
            </a:lvl4pPr>
            <a:lvl5pPr>
              <a:defRPr sz="2100" b="1">
                <a:solidFill>
                  <a:srgbClr val="334FE4"/>
                </a:solidFill>
              </a:defRPr>
            </a:lvl5pPr>
            <a:lvl6pPr>
              <a:defRPr sz="2100" b="1">
                <a:solidFill>
                  <a:srgbClr val="334FE4"/>
                </a:solidFill>
              </a:defRPr>
            </a:lvl6pPr>
            <a:lvl7pPr>
              <a:defRPr sz="2100" b="1">
                <a:solidFill>
                  <a:srgbClr val="334FE4"/>
                </a:solidFill>
              </a:defRPr>
            </a:lvl7pPr>
            <a:lvl8pPr>
              <a:defRPr sz="2100" b="1">
                <a:solidFill>
                  <a:srgbClr val="334FE4"/>
                </a:solidFill>
              </a:defRPr>
            </a:lvl8pPr>
            <a:lvl9pPr>
              <a:defRPr sz="2100" b="1">
                <a:solidFill>
                  <a:srgbClr val="334FE4"/>
                </a:solidFill>
              </a:defRPr>
            </a:lvl9pPr>
          </a:lstStyle>
          <a:p xmlns:a="http://schemas.openxmlformats.org/drawingml/2006/main">
            <a:pPr>
              <a:defRPr sz="2100" b="1">
                <a:solidFill>
                  <a:srgbClr val="334FE4"/>
                </a:solidFill>
              </a:defRPr>
            </a:pPr>
            <a:r>
              <a:rPr sz="2100" b="1">
                <a:solidFill>
                  <a:srgbClr val="334FE4"/>
                </a:solidFill>
              </a:rPr>
              <a:t>Separate child arrays</a:t>
            </a:r>
          </a:p>
        </p:txBody>
      </p:sp>
      <p:sp>
        <p:nvSpPr>
          <p:cNvPr id="6" name="Explanation">
            <a:extLst xmlns:a="http://schemas.openxmlformats.org/drawingml/2006/main">
              <a:ext uri="{FF2B5EF4-FFF2-40B4-BE49-F238E27FC236}">
                <a16:creationId xmlns:a16="http://schemas.microsoft.com/office/drawing/2014/main" id="{1BDF4726-60AF-441F-815F-1FEF23389797}"/>
              </a:ext>
            </a:extLst>
          </p:cNvPr>
          <p:cNvSpPr>
            <a:spLocks xmlns:a="http://schemas.openxmlformats.org/drawingml/2006/main" noGrp="1"/>
          </p:cNvSpPr>
          <p:nvPr/>
        </p:nvSpPr>
        <p:spPr>
          <a:xfrm xmlns:a="http://schemas.openxmlformats.org/drawingml/2006/main">
            <a:off x="4048125" y="2619375"/>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342"/>
                </a:solidFill>
              </a:defRPr>
            </a:defPPr>
            <a:lvl1pPr>
              <a:defRPr sz="1950" b="0">
                <a:solidFill>
                  <a:srgbClr val="172342"/>
                </a:solidFill>
              </a:defRPr>
            </a:lvl1pPr>
            <a:lvl2pPr>
              <a:defRPr sz="1950" b="0">
                <a:solidFill>
                  <a:srgbClr val="172342"/>
                </a:solidFill>
              </a:defRPr>
            </a:lvl2pPr>
            <a:lvl3pPr>
              <a:defRPr sz="1950" b="0">
                <a:solidFill>
                  <a:srgbClr val="172342"/>
                </a:solidFill>
              </a:defRPr>
            </a:lvl3pPr>
            <a:lvl4pPr>
              <a:defRPr sz="1950" b="0">
                <a:solidFill>
                  <a:srgbClr val="172342"/>
                </a:solidFill>
              </a:defRPr>
            </a:lvl4pPr>
            <a:lvl5pPr>
              <a:defRPr sz="1950" b="0">
                <a:solidFill>
                  <a:srgbClr val="172342"/>
                </a:solidFill>
              </a:defRPr>
            </a:lvl5pPr>
            <a:lvl6pPr>
              <a:defRPr sz="1950" b="0">
                <a:solidFill>
                  <a:srgbClr val="172342"/>
                </a:solidFill>
              </a:defRPr>
            </a:lvl6pPr>
            <a:lvl7pPr>
              <a:defRPr sz="1950" b="0">
                <a:solidFill>
                  <a:srgbClr val="172342"/>
                </a:solidFill>
              </a:defRPr>
            </a:lvl7pPr>
            <a:lvl8pPr>
              <a:defRPr sz="1950" b="0">
                <a:solidFill>
                  <a:srgbClr val="172342"/>
                </a:solidFill>
              </a:defRPr>
            </a:lvl8pPr>
            <a:lvl9pPr>
              <a:defRPr sz="1950" b="0">
                <a:solidFill>
                  <a:srgbClr val="172342"/>
                </a:solidFill>
              </a:defRPr>
            </a:lvl9pPr>
          </a:lstStyle>
          <a:p xmlns:a="http://schemas.openxmlformats.org/drawingml/2006/main">
            <a:pPr>
              <a:defRPr sz="1950" b="0">
                <a:solidFill>
                  <a:srgbClr val="172342"/>
                </a:solidFill>
              </a:defRPr>
            </a:pPr>
            <a:r>
              <a:rPr sz="1950" b="0">
                <a:solidFill>
                  <a:srgbClr val="172342"/>
                </a:solidFill>
              </a:rPr>
              <a:t>Expand payments and discounts independently to prevent multiplied rows and amounts.</a:t>
            </a:r>
          </a:p>
        </p:txBody>
      </p:sp>
      <p:sp>
        <p:nvSpPr>
          <p:cNvPr id="7" name="Concept">
            <a:extLst xmlns:a="http://schemas.openxmlformats.org/drawingml/2006/main">
              <a:ext uri="{FF2B5EF4-FFF2-40B4-BE49-F238E27FC236}">
                <a16:creationId xmlns:a16="http://schemas.microsoft.com/office/drawing/2014/main" id="{B9AC522D-1E6E-4BA8-8539-91A9EEC6F2DD}"/>
              </a:ext>
            </a:extLst>
          </p:cNvPr>
          <p:cNvSpPr>
            <a:spLocks xmlns:a="http://schemas.openxmlformats.org/drawingml/2006/main" noGrp="1"/>
          </p:cNvSpPr>
          <p:nvPr/>
        </p:nvSpPr>
        <p:spPr>
          <a:xfrm xmlns:a="http://schemas.openxmlformats.org/drawingml/2006/main">
            <a:off x="666750" y="3667125"/>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34FE4"/>
                </a:solidFill>
              </a:defRPr>
            </a:defPPr>
            <a:lvl1pPr>
              <a:defRPr sz="2100" b="1">
                <a:solidFill>
                  <a:srgbClr val="334FE4"/>
                </a:solidFill>
              </a:defRPr>
            </a:lvl1pPr>
            <a:lvl2pPr>
              <a:defRPr sz="2100" b="1">
                <a:solidFill>
                  <a:srgbClr val="334FE4"/>
                </a:solidFill>
              </a:defRPr>
            </a:lvl2pPr>
            <a:lvl3pPr>
              <a:defRPr sz="2100" b="1">
                <a:solidFill>
                  <a:srgbClr val="334FE4"/>
                </a:solidFill>
              </a:defRPr>
            </a:lvl3pPr>
            <a:lvl4pPr>
              <a:defRPr sz="2100" b="1">
                <a:solidFill>
                  <a:srgbClr val="334FE4"/>
                </a:solidFill>
              </a:defRPr>
            </a:lvl4pPr>
            <a:lvl5pPr>
              <a:defRPr sz="2100" b="1">
                <a:solidFill>
                  <a:srgbClr val="334FE4"/>
                </a:solidFill>
              </a:defRPr>
            </a:lvl5pPr>
            <a:lvl6pPr>
              <a:defRPr sz="2100" b="1">
                <a:solidFill>
                  <a:srgbClr val="334FE4"/>
                </a:solidFill>
              </a:defRPr>
            </a:lvl6pPr>
            <a:lvl7pPr>
              <a:defRPr sz="2100" b="1">
                <a:solidFill>
                  <a:srgbClr val="334FE4"/>
                </a:solidFill>
              </a:defRPr>
            </a:lvl7pPr>
            <a:lvl8pPr>
              <a:defRPr sz="2100" b="1">
                <a:solidFill>
                  <a:srgbClr val="334FE4"/>
                </a:solidFill>
              </a:defRPr>
            </a:lvl8pPr>
            <a:lvl9pPr>
              <a:defRPr sz="2100" b="1">
                <a:solidFill>
                  <a:srgbClr val="334FE4"/>
                </a:solidFill>
              </a:defRPr>
            </a:lvl9pPr>
          </a:lstStyle>
          <a:p xmlns:a="http://schemas.openxmlformats.org/drawingml/2006/main">
            <a:pPr>
              <a:defRPr sz="2100" b="1">
                <a:solidFill>
                  <a:srgbClr val="334FE4"/>
                </a:solidFill>
              </a:defRPr>
            </a:pPr>
            <a:r>
              <a:rPr sz="2100" b="1">
                <a:solidFill>
                  <a:srgbClr val="334FE4"/>
                </a:solidFill>
              </a:rPr>
              <a:t>Signed tip aggregation</a:t>
            </a:r>
          </a:p>
        </p:txBody>
      </p:sp>
      <p:sp>
        <p:nvSpPr>
          <p:cNvPr id="8" name="Explanation">
            <a:extLst xmlns:a="http://schemas.openxmlformats.org/drawingml/2006/main">
              <a:ext uri="{FF2B5EF4-FFF2-40B4-BE49-F238E27FC236}">
                <a16:creationId xmlns:a16="http://schemas.microsoft.com/office/drawing/2014/main" id="{91164F87-DC83-4675-9B00-BE900832B829}"/>
              </a:ext>
            </a:extLst>
          </p:cNvPr>
          <p:cNvSpPr>
            <a:spLocks xmlns:a="http://schemas.openxmlformats.org/drawingml/2006/main" noGrp="1"/>
          </p:cNvSpPr>
          <p:nvPr/>
        </p:nvSpPr>
        <p:spPr>
          <a:xfrm xmlns:a="http://schemas.openxmlformats.org/drawingml/2006/main">
            <a:off x="4048125" y="3667125"/>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342"/>
                </a:solidFill>
              </a:defRPr>
            </a:defPPr>
            <a:lvl1pPr>
              <a:defRPr sz="1950" b="0">
                <a:solidFill>
                  <a:srgbClr val="172342"/>
                </a:solidFill>
              </a:defRPr>
            </a:lvl1pPr>
            <a:lvl2pPr>
              <a:defRPr sz="1950" b="0">
                <a:solidFill>
                  <a:srgbClr val="172342"/>
                </a:solidFill>
              </a:defRPr>
            </a:lvl2pPr>
            <a:lvl3pPr>
              <a:defRPr sz="1950" b="0">
                <a:solidFill>
                  <a:srgbClr val="172342"/>
                </a:solidFill>
              </a:defRPr>
            </a:lvl3pPr>
            <a:lvl4pPr>
              <a:defRPr sz="1950" b="0">
                <a:solidFill>
                  <a:srgbClr val="172342"/>
                </a:solidFill>
              </a:defRPr>
            </a:lvl4pPr>
            <a:lvl5pPr>
              <a:defRPr sz="1950" b="0">
                <a:solidFill>
                  <a:srgbClr val="172342"/>
                </a:solidFill>
              </a:defRPr>
            </a:lvl5pPr>
            <a:lvl6pPr>
              <a:defRPr sz="1950" b="0">
                <a:solidFill>
                  <a:srgbClr val="172342"/>
                </a:solidFill>
              </a:defRPr>
            </a:lvl6pPr>
            <a:lvl7pPr>
              <a:defRPr sz="1950" b="0">
                <a:solidFill>
                  <a:srgbClr val="172342"/>
                </a:solidFill>
              </a:defRPr>
            </a:lvl7pPr>
            <a:lvl8pPr>
              <a:defRPr sz="1950" b="0">
                <a:solidFill>
                  <a:srgbClr val="172342"/>
                </a:solidFill>
              </a:defRPr>
            </a:lvl8pPr>
            <a:lvl9pPr>
              <a:defRPr sz="1950" b="0">
                <a:solidFill>
                  <a:srgbClr val="172342"/>
                </a:solidFill>
              </a:defRPr>
            </a:lvl9pPr>
          </a:lstStyle>
          <a:p xmlns:a="http://schemas.openxmlformats.org/drawingml/2006/main">
            <a:pPr>
              <a:defRPr sz="1950" b="0">
                <a:solidFill>
                  <a:srgbClr val="172342"/>
                </a:solidFill>
              </a:defRPr>
            </a:pPr>
            <a:r>
              <a:rPr sz="1950" b="0">
                <a:solidFill>
                  <a:srgbClr val="172342"/>
                </a:solidFill>
              </a:rPr>
              <a:t>Sum Gratuity across payments, then take the magnitude for comparisons.</a:t>
            </a:r>
          </a:p>
        </p:txBody>
      </p:sp>
      <p:sp>
        <p:nvSpPr>
          <p:cNvPr id="9" name="Concept">
            <a:extLst xmlns:a="http://schemas.openxmlformats.org/drawingml/2006/main">
              <a:ext uri="{FF2B5EF4-FFF2-40B4-BE49-F238E27FC236}">
                <a16:creationId xmlns:a16="http://schemas.microsoft.com/office/drawing/2014/main" id="{31F4DB1E-5671-450A-B447-D6AAAF9D7D1F}"/>
              </a:ext>
            </a:extLst>
          </p:cNvPr>
          <p:cNvSpPr>
            <a:spLocks xmlns:a="http://schemas.openxmlformats.org/drawingml/2006/main" noGrp="1"/>
          </p:cNvSpPr>
          <p:nvPr/>
        </p:nvSpPr>
        <p:spPr>
          <a:xfrm xmlns:a="http://schemas.openxmlformats.org/drawingml/2006/main">
            <a:off x="666750" y="4714875"/>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34FE4"/>
                </a:solidFill>
              </a:defRPr>
            </a:defPPr>
            <a:lvl1pPr>
              <a:defRPr sz="2100" b="1">
                <a:solidFill>
                  <a:srgbClr val="334FE4"/>
                </a:solidFill>
              </a:defRPr>
            </a:lvl1pPr>
            <a:lvl2pPr>
              <a:defRPr sz="2100" b="1">
                <a:solidFill>
                  <a:srgbClr val="334FE4"/>
                </a:solidFill>
              </a:defRPr>
            </a:lvl2pPr>
            <a:lvl3pPr>
              <a:defRPr sz="2100" b="1">
                <a:solidFill>
                  <a:srgbClr val="334FE4"/>
                </a:solidFill>
              </a:defRPr>
            </a:lvl3pPr>
            <a:lvl4pPr>
              <a:defRPr sz="2100" b="1">
                <a:solidFill>
                  <a:srgbClr val="334FE4"/>
                </a:solidFill>
              </a:defRPr>
            </a:lvl4pPr>
            <a:lvl5pPr>
              <a:defRPr sz="2100" b="1">
                <a:solidFill>
                  <a:srgbClr val="334FE4"/>
                </a:solidFill>
              </a:defRPr>
            </a:lvl5pPr>
            <a:lvl6pPr>
              <a:defRPr sz="2100" b="1">
                <a:solidFill>
                  <a:srgbClr val="334FE4"/>
                </a:solidFill>
              </a:defRPr>
            </a:lvl6pPr>
            <a:lvl7pPr>
              <a:defRPr sz="2100" b="1">
                <a:solidFill>
                  <a:srgbClr val="334FE4"/>
                </a:solidFill>
              </a:defRPr>
            </a:lvl7pPr>
            <a:lvl8pPr>
              <a:defRPr sz="2100" b="1">
                <a:solidFill>
                  <a:srgbClr val="334FE4"/>
                </a:solidFill>
              </a:defRPr>
            </a:lvl8pPr>
            <a:lvl9pPr>
              <a:defRPr sz="2100" b="1">
                <a:solidFill>
                  <a:srgbClr val="334FE4"/>
                </a:solidFill>
              </a:defRPr>
            </a:lvl9pPr>
          </a:lstStyle>
          <a:p xmlns:a="http://schemas.openxmlformats.org/drawingml/2006/main">
            <a:pPr>
              <a:defRPr sz="2100" b="1">
                <a:solidFill>
                  <a:srgbClr val="334FE4"/>
                </a:solidFill>
              </a:defRPr>
            </a:pPr>
            <a:r>
              <a:rPr sz="2100" b="1">
                <a:solidFill>
                  <a:srgbClr val="334FE4"/>
                </a:solidFill>
              </a:rPr>
              <a:t>Reference enrichment</a:t>
            </a:r>
          </a:p>
        </p:txBody>
      </p:sp>
      <p:sp>
        <p:nvSpPr>
          <p:cNvPr id="10" name="Explanation">
            <a:extLst xmlns:a="http://schemas.openxmlformats.org/drawingml/2006/main">
              <a:ext uri="{FF2B5EF4-FFF2-40B4-BE49-F238E27FC236}">
                <a16:creationId xmlns:a16="http://schemas.microsoft.com/office/drawing/2014/main" id="{9027864E-7BE2-4B91-8DBE-E172FD22FC55}"/>
              </a:ext>
            </a:extLst>
          </p:cNvPr>
          <p:cNvSpPr>
            <a:spLocks xmlns:a="http://schemas.openxmlformats.org/drawingml/2006/main" noGrp="1"/>
          </p:cNvSpPr>
          <p:nvPr/>
        </p:nvSpPr>
        <p:spPr>
          <a:xfrm xmlns:a="http://schemas.openxmlformats.org/drawingml/2006/main">
            <a:off x="4048125" y="4714875"/>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342"/>
                </a:solidFill>
              </a:defRPr>
            </a:defPPr>
            <a:lvl1pPr>
              <a:defRPr sz="1950" b="0">
                <a:solidFill>
                  <a:srgbClr val="172342"/>
                </a:solidFill>
              </a:defRPr>
            </a:lvl1pPr>
            <a:lvl2pPr>
              <a:defRPr sz="1950" b="0">
                <a:solidFill>
                  <a:srgbClr val="172342"/>
                </a:solidFill>
              </a:defRPr>
            </a:lvl2pPr>
            <a:lvl3pPr>
              <a:defRPr sz="1950" b="0">
                <a:solidFill>
                  <a:srgbClr val="172342"/>
                </a:solidFill>
              </a:defRPr>
            </a:lvl3pPr>
            <a:lvl4pPr>
              <a:defRPr sz="1950" b="0">
                <a:solidFill>
                  <a:srgbClr val="172342"/>
                </a:solidFill>
              </a:defRPr>
            </a:lvl4pPr>
            <a:lvl5pPr>
              <a:defRPr sz="1950" b="0">
                <a:solidFill>
                  <a:srgbClr val="172342"/>
                </a:solidFill>
              </a:defRPr>
            </a:lvl5pPr>
            <a:lvl6pPr>
              <a:defRPr sz="1950" b="0">
                <a:solidFill>
                  <a:srgbClr val="172342"/>
                </a:solidFill>
              </a:defRPr>
            </a:lvl6pPr>
            <a:lvl7pPr>
              <a:defRPr sz="1950" b="0">
                <a:solidFill>
                  <a:srgbClr val="172342"/>
                </a:solidFill>
              </a:defRPr>
            </a:lvl7pPr>
            <a:lvl8pPr>
              <a:defRPr sz="1950" b="0">
                <a:solidFill>
                  <a:srgbClr val="172342"/>
                </a:solidFill>
              </a:defRPr>
            </a:lvl8pPr>
            <a:lvl9pPr>
              <a:defRPr sz="1950" b="0">
                <a:solidFill>
                  <a:srgbClr val="172342"/>
                </a:solidFill>
              </a:defRPr>
            </a:lvl9pPr>
          </a:lstStyle>
          <a:p xmlns:a="http://schemas.openxmlformats.org/drawingml/2006/main">
            <a:pPr>
              <a:defRPr sz="1950" b="0">
                <a:solidFill>
                  <a:srgbClr val="172342"/>
                </a:solidFill>
              </a:defRPr>
            </a:pPr>
            <a:r>
              <a:rPr sz="1950" b="0">
                <a:solidFill>
                  <a:srgbClr val="172342"/>
                </a:solidFill>
              </a:rPr>
              <a:t>Join location and channel labels after protecting reference-ID uniqueness.</a:t>
            </a:r>
          </a:p>
        </p:txBody>
      </p:sp>
      <p:sp>
        <p:nvSpPr>
          <p:cNvPr id="11" name="Source and scope">
            <a:extLst xmlns:a="http://schemas.openxmlformats.org/drawingml/2006/main">
              <a:ext uri="{FF2B5EF4-FFF2-40B4-BE49-F238E27FC236}">
                <a16:creationId xmlns:a16="http://schemas.microsoft.com/office/drawing/2014/main" id="{B8B7C673-FE09-4033-9D9D-A25A409F989F}"/>
              </a:ext>
            </a:extLst>
          </p:cNvPr>
          <p:cNvSpPr>
            <a:spLocks xmlns:a="http://schemas.openxmlformats.org/drawingml/2006/main" noGrp="1"/>
          </p:cNvSpPr>
          <p:nvPr/>
        </p:nvSpPr>
        <p:spPr>
          <a:xfrm xmlns:a="http://schemas.openxmlformats.org/drawingml/2006/main">
            <a:off x="666750" y="61912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defRPr>
            </a:defPPr>
            <a:lvl1pPr>
              <a:defRPr sz="1350" b="0">
                <a:solidFill>
                  <a:srgbClr val="526078"/>
                </a:solidFill>
              </a:defRPr>
            </a:lvl1pPr>
            <a:lvl2pPr>
              <a:defRPr sz="1350" b="0">
                <a:solidFill>
                  <a:srgbClr val="526078"/>
                </a:solidFill>
              </a:defRPr>
            </a:lvl2pPr>
            <a:lvl3pPr>
              <a:defRPr sz="1350" b="0">
                <a:solidFill>
                  <a:srgbClr val="526078"/>
                </a:solidFill>
              </a:defRPr>
            </a:lvl3pPr>
            <a:lvl4pPr>
              <a:defRPr sz="1350" b="0">
                <a:solidFill>
                  <a:srgbClr val="526078"/>
                </a:solidFill>
              </a:defRPr>
            </a:lvl4pPr>
            <a:lvl5pPr>
              <a:defRPr sz="1350" b="0">
                <a:solidFill>
                  <a:srgbClr val="526078"/>
                </a:solidFill>
              </a:defRPr>
            </a:lvl5pPr>
            <a:lvl6pPr>
              <a:defRPr sz="1350" b="0">
                <a:solidFill>
                  <a:srgbClr val="526078"/>
                </a:solidFill>
              </a:defRPr>
            </a:lvl6pPr>
            <a:lvl7pPr>
              <a:defRPr sz="1350" b="0">
                <a:solidFill>
                  <a:srgbClr val="526078"/>
                </a:solidFill>
              </a:defRPr>
            </a:lvl7pPr>
            <a:lvl8pPr>
              <a:defRPr sz="1350" b="0">
                <a:solidFill>
                  <a:srgbClr val="526078"/>
                </a:solidFill>
              </a:defRPr>
            </a:lvl8pPr>
            <a:lvl9pPr>
              <a:defRPr sz="1350" b="0">
                <a:solidFill>
                  <a:srgbClr val="526078"/>
                </a:solidFill>
              </a:defRPr>
            </a:lvl9pPr>
          </a:lstStyle>
          <a:p xmlns:a="http://schemas.openxmlformats.org/drawingml/2006/main">
            <a:pPr>
              <a:defRPr sz="1350" b="0">
                <a:solidFill>
                  <a:srgbClr val="526078"/>
                </a:solidFill>
              </a:defRPr>
            </a:pPr>
            <a:r>
              <a:rPr sz="1350" b="0">
                <a:solidFill>
                  <a:srgbClr val="526078"/>
                </a:solidFill>
              </a:rPr>
              <a:t>Negative check IDs remain valid source identifiers. Ticket/item discount amounts stay separate.</a:t>
            </a:r>
          </a:p>
        </p:txBody>
      </p:sp>
    </p:spTree>
    <p:extLst>
      <p:ext uri="{BB962C8B-B14F-4D97-AF65-F5344CB8AC3E}">
        <p14:creationId xmlns:p14="http://schemas.microsoft.com/office/powerpoint/2010/main" val="11366681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A67107B-BBCA-4915-9888-C00B526B3A72}"/>
              </a:ext>
            </a:extLst>
          </p:cNvPr>
          <p:cNvSpPr>
            <a:spLocks xmlns:a="http://schemas.openxmlformats.org/drawingml/2006/main" noGrp="1"/>
          </p:cNvSpPr>
          <p:nvPr/>
        </p:nvSpPr>
        <p:spPr>
          <a:xfrm xmlns:a="http://schemas.openxmlformats.org/drawingml/2006/main">
            <a:off x="647700" y="438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34FE4"/>
                </a:solidFill>
              </a:defRPr>
            </a:defPPr>
            <a:lvl1pPr>
              <a:defRPr sz="3300" b="1">
                <a:solidFill>
                  <a:srgbClr val="334FE4"/>
                </a:solidFill>
              </a:defRPr>
            </a:lvl1pPr>
            <a:lvl2pPr>
              <a:defRPr sz="3300" b="1">
                <a:solidFill>
                  <a:srgbClr val="334FE4"/>
                </a:solidFill>
              </a:defRPr>
            </a:lvl2pPr>
            <a:lvl3pPr>
              <a:defRPr sz="3300" b="1">
                <a:solidFill>
                  <a:srgbClr val="334FE4"/>
                </a:solidFill>
              </a:defRPr>
            </a:lvl3pPr>
            <a:lvl4pPr>
              <a:defRPr sz="3300" b="1">
                <a:solidFill>
                  <a:srgbClr val="334FE4"/>
                </a:solidFill>
              </a:defRPr>
            </a:lvl4pPr>
            <a:lvl5pPr>
              <a:defRPr sz="3300" b="1">
                <a:solidFill>
                  <a:srgbClr val="334FE4"/>
                </a:solidFill>
              </a:defRPr>
            </a:lvl5pPr>
            <a:lvl6pPr>
              <a:defRPr sz="3300" b="1">
                <a:solidFill>
                  <a:srgbClr val="334FE4"/>
                </a:solidFill>
              </a:defRPr>
            </a:lvl6pPr>
            <a:lvl7pPr>
              <a:defRPr sz="3300" b="1">
                <a:solidFill>
                  <a:srgbClr val="334FE4"/>
                </a:solidFill>
              </a:defRPr>
            </a:lvl7pPr>
            <a:lvl8pPr>
              <a:defRPr sz="3300" b="1">
                <a:solidFill>
                  <a:srgbClr val="334FE4"/>
                </a:solidFill>
              </a:defRPr>
            </a:lvl8pPr>
            <a:lvl9pPr>
              <a:defRPr sz="3300" b="1">
                <a:solidFill>
                  <a:srgbClr val="334FE4"/>
                </a:solidFill>
              </a:defRPr>
            </a:lvl9pPr>
          </a:lstStyle>
          <a:p xmlns:a="http://schemas.openxmlformats.org/drawingml/2006/main">
            <a:pPr>
              <a:defRPr sz="3300" b="1">
                <a:solidFill>
                  <a:srgbClr val="334FE4"/>
                </a:solidFill>
              </a:defRPr>
            </a:pPr>
            <a:r>
              <a:rPr sz="3300" b="1">
                <a:solidFill>
                  <a:srgbClr val="334FE4"/>
                </a:solidFill>
              </a:rPr>
              <a:t>Quality controls and handling</a:t>
            </a:r>
          </a:p>
        </p:txBody>
      </p:sp>
      <p:sp>
        <p:nvSpPr>
          <p:cNvPr id="3" name="Concept">
            <a:extLst xmlns:a="http://schemas.openxmlformats.org/drawingml/2006/main">
              <a:ext uri="{FF2B5EF4-FFF2-40B4-BE49-F238E27FC236}">
                <a16:creationId xmlns:a16="http://schemas.microsoft.com/office/drawing/2014/main" id="{B059EFCC-CAF5-47FA-829D-750158236C2D}"/>
              </a:ext>
            </a:extLst>
          </p:cNvPr>
          <p:cNvSpPr>
            <a:spLocks xmlns:a="http://schemas.openxmlformats.org/drawingml/2006/main" noGrp="1"/>
          </p:cNvSpPr>
          <p:nvPr/>
        </p:nvSpPr>
        <p:spPr>
          <a:xfrm xmlns:a="http://schemas.openxmlformats.org/drawingml/2006/main">
            <a:off x="666750" y="1571625"/>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34FE4"/>
                </a:solidFill>
              </a:defRPr>
            </a:defPPr>
            <a:lvl1pPr>
              <a:defRPr sz="2100" b="1">
                <a:solidFill>
                  <a:srgbClr val="334FE4"/>
                </a:solidFill>
              </a:defRPr>
            </a:lvl1pPr>
            <a:lvl2pPr>
              <a:defRPr sz="2100" b="1">
                <a:solidFill>
                  <a:srgbClr val="334FE4"/>
                </a:solidFill>
              </a:defRPr>
            </a:lvl2pPr>
            <a:lvl3pPr>
              <a:defRPr sz="2100" b="1">
                <a:solidFill>
                  <a:srgbClr val="334FE4"/>
                </a:solidFill>
              </a:defRPr>
            </a:lvl3pPr>
            <a:lvl4pPr>
              <a:defRPr sz="2100" b="1">
                <a:solidFill>
                  <a:srgbClr val="334FE4"/>
                </a:solidFill>
              </a:defRPr>
            </a:lvl4pPr>
            <a:lvl5pPr>
              <a:defRPr sz="2100" b="1">
                <a:solidFill>
                  <a:srgbClr val="334FE4"/>
                </a:solidFill>
              </a:defRPr>
            </a:lvl5pPr>
            <a:lvl6pPr>
              <a:defRPr sz="2100" b="1">
                <a:solidFill>
                  <a:srgbClr val="334FE4"/>
                </a:solidFill>
              </a:defRPr>
            </a:lvl6pPr>
            <a:lvl7pPr>
              <a:defRPr sz="2100" b="1">
                <a:solidFill>
                  <a:srgbClr val="334FE4"/>
                </a:solidFill>
              </a:defRPr>
            </a:lvl7pPr>
            <a:lvl8pPr>
              <a:defRPr sz="2100" b="1">
                <a:solidFill>
                  <a:srgbClr val="334FE4"/>
                </a:solidFill>
              </a:defRPr>
            </a:lvl8pPr>
            <a:lvl9pPr>
              <a:defRPr sz="2100" b="1">
                <a:solidFill>
                  <a:srgbClr val="334FE4"/>
                </a:solidFill>
              </a:defRPr>
            </a:lvl9pPr>
          </a:lstStyle>
          <a:p xmlns:a="http://schemas.openxmlformats.org/drawingml/2006/main">
            <a:pPr>
              <a:defRPr sz="2100" b="1">
                <a:solidFill>
                  <a:srgbClr val="334FE4"/>
                </a:solidFill>
              </a:defRPr>
            </a:pPr>
            <a:r>
              <a:rPr sz="2100" b="1">
                <a:solidFill>
                  <a:srgbClr val="334FE4"/>
                </a:solidFill>
              </a:rPr>
              <a:t>Fail publication</a:t>
            </a:r>
          </a:p>
        </p:txBody>
      </p:sp>
      <p:sp>
        <p:nvSpPr>
          <p:cNvPr id="4" name="Explanation">
            <a:extLst xmlns:a="http://schemas.openxmlformats.org/drawingml/2006/main">
              <a:ext uri="{FF2B5EF4-FFF2-40B4-BE49-F238E27FC236}">
                <a16:creationId xmlns:a16="http://schemas.microsoft.com/office/drawing/2014/main" id="{FE3917E1-EACA-49AC-890B-2BE4C9F3BD2F}"/>
              </a:ext>
            </a:extLst>
          </p:cNvPr>
          <p:cNvSpPr>
            <a:spLocks xmlns:a="http://schemas.openxmlformats.org/drawingml/2006/main" noGrp="1"/>
          </p:cNvSpPr>
          <p:nvPr/>
        </p:nvSpPr>
        <p:spPr>
          <a:xfrm xmlns:a="http://schemas.openxmlformats.org/drawingml/2006/main">
            <a:off x="4048125" y="1571625"/>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342"/>
                </a:solidFill>
              </a:defRPr>
            </a:defPPr>
            <a:lvl1pPr>
              <a:defRPr sz="1950" b="0">
                <a:solidFill>
                  <a:srgbClr val="172342"/>
                </a:solidFill>
              </a:defRPr>
            </a:lvl1pPr>
            <a:lvl2pPr>
              <a:defRPr sz="1950" b="0">
                <a:solidFill>
                  <a:srgbClr val="172342"/>
                </a:solidFill>
              </a:defRPr>
            </a:lvl2pPr>
            <a:lvl3pPr>
              <a:defRPr sz="1950" b="0">
                <a:solidFill>
                  <a:srgbClr val="172342"/>
                </a:solidFill>
              </a:defRPr>
            </a:lvl3pPr>
            <a:lvl4pPr>
              <a:defRPr sz="1950" b="0">
                <a:solidFill>
                  <a:srgbClr val="172342"/>
                </a:solidFill>
              </a:defRPr>
            </a:lvl4pPr>
            <a:lvl5pPr>
              <a:defRPr sz="1950" b="0">
                <a:solidFill>
                  <a:srgbClr val="172342"/>
                </a:solidFill>
              </a:defRPr>
            </a:lvl5pPr>
            <a:lvl6pPr>
              <a:defRPr sz="1950" b="0">
                <a:solidFill>
                  <a:srgbClr val="172342"/>
                </a:solidFill>
              </a:defRPr>
            </a:lvl6pPr>
            <a:lvl7pPr>
              <a:defRPr sz="1950" b="0">
                <a:solidFill>
                  <a:srgbClr val="172342"/>
                </a:solidFill>
              </a:defRPr>
            </a:lvl7pPr>
            <a:lvl8pPr>
              <a:defRPr sz="1950" b="0">
                <a:solidFill>
                  <a:srgbClr val="172342"/>
                </a:solidFill>
              </a:defRPr>
            </a:lvl8pPr>
            <a:lvl9pPr>
              <a:defRPr sz="1950" b="0">
                <a:solidFill>
                  <a:srgbClr val="172342"/>
                </a:solidFill>
              </a:defRPr>
            </a:lvl9pPr>
          </a:lstStyle>
          <a:p xmlns:a="http://schemas.openxmlformats.org/drawingml/2006/main">
            <a:pPr>
              <a:defRPr sz="1950" b="0">
                <a:solidFill>
                  <a:srgbClr val="172342"/>
                </a:solidFill>
              </a:defRPr>
            </a:pPr>
            <a:r>
              <a:rPr sz="1950" b="0">
                <a:solidFill>
                  <a:srgbClr val="172342"/>
                </a:solidFill>
              </a:rPr>
              <a:t>Null or duplicate reference IDs stop the update. Invalid published checks also fail.</a:t>
            </a:r>
          </a:p>
        </p:txBody>
      </p:sp>
      <p:sp>
        <p:nvSpPr>
          <p:cNvPr id="5" name="Concept">
            <a:extLst xmlns:a="http://schemas.openxmlformats.org/drawingml/2006/main">
              <a:ext uri="{FF2B5EF4-FFF2-40B4-BE49-F238E27FC236}">
                <a16:creationId xmlns:a16="http://schemas.microsoft.com/office/drawing/2014/main" id="{F30F7CA5-CDB3-43D1-9536-9ED2F2DA177A}"/>
              </a:ext>
            </a:extLst>
          </p:cNvPr>
          <p:cNvSpPr>
            <a:spLocks xmlns:a="http://schemas.openxmlformats.org/drawingml/2006/main" noGrp="1"/>
          </p:cNvSpPr>
          <p:nvPr/>
        </p:nvSpPr>
        <p:spPr>
          <a:xfrm xmlns:a="http://schemas.openxmlformats.org/drawingml/2006/main">
            <a:off x="666750" y="2619375"/>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34FE4"/>
                </a:solidFill>
              </a:defRPr>
            </a:defPPr>
            <a:lvl1pPr>
              <a:defRPr sz="2100" b="1">
                <a:solidFill>
                  <a:srgbClr val="334FE4"/>
                </a:solidFill>
              </a:defRPr>
            </a:lvl1pPr>
            <a:lvl2pPr>
              <a:defRPr sz="2100" b="1">
                <a:solidFill>
                  <a:srgbClr val="334FE4"/>
                </a:solidFill>
              </a:defRPr>
            </a:lvl2pPr>
            <a:lvl3pPr>
              <a:defRPr sz="2100" b="1">
                <a:solidFill>
                  <a:srgbClr val="334FE4"/>
                </a:solidFill>
              </a:defRPr>
            </a:lvl3pPr>
            <a:lvl4pPr>
              <a:defRPr sz="2100" b="1">
                <a:solidFill>
                  <a:srgbClr val="334FE4"/>
                </a:solidFill>
              </a:defRPr>
            </a:lvl4pPr>
            <a:lvl5pPr>
              <a:defRPr sz="2100" b="1">
                <a:solidFill>
                  <a:srgbClr val="334FE4"/>
                </a:solidFill>
              </a:defRPr>
            </a:lvl5pPr>
            <a:lvl6pPr>
              <a:defRPr sz="2100" b="1">
                <a:solidFill>
                  <a:srgbClr val="334FE4"/>
                </a:solidFill>
              </a:defRPr>
            </a:lvl6pPr>
            <a:lvl7pPr>
              <a:defRPr sz="2100" b="1">
                <a:solidFill>
                  <a:srgbClr val="334FE4"/>
                </a:solidFill>
              </a:defRPr>
            </a:lvl7pPr>
            <a:lvl8pPr>
              <a:defRPr sz="2100" b="1">
                <a:solidFill>
                  <a:srgbClr val="334FE4"/>
                </a:solidFill>
              </a:defRPr>
            </a:lvl8pPr>
            <a:lvl9pPr>
              <a:defRPr sz="2100" b="1">
                <a:solidFill>
                  <a:srgbClr val="334FE4"/>
                </a:solidFill>
              </a:defRPr>
            </a:lvl9pPr>
          </a:lstStyle>
          <a:p xmlns:a="http://schemas.openxmlformats.org/drawingml/2006/main">
            <a:pPr>
              <a:defRPr sz="2100" b="1">
                <a:solidFill>
                  <a:srgbClr val="334FE4"/>
                </a:solidFill>
              </a:defRPr>
            </a:pPr>
            <a:r>
              <a:rPr sz="2100" b="1">
                <a:solidFill>
                  <a:srgbClr val="334FE4"/>
                </a:solidFill>
              </a:rPr>
              <a:t>Retain in quarantine</a:t>
            </a:r>
          </a:p>
        </p:txBody>
      </p:sp>
      <p:sp>
        <p:nvSpPr>
          <p:cNvPr id="6" name="Explanation">
            <a:extLst xmlns:a="http://schemas.openxmlformats.org/drawingml/2006/main">
              <a:ext uri="{FF2B5EF4-FFF2-40B4-BE49-F238E27FC236}">
                <a16:creationId xmlns:a16="http://schemas.microsoft.com/office/drawing/2014/main" id="{B5CE90F0-385C-46BA-B3DB-35300F4BD977}"/>
              </a:ext>
            </a:extLst>
          </p:cNvPr>
          <p:cNvSpPr>
            <a:spLocks xmlns:a="http://schemas.openxmlformats.org/drawingml/2006/main" noGrp="1"/>
          </p:cNvSpPr>
          <p:nvPr/>
        </p:nvSpPr>
        <p:spPr>
          <a:xfrm xmlns:a="http://schemas.openxmlformats.org/drawingml/2006/main">
            <a:off x="4048125" y="2619375"/>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342"/>
                </a:solidFill>
              </a:defRPr>
            </a:defPPr>
            <a:lvl1pPr>
              <a:defRPr sz="1950" b="0">
                <a:solidFill>
                  <a:srgbClr val="172342"/>
                </a:solidFill>
              </a:defRPr>
            </a:lvl1pPr>
            <a:lvl2pPr>
              <a:defRPr sz="1950" b="0">
                <a:solidFill>
                  <a:srgbClr val="172342"/>
                </a:solidFill>
              </a:defRPr>
            </a:lvl2pPr>
            <a:lvl3pPr>
              <a:defRPr sz="1950" b="0">
                <a:solidFill>
                  <a:srgbClr val="172342"/>
                </a:solidFill>
              </a:defRPr>
            </a:lvl3pPr>
            <a:lvl4pPr>
              <a:defRPr sz="1950" b="0">
                <a:solidFill>
                  <a:srgbClr val="172342"/>
                </a:solidFill>
              </a:defRPr>
            </a:lvl4pPr>
            <a:lvl5pPr>
              <a:defRPr sz="1950" b="0">
                <a:solidFill>
                  <a:srgbClr val="172342"/>
                </a:solidFill>
              </a:defRPr>
            </a:lvl5pPr>
            <a:lvl6pPr>
              <a:defRPr sz="1950" b="0">
                <a:solidFill>
                  <a:srgbClr val="172342"/>
                </a:solidFill>
              </a:defRPr>
            </a:lvl6pPr>
            <a:lvl7pPr>
              <a:defRPr sz="1950" b="0">
                <a:solidFill>
                  <a:srgbClr val="172342"/>
                </a:solidFill>
              </a:defRPr>
            </a:lvl7pPr>
            <a:lvl8pPr>
              <a:defRPr sz="1950" b="0">
                <a:solidFill>
                  <a:srgbClr val="172342"/>
                </a:solidFill>
              </a:defRPr>
            </a:lvl8pPr>
            <a:lvl9pPr>
              <a:defRPr sz="1950" b="0">
                <a:solidFill>
                  <a:srgbClr val="172342"/>
                </a:solidFill>
              </a:defRPr>
            </a:lvl9pPr>
          </a:lstStyle>
          <a:p xmlns:a="http://schemas.openxmlformats.org/drawingml/2006/main">
            <a:pPr>
              <a:defRPr sz="1950" b="0">
                <a:solidFill>
                  <a:srgbClr val="172342"/>
                </a:solidFill>
              </a:defRPr>
            </a:pPr>
            <a:r>
              <a:rPr sz="1950" b="0">
                <a:solidFill>
                  <a:srgbClr val="172342"/>
                </a:solidFill>
              </a:rPr>
              <a:t>Invalid keys, dates, types or references keep their source evidence and reasons.</a:t>
            </a:r>
          </a:p>
        </p:txBody>
      </p:sp>
      <p:sp>
        <p:nvSpPr>
          <p:cNvPr id="7" name="Concept">
            <a:extLst xmlns:a="http://schemas.openxmlformats.org/drawingml/2006/main">
              <a:ext uri="{FF2B5EF4-FFF2-40B4-BE49-F238E27FC236}">
                <a16:creationId xmlns:a16="http://schemas.microsoft.com/office/drawing/2014/main" id="{6F05774D-409C-4D75-A993-CD8A09449E68}"/>
              </a:ext>
            </a:extLst>
          </p:cNvPr>
          <p:cNvSpPr>
            <a:spLocks xmlns:a="http://schemas.openxmlformats.org/drawingml/2006/main" noGrp="1"/>
          </p:cNvSpPr>
          <p:nvPr/>
        </p:nvSpPr>
        <p:spPr>
          <a:xfrm xmlns:a="http://schemas.openxmlformats.org/drawingml/2006/main">
            <a:off x="666750" y="3667125"/>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34FE4"/>
                </a:solidFill>
              </a:defRPr>
            </a:defPPr>
            <a:lvl1pPr>
              <a:defRPr sz="2100" b="1">
                <a:solidFill>
                  <a:srgbClr val="334FE4"/>
                </a:solidFill>
              </a:defRPr>
            </a:lvl1pPr>
            <a:lvl2pPr>
              <a:defRPr sz="2100" b="1">
                <a:solidFill>
                  <a:srgbClr val="334FE4"/>
                </a:solidFill>
              </a:defRPr>
            </a:lvl2pPr>
            <a:lvl3pPr>
              <a:defRPr sz="2100" b="1">
                <a:solidFill>
                  <a:srgbClr val="334FE4"/>
                </a:solidFill>
              </a:defRPr>
            </a:lvl3pPr>
            <a:lvl4pPr>
              <a:defRPr sz="2100" b="1">
                <a:solidFill>
                  <a:srgbClr val="334FE4"/>
                </a:solidFill>
              </a:defRPr>
            </a:lvl4pPr>
            <a:lvl5pPr>
              <a:defRPr sz="2100" b="1">
                <a:solidFill>
                  <a:srgbClr val="334FE4"/>
                </a:solidFill>
              </a:defRPr>
            </a:lvl5pPr>
            <a:lvl6pPr>
              <a:defRPr sz="2100" b="1">
                <a:solidFill>
                  <a:srgbClr val="334FE4"/>
                </a:solidFill>
              </a:defRPr>
            </a:lvl6pPr>
            <a:lvl7pPr>
              <a:defRPr sz="2100" b="1">
                <a:solidFill>
                  <a:srgbClr val="334FE4"/>
                </a:solidFill>
              </a:defRPr>
            </a:lvl7pPr>
            <a:lvl8pPr>
              <a:defRPr sz="2100" b="1">
                <a:solidFill>
                  <a:srgbClr val="334FE4"/>
                </a:solidFill>
              </a:defRPr>
            </a:lvl8pPr>
            <a:lvl9pPr>
              <a:defRPr sz="2100" b="1">
                <a:solidFill>
                  <a:srgbClr val="334FE4"/>
                </a:solidFill>
              </a:defRPr>
            </a:lvl9pPr>
          </a:lstStyle>
          <a:p xmlns:a="http://schemas.openxmlformats.org/drawingml/2006/main">
            <a:pPr>
              <a:defRPr sz="2100" b="1">
                <a:solidFill>
                  <a:srgbClr val="334FE4"/>
                </a:solidFill>
              </a:defRPr>
            </a:pPr>
            <a:r>
              <a:rPr sz="2100" b="1">
                <a:solidFill>
                  <a:srgbClr val="334FE4"/>
                </a:solidFill>
              </a:rPr>
              <a:t>Monitor exceptions</a:t>
            </a:r>
          </a:p>
        </p:txBody>
      </p:sp>
      <p:sp>
        <p:nvSpPr>
          <p:cNvPr id="8" name="Explanation">
            <a:extLst xmlns:a="http://schemas.openxmlformats.org/drawingml/2006/main">
              <a:ext uri="{FF2B5EF4-FFF2-40B4-BE49-F238E27FC236}">
                <a16:creationId xmlns:a16="http://schemas.microsoft.com/office/drawing/2014/main" id="{8FD65B55-D65D-4B98-BCB9-644D8C954702}"/>
              </a:ext>
            </a:extLst>
          </p:cNvPr>
          <p:cNvSpPr>
            <a:spLocks xmlns:a="http://schemas.openxmlformats.org/drawingml/2006/main" noGrp="1"/>
          </p:cNvSpPr>
          <p:nvPr/>
        </p:nvSpPr>
        <p:spPr>
          <a:xfrm xmlns:a="http://schemas.openxmlformats.org/drawingml/2006/main">
            <a:off x="4048125" y="3667125"/>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342"/>
                </a:solidFill>
              </a:defRPr>
            </a:defPPr>
            <a:lvl1pPr>
              <a:defRPr sz="1950" b="0">
                <a:solidFill>
                  <a:srgbClr val="172342"/>
                </a:solidFill>
              </a:defRPr>
            </a:lvl1pPr>
            <a:lvl2pPr>
              <a:defRPr sz="1950" b="0">
                <a:solidFill>
                  <a:srgbClr val="172342"/>
                </a:solidFill>
              </a:defRPr>
            </a:lvl2pPr>
            <a:lvl3pPr>
              <a:defRPr sz="1950" b="0">
                <a:solidFill>
                  <a:srgbClr val="172342"/>
                </a:solidFill>
              </a:defRPr>
            </a:lvl3pPr>
            <a:lvl4pPr>
              <a:defRPr sz="1950" b="0">
                <a:solidFill>
                  <a:srgbClr val="172342"/>
                </a:solidFill>
              </a:defRPr>
            </a:lvl4pPr>
            <a:lvl5pPr>
              <a:defRPr sz="1950" b="0">
                <a:solidFill>
                  <a:srgbClr val="172342"/>
                </a:solidFill>
              </a:defRPr>
            </a:lvl5pPr>
            <a:lvl6pPr>
              <a:defRPr sz="1950" b="0">
                <a:solidFill>
                  <a:srgbClr val="172342"/>
                </a:solidFill>
              </a:defRPr>
            </a:lvl6pPr>
            <a:lvl7pPr>
              <a:defRPr sz="1950" b="0">
                <a:solidFill>
                  <a:srgbClr val="172342"/>
                </a:solidFill>
              </a:defRPr>
            </a:lvl7pPr>
            <a:lvl8pPr>
              <a:defRPr sz="1950" b="0">
                <a:solidFill>
                  <a:srgbClr val="172342"/>
                </a:solidFill>
              </a:defRPr>
            </a:lvl8pPr>
            <a:lvl9pPr>
              <a:defRPr sz="1950" b="0">
                <a:solidFill>
                  <a:srgbClr val="172342"/>
                </a:solidFill>
              </a:defRPr>
            </a:lvl9pPr>
          </a:lstStyle>
          <a:p xmlns:a="http://schemas.openxmlformats.org/drawingml/2006/main">
            <a:pPr>
              <a:defRPr sz="1950" b="0">
                <a:solidFill>
                  <a:srgbClr val="172342"/>
                </a:solidFill>
              </a:defRPr>
            </a:pPr>
            <a:r>
              <a:rPr sz="1950" b="0">
                <a:solidFill>
                  <a:srgbClr val="172342"/>
                </a:solidFill>
              </a:rPr>
              <a:t>Empty Payments is distinct from a null list. Missing records do not prove nonpayment.</a:t>
            </a:r>
          </a:p>
        </p:txBody>
      </p:sp>
      <p:sp>
        <p:nvSpPr>
          <p:cNvPr id="9" name="Concept">
            <a:extLst xmlns:a="http://schemas.openxmlformats.org/drawingml/2006/main">
              <a:ext uri="{FF2B5EF4-FFF2-40B4-BE49-F238E27FC236}">
                <a16:creationId xmlns:a16="http://schemas.microsoft.com/office/drawing/2014/main" id="{A244E2B6-93A4-4316-97D8-71A7684A2AEF}"/>
              </a:ext>
            </a:extLst>
          </p:cNvPr>
          <p:cNvSpPr>
            <a:spLocks xmlns:a="http://schemas.openxmlformats.org/drawingml/2006/main" noGrp="1"/>
          </p:cNvSpPr>
          <p:nvPr/>
        </p:nvSpPr>
        <p:spPr>
          <a:xfrm xmlns:a="http://schemas.openxmlformats.org/drawingml/2006/main">
            <a:off x="666750" y="4714875"/>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34FE4"/>
                </a:solidFill>
              </a:defRPr>
            </a:defPPr>
            <a:lvl1pPr>
              <a:defRPr sz="2100" b="1">
                <a:solidFill>
                  <a:srgbClr val="334FE4"/>
                </a:solidFill>
              </a:defRPr>
            </a:lvl1pPr>
            <a:lvl2pPr>
              <a:defRPr sz="2100" b="1">
                <a:solidFill>
                  <a:srgbClr val="334FE4"/>
                </a:solidFill>
              </a:defRPr>
            </a:lvl2pPr>
            <a:lvl3pPr>
              <a:defRPr sz="2100" b="1">
                <a:solidFill>
                  <a:srgbClr val="334FE4"/>
                </a:solidFill>
              </a:defRPr>
            </a:lvl3pPr>
            <a:lvl4pPr>
              <a:defRPr sz="2100" b="1">
                <a:solidFill>
                  <a:srgbClr val="334FE4"/>
                </a:solidFill>
              </a:defRPr>
            </a:lvl4pPr>
            <a:lvl5pPr>
              <a:defRPr sz="2100" b="1">
                <a:solidFill>
                  <a:srgbClr val="334FE4"/>
                </a:solidFill>
              </a:defRPr>
            </a:lvl5pPr>
            <a:lvl6pPr>
              <a:defRPr sz="2100" b="1">
                <a:solidFill>
                  <a:srgbClr val="334FE4"/>
                </a:solidFill>
              </a:defRPr>
            </a:lvl6pPr>
            <a:lvl7pPr>
              <a:defRPr sz="2100" b="1">
                <a:solidFill>
                  <a:srgbClr val="334FE4"/>
                </a:solidFill>
              </a:defRPr>
            </a:lvl7pPr>
            <a:lvl8pPr>
              <a:defRPr sz="2100" b="1">
                <a:solidFill>
                  <a:srgbClr val="334FE4"/>
                </a:solidFill>
              </a:defRPr>
            </a:lvl8pPr>
            <a:lvl9pPr>
              <a:defRPr sz="2100" b="1">
                <a:solidFill>
                  <a:srgbClr val="334FE4"/>
                </a:solidFill>
              </a:defRPr>
            </a:lvl9pPr>
          </a:lstStyle>
          <a:p xmlns:a="http://schemas.openxmlformats.org/drawingml/2006/main">
            <a:pPr>
              <a:defRPr sz="2100" b="1">
                <a:solidFill>
                  <a:srgbClr val="334FE4"/>
                </a:solidFill>
              </a:defRPr>
            </a:pPr>
            <a:r>
              <a:rPr sz="2100" b="1">
                <a:solidFill>
                  <a:srgbClr val="334FE4"/>
                </a:solidFill>
              </a:rPr>
              <a:t>Reconcile outputs</a:t>
            </a:r>
          </a:p>
        </p:txBody>
      </p:sp>
      <p:sp>
        <p:nvSpPr>
          <p:cNvPr id="10" name="Explanation">
            <a:extLst xmlns:a="http://schemas.openxmlformats.org/drawingml/2006/main">
              <a:ext uri="{FF2B5EF4-FFF2-40B4-BE49-F238E27FC236}">
                <a16:creationId xmlns:a16="http://schemas.microsoft.com/office/drawing/2014/main" id="{119ED5D8-2327-4BBB-9296-7EBB7B312BF7}"/>
              </a:ext>
            </a:extLst>
          </p:cNvPr>
          <p:cNvSpPr>
            <a:spLocks xmlns:a="http://schemas.openxmlformats.org/drawingml/2006/main" noGrp="1"/>
          </p:cNvSpPr>
          <p:nvPr/>
        </p:nvSpPr>
        <p:spPr>
          <a:xfrm xmlns:a="http://schemas.openxmlformats.org/drawingml/2006/main">
            <a:off x="4048125" y="4714875"/>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342"/>
                </a:solidFill>
              </a:defRPr>
            </a:defPPr>
            <a:lvl1pPr>
              <a:defRPr sz="1950" b="0">
                <a:solidFill>
                  <a:srgbClr val="172342"/>
                </a:solidFill>
              </a:defRPr>
            </a:lvl1pPr>
            <a:lvl2pPr>
              <a:defRPr sz="1950" b="0">
                <a:solidFill>
                  <a:srgbClr val="172342"/>
                </a:solidFill>
              </a:defRPr>
            </a:lvl2pPr>
            <a:lvl3pPr>
              <a:defRPr sz="1950" b="0">
                <a:solidFill>
                  <a:srgbClr val="172342"/>
                </a:solidFill>
              </a:defRPr>
            </a:lvl3pPr>
            <a:lvl4pPr>
              <a:defRPr sz="1950" b="0">
                <a:solidFill>
                  <a:srgbClr val="172342"/>
                </a:solidFill>
              </a:defRPr>
            </a:lvl4pPr>
            <a:lvl5pPr>
              <a:defRPr sz="1950" b="0">
                <a:solidFill>
                  <a:srgbClr val="172342"/>
                </a:solidFill>
              </a:defRPr>
            </a:lvl5pPr>
            <a:lvl6pPr>
              <a:defRPr sz="1950" b="0">
                <a:solidFill>
                  <a:srgbClr val="172342"/>
                </a:solidFill>
              </a:defRPr>
            </a:lvl6pPr>
            <a:lvl7pPr>
              <a:defRPr sz="1950" b="0">
                <a:solidFill>
                  <a:srgbClr val="172342"/>
                </a:solidFill>
              </a:defRPr>
            </a:lvl7pPr>
            <a:lvl8pPr>
              <a:defRPr sz="1950" b="0">
                <a:solidFill>
                  <a:srgbClr val="172342"/>
                </a:solidFill>
              </a:defRPr>
            </a:lvl8pPr>
            <a:lvl9pPr>
              <a:defRPr sz="1950" b="0">
                <a:solidFill>
                  <a:srgbClr val="172342"/>
                </a:solidFill>
              </a:defRPr>
            </a:lvl9pPr>
          </a:lstStyle>
          <a:p xmlns:a="http://schemas.openxmlformats.org/drawingml/2006/main">
            <a:pPr>
              <a:defRPr sz="1950" b="0">
                <a:solidFill>
                  <a:srgbClr val="172342"/>
                </a:solidFill>
              </a:defRPr>
            </a:pPr>
            <a:r>
              <a:rPr sz="1950" b="0">
                <a:solidFill>
                  <a:srgbClr val="172342"/>
                </a:solidFill>
              </a:rPr>
              <a:t>Raw = accepted + quarantine + out of scope. Child counts and signed sums must reconcile.</a:t>
            </a:r>
          </a:p>
        </p:txBody>
      </p:sp>
      <p:sp>
        <p:nvSpPr>
          <p:cNvPr id="11" name="Source and scope">
            <a:extLst xmlns:a="http://schemas.openxmlformats.org/drawingml/2006/main">
              <a:ext uri="{FF2B5EF4-FFF2-40B4-BE49-F238E27FC236}">
                <a16:creationId xmlns:a16="http://schemas.microsoft.com/office/drawing/2014/main" id="{D249B7FE-BA97-4CF1-BD34-E69A2648901E}"/>
              </a:ext>
            </a:extLst>
          </p:cNvPr>
          <p:cNvSpPr>
            <a:spLocks xmlns:a="http://schemas.openxmlformats.org/drawingml/2006/main" noGrp="1"/>
          </p:cNvSpPr>
          <p:nvPr/>
        </p:nvSpPr>
        <p:spPr>
          <a:xfrm xmlns:a="http://schemas.openxmlformats.org/drawingml/2006/main">
            <a:off x="666750" y="61912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defRPr>
            </a:defPPr>
            <a:lvl1pPr>
              <a:defRPr sz="1350" b="0">
                <a:solidFill>
                  <a:srgbClr val="526078"/>
                </a:solidFill>
              </a:defRPr>
            </a:lvl1pPr>
            <a:lvl2pPr>
              <a:defRPr sz="1350" b="0">
                <a:solidFill>
                  <a:srgbClr val="526078"/>
                </a:solidFill>
              </a:defRPr>
            </a:lvl2pPr>
            <a:lvl3pPr>
              <a:defRPr sz="1350" b="0">
                <a:solidFill>
                  <a:srgbClr val="526078"/>
                </a:solidFill>
              </a:defRPr>
            </a:lvl3pPr>
            <a:lvl4pPr>
              <a:defRPr sz="1350" b="0">
                <a:solidFill>
                  <a:srgbClr val="526078"/>
                </a:solidFill>
              </a:defRPr>
            </a:lvl4pPr>
            <a:lvl5pPr>
              <a:defRPr sz="1350" b="0">
                <a:solidFill>
                  <a:srgbClr val="526078"/>
                </a:solidFill>
              </a:defRPr>
            </a:lvl5pPr>
            <a:lvl6pPr>
              <a:defRPr sz="1350" b="0">
                <a:solidFill>
                  <a:srgbClr val="526078"/>
                </a:solidFill>
              </a:defRPr>
            </a:lvl6pPr>
            <a:lvl7pPr>
              <a:defRPr sz="1350" b="0">
                <a:solidFill>
                  <a:srgbClr val="526078"/>
                </a:solidFill>
              </a:defRPr>
            </a:lvl7pPr>
            <a:lvl8pPr>
              <a:defRPr sz="1350" b="0">
                <a:solidFill>
                  <a:srgbClr val="526078"/>
                </a:solidFill>
              </a:defRPr>
            </a:lvl8pPr>
            <a:lvl9pPr>
              <a:defRPr sz="1350" b="0">
                <a:solidFill>
                  <a:srgbClr val="526078"/>
                </a:solidFill>
              </a:defRPr>
            </a:lvl9pPr>
          </a:lstStyle>
          <a:p xmlns:a="http://schemas.openxmlformats.org/drawingml/2006/main">
            <a:pPr>
              <a:defRPr sz="1350" b="0">
                <a:solidFill>
                  <a:srgbClr val="526078"/>
                </a:solidFill>
              </a:defRPr>
            </a:pPr>
            <a:r>
              <a:rPr sz="1350" b="0">
                <a:solidFill>
                  <a:srgbClr val="526078"/>
                </a:solidFill>
              </a:rPr>
              <a:t>Runtime: 0 duplicate keys, 0 corrupt records, 0 quarantine. 3,856 empty payment lists retained.</a:t>
            </a:r>
          </a:p>
        </p:txBody>
      </p:sp>
    </p:spTree>
    <p:extLst>
      <p:ext uri="{BB962C8B-B14F-4D97-AF65-F5344CB8AC3E}">
        <p14:creationId xmlns:p14="http://schemas.microsoft.com/office/powerpoint/2010/main" val="73311219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F845861-0E4B-4563-87A3-BFF8F1BDF410}"/>
              </a:ext>
            </a:extLst>
          </p:cNvPr>
          <p:cNvSpPr>
            <a:spLocks xmlns:a="http://schemas.openxmlformats.org/drawingml/2006/main" noGrp="1"/>
          </p:cNvSpPr>
          <p:nvPr/>
        </p:nvSpPr>
        <p:spPr>
          <a:xfrm xmlns:a="http://schemas.openxmlformats.org/drawingml/2006/main">
            <a:off x="647700" y="438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34FE4"/>
                </a:solidFill>
              </a:defRPr>
            </a:defPPr>
            <a:lvl1pPr>
              <a:defRPr sz="3300" b="1">
                <a:solidFill>
                  <a:srgbClr val="334FE4"/>
                </a:solidFill>
              </a:defRPr>
            </a:lvl1pPr>
            <a:lvl2pPr>
              <a:defRPr sz="3300" b="1">
                <a:solidFill>
                  <a:srgbClr val="334FE4"/>
                </a:solidFill>
              </a:defRPr>
            </a:lvl2pPr>
            <a:lvl3pPr>
              <a:defRPr sz="3300" b="1">
                <a:solidFill>
                  <a:srgbClr val="334FE4"/>
                </a:solidFill>
              </a:defRPr>
            </a:lvl3pPr>
            <a:lvl4pPr>
              <a:defRPr sz="3300" b="1">
                <a:solidFill>
                  <a:srgbClr val="334FE4"/>
                </a:solidFill>
              </a:defRPr>
            </a:lvl4pPr>
            <a:lvl5pPr>
              <a:defRPr sz="3300" b="1">
                <a:solidFill>
                  <a:srgbClr val="334FE4"/>
                </a:solidFill>
              </a:defRPr>
            </a:lvl5pPr>
            <a:lvl6pPr>
              <a:defRPr sz="3300" b="1">
                <a:solidFill>
                  <a:srgbClr val="334FE4"/>
                </a:solidFill>
              </a:defRPr>
            </a:lvl6pPr>
            <a:lvl7pPr>
              <a:defRPr sz="3300" b="1">
                <a:solidFill>
                  <a:srgbClr val="334FE4"/>
                </a:solidFill>
              </a:defRPr>
            </a:lvl7pPr>
            <a:lvl8pPr>
              <a:defRPr sz="3300" b="1">
                <a:solidFill>
                  <a:srgbClr val="334FE4"/>
                </a:solidFill>
              </a:defRPr>
            </a:lvl8pPr>
            <a:lvl9pPr>
              <a:defRPr sz="3300" b="1">
                <a:solidFill>
                  <a:srgbClr val="334FE4"/>
                </a:solidFill>
              </a:defRPr>
            </a:lvl9pPr>
          </a:lstStyle>
          <a:p xmlns:a="http://schemas.openxmlformats.org/drawingml/2006/main">
            <a:pPr>
              <a:defRPr sz="3300" b="1">
                <a:solidFill>
                  <a:srgbClr val="334FE4"/>
                </a:solidFill>
              </a:defRPr>
            </a:pPr>
            <a:r>
              <a:rPr sz="3300" b="1">
                <a:solidFill>
                  <a:srgbClr val="334FE4"/>
                </a:solidFill>
              </a:rPr>
              <a:t>Job orchestration and recovery</a:t>
            </a:r>
          </a:p>
        </p:txBody>
      </p:sp>
      <p:sp>
        <p:nvSpPr>
          <p:cNvPr id="3" name="Task1">
            <a:extLst xmlns:a="http://schemas.openxmlformats.org/drawingml/2006/main">
              <a:ext uri="{FF2B5EF4-FFF2-40B4-BE49-F238E27FC236}">
                <a16:creationId xmlns:a16="http://schemas.microsoft.com/office/drawing/2014/main" id="{6BD9CDC1-B749-4B7F-890E-35258F9102D6}"/>
              </a:ext>
            </a:extLst>
          </p:cNvPr>
          <p:cNvSpPr>
            <a:spLocks xmlns:a="http://schemas.openxmlformats.org/drawingml/2006/main" noGrp="1"/>
          </p:cNvSpPr>
          <p:nvPr/>
        </p:nvSpPr>
        <p:spPr>
          <a:xfrm xmlns:a="http://schemas.openxmlformats.org/drawingml/2006/main">
            <a:off x="666750" y="15240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334FE4"/>
                </a:solidFill>
              </a:defRPr>
            </a:defPPr>
            <a:lvl1pPr>
              <a:defRPr sz="2550" b="1">
                <a:solidFill>
                  <a:srgbClr val="334FE4"/>
                </a:solidFill>
              </a:defRPr>
            </a:lvl1pPr>
            <a:lvl2pPr>
              <a:defRPr sz="2550" b="1">
                <a:solidFill>
                  <a:srgbClr val="334FE4"/>
                </a:solidFill>
              </a:defRPr>
            </a:lvl2pPr>
            <a:lvl3pPr>
              <a:defRPr sz="2550" b="1">
                <a:solidFill>
                  <a:srgbClr val="334FE4"/>
                </a:solidFill>
              </a:defRPr>
            </a:lvl3pPr>
            <a:lvl4pPr>
              <a:defRPr sz="2550" b="1">
                <a:solidFill>
                  <a:srgbClr val="334FE4"/>
                </a:solidFill>
              </a:defRPr>
            </a:lvl4pPr>
            <a:lvl5pPr>
              <a:defRPr sz="2550" b="1">
                <a:solidFill>
                  <a:srgbClr val="334FE4"/>
                </a:solidFill>
              </a:defRPr>
            </a:lvl5pPr>
            <a:lvl6pPr>
              <a:defRPr sz="2550" b="1">
                <a:solidFill>
                  <a:srgbClr val="334FE4"/>
                </a:solidFill>
              </a:defRPr>
            </a:lvl6pPr>
            <a:lvl7pPr>
              <a:defRPr sz="2550" b="1">
                <a:solidFill>
                  <a:srgbClr val="334FE4"/>
                </a:solidFill>
              </a:defRPr>
            </a:lvl7pPr>
            <a:lvl8pPr>
              <a:defRPr sz="2550" b="1">
                <a:solidFill>
                  <a:srgbClr val="334FE4"/>
                </a:solidFill>
              </a:defRPr>
            </a:lvl8pPr>
            <a:lvl9pPr>
              <a:defRPr sz="2550" b="1">
                <a:solidFill>
                  <a:srgbClr val="334FE4"/>
                </a:solidFill>
              </a:defRPr>
            </a:lvl9pPr>
          </a:lstStyle>
          <a:p xmlns:a="http://schemas.openxmlformats.org/drawingml/2006/main">
            <a:pPr>
              <a:defRPr sz="2550" b="1">
                <a:solidFill>
                  <a:srgbClr val="334FE4"/>
                </a:solidFill>
              </a:defRPr>
            </a:pPr>
            <a:r>
              <a:rPr sz="2550" b="1">
                <a:solidFill>
                  <a:srgbClr val="334FE4"/>
                </a:solidFill>
              </a:rPr>
              <a:t>01  Prepare source files</a:t>
            </a:r>
          </a:p>
        </p:txBody>
      </p:sp>
      <p:sp>
        <p:nvSpPr>
          <p:cNvPr id="4" name="Task1 details">
            <a:extLst xmlns:a="http://schemas.openxmlformats.org/drawingml/2006/main">
              <a:ext uri="{FF2B5EF4-FFF2-40B4-BE49-F238E27FC236}">
                <a16:creationId xmlns:a16="http://schemas.microsoft.com/office/drawing/2014/main" id="{5FF9739C-DDCB-4692-92A9-8096D9B44755}"/>
              </a:ext>
            </a:extLst>
          </p:cNvPr>
          <p:cNvSpPr>
            <a:spLocks xmlns:a="http://schemas.openxmlformats.org/drawingml/2006/main" noGrp="1"/>
          </p:cNvSpPr>
          <p:nvPr/>
        </p:nvSpPr>
        <p:spPr>
          <a:xfrm xmlns:a="http://schemas.openxmlformats.org/drawingml/2006/main">
            <a:off x="666750" y="20478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342"/>
                </a:solidFill>
              </a:defRPr>
            </a:defPPr>
            <a:lvl1pPr>
              <a:defRPr sz="2100" b="0">
                <a:solidFill>
                  <a:srgbClr val="172342"/>
                </a:solidFill>
              </a:defRPr>
            </a:lvl1pPr>
            <a:lvl2pPr>
              <a:defRPr sz="2100" b="0">
                <a:solidFill>
                  <a:srgbClr val="172342"/>
                </a:solidFill>
              </a:defRPr>
            </a:lvl2pPr>
            <a:lvl3pPr>
              <a:defRPr sz="2100" b="0">
                <a:solidFill>
                  <a:srgbClr val="172342"/>
                </a:solidFill>
              </a:defRPr>
            </a:lvl3pPr>
            <a:lvl4pPr>
              <a:defRPr sz="2100" b="0">
                <a:solidFill>
                  <a:srgbClr val="172342"/>
                </a:solidFill>
              </a:defRPr>
            </a:lvl4pPr>
            <a:lvl5pPr>
              <a:defRPr sz="2100" b="0">
                <a:solidFill>
                  <a:srgbClr val="172342"/>
                </a:solidFill>
              </a:defRPr>
            </a:lvl5pPr>
            <a:lvl6pPr>
              <a:defRPr sz="2100" b="0">
                <a:solidFill>
                  <a:srgbClr val="172342"/>
                </a:solidFill>
              </a:defRPr>
            </a:lvl6pPr>
            <a:lvl7pPr>
              <a:defRPr sz="2100" b="0">
                <a:solidFill>
                  <a:srgbClr val="172342"/>
                </a:solidFill>
              </a:defRPr>
            </a:lvl7pPr>
            <a:lvl8pPr>
              <a:defRPr sz="2100" b="0">
                <a:solidFill>
                  <a:srgbClr val="172342"/>
                </a:solidFill>
              </a:defRPr>
            </a:lvl8pPr>
            <a:lvl9pPr>
              <a:defRPr sz="2100" b="0">
                <a:solidFill>
                  <a:srgbClr val="172342"/>
                </a:solidFill>
              </a:defRPr>
            </a:lvl9pPr>
          </a:lstStyle>
          <a:p xmlns:a="http://schemas.openxmlformats.org/drawingml/2006/main">
            <a:pPr>
              <a:defRPr sz="2100" b="0">
                <a:solidFill>
                  <a:srgbClr val="172342"/>
                </a:solidFill>
              </a:defRPr>
            </a:pPr>
            <a:r>
              <a:rPr sz="2100" b="0">
                <a:solidFill>
                  <a:srgbClr val="172342"/>
                </a:solidFill>
              </a:rPr>
              <a:t>Verify source hashes and reuse bounded JSON Lines files.</a:t>
            </a:r>
          </a:p>
        </p:txBody>
      </p:sp>
      <p:sp>
        <p:nvSpPr>
          <p:cNvPr id="5" name="Task2">
            <a:extLst xmlns:a="http://schemas.openxmlformats.org/drawingml/2006/main">
              <a:ext uri="{FF2B5EF4-FFF2-40B4-BE49-F238E27FC236}">
                <a16:creationId xmlns:a16="http://schemas.microsoft.com/office/drawing/2014/main" id="{5A689983-E202-4591-98C7-232CA9B785E9}"/>
              </a:ext>
            </a:extLst>
          </p:cNvPr>
          <p:cNvSpPr>
            <a:spLocks xmlns:a="http://schemas.openxmlformats.org/drawingml/2006/main" noGrp="1"/>
          </p:cNvSpPr>
          <p:nvPr/>
        </p:nvSpPr>
        <p:spPr>
          <a:xfrm xmlns:a="http://schemas.openxmlformats.org/drawingml/2006/main">
            <a:off x="666750" y="29527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334FE4"/>
                </a:solidFill>
              </a:defRPr>
            </a:defPPr>
            <a:lvl1pPr>
              <a:defRPr sz="2550" b="1">
                <a:solidFill>
                  <a:srgbClr val="334FE4"/>
                </a:solidFill>
              </a:defRPr>
            </a:lvl1pPr>
            <a:lvl2pPr>
              <a:defRPr sz="2550" b="1">
                <a:solidFill>
                  <a:srgbClr val="334FE4"/>
                </a:solidFill>
              </a:defRPr>
            </a:lvl2pPr>
            <a:lvl3pPr>
              <a:defRPr sz="2550" b="1">
                <a:solidFill>
                  <a:srgbClr val="334FE4"/>
                </a:solidFill>
              </a:defRPr>
            </a:lvl3pPr>
            <a:lvl4pPr>
              <a:defRPr sz="2550" b="1">
                <a:solidFill>
                  <a:srgbClr val="334FE4"/>
                </a:solidFill>
              </a:defRPr>
            </a:lvl4pPr>
            <a:lvl5pPr>
              <a:defRPr sz="2550" b="1">
                <a:solidFill>
                  <a:srgbClr val="334FE4"/>
                </a:solidFill>
              </a:defRPr>
            </a:lvl5pPr>
            <a:lvl6pPr>
              <a:defRPr sz="2550" b="1">
                <a:solidFill>
                  <a:srgbClr val="334FE4"/>
                </a:solidFill>
              </a:defRPr>
            </a:lvl6pPr>
            <a:lvl7pPr>
              <a:defRPr sz="2550" b="1">
                <a:solidFill>
                  <a:srgbClr val="334FE4"/>
                </a:solidFill>
              </a:defRPr>
            </a:lvl7pPr>
            <a:lvl8pPr>
              <a:defRPr sz="2550" b="1">
                <a:solidFill>
                  <a:srgbClr val="334FE4"/>
                </a:solidFill>
              </a:defRPr>
            </a:lvl8pPr>
            <a:lvl9pPr>
              <a:defRPr sz="2550" b="1">
                <a:solidFill>
                  <a:srgbClr val="334FE4"/>
                </a:solidFill>
              </a:defRPr>
            </a:lvl9pPr>
          </a:lstStyle>
          <a:p xmlns:a="http://schemas.openxmlformats.org/drawingml/2006/main">
            <a:pPr>
              <a:defRPr sz="2550" b="1">
                <a:solidFill>
                  <a:srgbClr val="334FE4"/>
                </a:solidFill>
              </a:defRPr>
            </a:pPr>
            <a:r>
              <a:rPr sz="2550" b="1">
                <a:solidFill>
                  <a:srgbClr val="334FE4"/>
                </a:solidFill>
              </a:rPr>
              <a:t>02  Refresh the Lakeflow pipeline</a:t>
            </a:r>
          </a:p>
        </p:txBody>
      </p:sp>
      <p:sp>
        <p:nvSpPr>
          <p:cNvPr id="6" name="Task2 details">
            <a:extLst xmlns:a="http://schemas.openxmlformats.org/drawingml/2006/main">
              <a:ext uri="{FF2B5EF4-FFF2-40B4-BE49-F238E27FC236}">
                <a16:creationId xmlns:a16="http://schemas.microsoft.com/office/drawing/2014/main" id="{4E36D5CA-D067-4200-A08C-BF3EB1DDE4DD}"/>
              </a:ext>
            </a:extLst>
          </p:cNvPr>
          <p:cNvSpPr>
            <a:spLocks xmlns:a="http://schemas.openxmlformats.org/drawingml/2006/main" noGrp="1"/>
          </p:cNvSpPr>
          <p:nvPr/>
        </p:nvSpPr>
        <p:spPr>
          <a:xfrm xmlns:a="http://schemas.openxmlformats.org/drawingml/2006/main">
            <a:off x="666750" y="3476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342"/>
                </a:solidFill>
              </a:defRPr>
            </a:defPPr>
            <a:lvl1pPr>
              <a:defRPr sz="2100" b="0">
                <a:solidFill>
                  <a:srgbClr val="172342"/>
                </a:solidFill>
              </a:defRPr>
            </a:lvl1pPr>
            <a:lvl2pPr>
              <a:defRPr sz="2100" b="0">
                <a:solidFill>
                  <a:srgbClr val="172342"/>
                </a:solidFill>
              </a:defRPr>
            </a:lvl2pPr>
            <a:lvl3pPr>
              <a:defRPr sz="2100" b="0">
                <a:solidFill>
                  <a:srgbClr val="172342"/>
                </a:solidFill>
              </a:defRPr>
            </a:lvl3pPr>
            <a:lvl4pPr>
              <a:defRPr sz="2100" b="0">
                <a:solidFill>
                  <a:srgbClr val="172342"/>
                </a:solidFill>
              </a:defRPr>
            </a:lvl4pPr>
            <a:lvl5pPr>
              <a:defRPr sz="2100" b="0">
                <a:solidFill>
                  <a:srgbClr val="172342"/>
                </a:solidFill>
              </a:defRPr>
            </a:lvl5pPr>
            <a:lvl6pPr>
              <a:defRPr sz="2100" b="0">
                <a:solidFill>
                  <a:srgbClr val="172342"/>
                </a:solidFill>
              </a:defRPr>
            </a:lvl6pPr>
            <a:lvl7pPr>
              <a:defRPr sz="2100" b="0">
                <a:solidFill>
                  <a:srgbClr val="172342"/>
                </a:solidFill>
              </a:defRPr>
            </a:lvl7pPr>
            <a:lvl8pPr>
              <a:defRPr sz="2100" b="0">
                <a:solidFill>
                  <a:srgbClr val="172342"/>
                </a:solidFill>
              </a:defRPr>
            </a:lvl8pPr>
            <a:lvl9pPr>
              <a:defRPr sz="2100" b="0">
                <a:solidFill>
                  <a:srgbClr val="172342"/>
                </a:solidFill>
              </a:defRPr>
            </a:lvl9pPr>
          </a:lstStyle>
          <a:p xmlns:a="http://schemas.openxmlformats.org/drawingml/2006/main">
            <a:pPr>
              <a:defRPr sz="2100" b="0">
                <a:solidFill>
                  <a:srgbClr val="172342"/>
                </a:solidFill>
              </a:defRPr>
            </a:pPr>
            <a:r>
              <a:rPr sz="2100" b="0">
                <a:solidFill>
                  <a:srgbClr val="172342"/>
                </a:solidFill>
              </a:rPr>
              <a:t>Update nine Silver datasets and eighteen Gold datasets.</a:t>
            </a:r>
          </a:p>
        </p:txBody>
      </p:sp>
      <p:sp>
        <p:nvSpPr>
          <p:cNvPr id="7" name="Recovery">
            <a:extLst xmlns:a="http://schemas.openxmlformats.org/drawingml/2006/main">
              <a:ext uri="{FF2B5EF4-FFF2-40B4-BE49-F238E27FC236}">
                <a16:creationId xmlns:a16="http://schemas.microsoft.com/office/drawing/2014/main" id="{94F1084D-6299-44FC-B0E4-0701E47503BA}"/>
              </a:ext>
            </a:extLst>
          </p:cNvPr>
          <p:cNvSpPr>
            <a:spLocks xmlns:a="http://schemas.openxmlformats.org/drawingml/2006/main" noGrp="1"/>
          </p:cNvSpPr>
          <p:nvPr/>
        </p:nvSpPr>
        <p:spPr>
          <a:xfrm xmlns:a="http://schemas.openxmlformats.org/drawingml/2006/main">
            <a:off x="666750" y="43815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334FE4"/>
                </a:solidFill>
              </a:defRPr>
            </a:defPPr>
            <a:lvl1pPr>
              <a:defRPr sz="2550" b="1">
                <a:solidFill>
                  <a:srgbClr val="334FE4"/>
                </a:solidFill>
              </a:defRPr>
            </a:lvl1pPr>
            <a:lvl2pPr>
              <a:defRPr sz="2550" b="1">
                <a:solidFill>
                  <a:srgbClr val="334FE4"/>
                </a:solidFill>
              </a:defRPr>
            </a:lvl2pPr>
            <a:lvl3pPr>
              <a:defRPr sz="2550" b="1">
                <a:solidFill>
                  <a:srgbClr val="334FE4"/>
                </a:solidFill>
              </a:defRPr>
            </a:lvl3pPr>
            <a:lvl4pPr>
              <a:defRPr sz="2550" b="1">
                <a:solidFill>
                  <a:srgbClr val="334FE4"/>
                </a:solidFill>
              </a:defRPr>
            </a:lvl4pPr>
            <a:lvl5pPr>
              <a:defRPr sz="2550" b="1">
                <a:solidFill>
                  <a:srgbClr val="334FE4"/>
                </a:solidFill>
              </a:defRPr>
            </a:lvl5pPr>
            <a:lvl6pPr>
              <a:defRPr sz="2550" b="1">
                <a:solidFill>
                  <a:srgbClr val="334FE4"/>
                </a:solidFill>
              </a:defRPr>
            </a:lvl6pPr>
            <a:lvl7pPr>
              <a:defRPr sz="2550" b="1">
                <a:solidFill>
                  <a:srgbClr val="334FE4"/>
                </a:solidFill>
              </a:defRPr>
            </a:lvl7pPr>
            <a:lvl8pPr>
              <a:defRPr sz="2550" b="1">
                <a:solidFill>
                  <a:srgbClr val="334FE4"/>
                </a:solidFill>
              </a:defRPr>
            </a:lvl8pPr>
            <a:lvl9pPr>
              <a:defRPr sz="2550" b="1">
                <a:solidFill>
                  <a:srgbClr val="334FE4"/>
                </a:solidFill>
              </a:defRPr>
            </a:lvl9pPr>
          </a:lstStyle>
          <a:p xmlns:a="http://schemas.openxmlformats.org/drawingml/2006/main">
            <a:pPr>
              <a:defRPr sz="2550" b="1">
                <a:solidFill>
                  <a:srgbClr val="334FE4"/>
                </a:solidFill>
              </a:defRPr>
            </a:pPr>
            <a:r>
              <a:rPr sz="2550" b="1">
                <a:solidFill>
                  <a:srgbClr val="334FE4"/>
                </a:solidFill>
              </a:rPr>
              <a:t>03  Validate outputs</a:t>
            </a:r>
          </a:p>
        </p:txBody>
      </p:sp>
      <p:sp>
        <p:nvSpPr>
          <p:cNvPr id="8" name="Source and scope">
            <a:extLst xmlns:a="http://schemas.openxmlformats.org/drawingml/2006/main">
              <a:ext uri="{FF2B5EF4-FFF2-40B4-BE49-F238E27FC236}">
                <a16:creationId xmlns:a16="http://schemas.microsoft.com/office/drawing/2014/main" id="{45331BFE-7406-408A-8E62-0B2857D2C0A6}"/>
              </a:ext>
            </a:extLst>
          </p:cNvPr>
          <p:cNvSpPr>
            <a:spLocks xmlns:a="http://schemas.openxmlformats.org/drawingml/2006/main" noGrp="1"/>
          </p:cNvSpPr>
          <p:nvPr/>
        </p:nvSpPr>
        <p:spPr>
          <a:xfrm xmlns:a="http://schemas.openxmlformats.org/drawingml/2006/main">
            <a:off x="666750" y="4905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342"/>
                </a:solidFill>
              </a:defRPr>
            </a:defPPr>
            <a:lvl1pPr>
              <a:defRPr sz="2100" b="0">
                <a:solidFill>
                  <a:srgbClr val="172342"/>
                </a:solidFill>
              </a:defRPr>
            </a:lvl1pPr>
            <a:lvl2pPr>
              <a:defRPr sz="2100" b="0">
                <a:solidFill>
                  <a:srgbClr val="172342"/>
                </a:solidFill>
              </a:defRPr>
            </a:lvl2pPr>
            <a:lvl3pPr>
              <a:defRPr sz="2100" b="0">
                <a:solidFill>
                  <a:srgbClr val="172342"/>
                </a:solidFill>
              </a:defRPr>
            </a:lvl3pPr>
            <a:lvl4pPr>
              <a:defRPr sz="2100" b="0">
                <a:solidFill>
                  <a:srgbClr val="172342"/>
                </a:solidFill>
              </a:defRPr>
            </a:lvl4pPr>
            <a:lvl5pPr>
              <a:defRPr sz="2100" b="0">
                <a:solidFill>
                  <a:srgbClr val="172342"/>
                </a:solidFill>
              </a:defRPr>
            </a:lvl5pPr>
            <a:lvl6pPr>
              <a:defRPr sz="2100" b="0">
                <a:solidFill>
                  <a:srgbClr val="172342"/>
                </a:solidFill>
              </a:defRPr>
            </a:lvl6pPr>
            <a:lvl7pPr>
              <a:defRPr sz="2100" b="0">
                <a:solidFill>
                  <a:srgbClr val="172342"/>
                </a:solidFill>
              </a:defRPr>
            </a:lvl7pPr>
            <a:lvl8pPr>
              <a:defRPr sz="2100" b="0">
                <a:solidFill>
                  <a:srgbClr val="172342"/>
                </a:solidFill>
              </a:defRPr>
            </a:lvl8pPr>
            <a:lvl9pPr>
              <a:defRPr sz="2100" b="0">
                <a:solidFill>
                  <a:srgbClr val="172342"/>
                </a:solidFill>
              </a:defRPr>
            </a:lvl9pPr>
          </a:lstStyle>
          <a:p xmlns:a="http://schemas.openxmlformats.org/drawingml/2006/main">
            <a:pPr>
              <a:defRPr sz="2100" b="0">
                <a:solidFill>
                  <a:srgbClr val="172342"/>
                </a:solidFill>
              </a:defRPr>
            </a:pPr>
            <a:r>
              <a:rPr sz="2100" b="0">
                <a:solidFill>
                  <a:srgbClr val="172342"/>
                </a:solidFill>
              </a:rPr>
              <a:t>28 audit results passed. First complete job finished in 19 min 34 s.</a:t>
            </a:r>
          </a:p>
        </p:txBody>
      </p:sp>
      <p:sp>
        <p:nvSpPr>
          <p:cNvPr id="9" name="Runtime policy">
            <a:extLst xmlns:a="http://schemas.openxmlformats.org/drawingml/2006/main">
              <a:ext uri="{FF2B5EF4-FFF2-40B4-BE49-F238E27FC236}">
                <a16:creationId xmlns:a16="http://schemas.microsoft.com/office/drawing/2014/main" id="{4019F3EC-52B1-486D-B873-1F54354E9BDE}"/>
              </a:ext>
            </a:extLst>
          </p:cNvPr>
          <p:cNvSpPr>
            <a:spLocks xmlns:a="http://schemas.openxmlformats.org/drawingml/2006/main" noGrp="1"/>
          </p:cNvSpPr>
          <p:nvPr/>
        </p:nvSpPr>
        <p:spPr>
          <a:xfrm xmlns:a="http://schemas.openxmlformats.org/drawingml/2006/main">
            <a:off x="666750" y="6096000"/>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526078"/>
                </a:solidFill>
              </a:defRPr>
            </a:defPPr>
            <a:lvl1pPr>
              <a:defRPr sz="1350">
                <a:solidFill>
                  <a:srgbClr val="526078"/>
                </a:solidFill>
              </a:defRPr>
            </a:lvl1pPr>
            <a:lvl2pPr>
              <a:defRPr sz="1350">
                <a:solidFill>
                  <a:srgbClr val="526078"/>
                </a:solidFill>
              </a:defRPr>
            </a:lvl2pPr>
            <a:lvl3pPr>
              <a:defRPr sz="1350">
                <a:solidFill>
                  <a:srgbClr val="526078"/>
                </a:solidFill>
              </a:defRPr>
            </a:lvl3pPr>
            <a:lvl4pPr>
              <a:defRPr sz="1350">
                <a:solidFill>
                  <a:srgbClr val="526078"/>
                </a:solidFill>
              </a:defRPr>
            </a:lvl4pPr>
            <a:lvl5pPr>
              <a:defRPr sz="1350">
                <a:solidFill>
                  <a:srgbClr val="526078"/>
                </a:solidFill>
              </a:defRPr>
            </a:lvl5pPr>
            <a:lvl6pPr>
              <a:defRPr sz="1350">
                <a:solidFill>
                  <a:srgbClr val="526078"/>
                </a:solidFill>
              </a:defRPr>
            </a:lvl6pPr>
            <a:lvl7pPr>
              <a:defRPr sz="1350">
                <a:solidFill>
                  <a:srgbClr val="526078"/>
                </a:solidFill>
              </a:defRPr>
            </a:lvl7pPr>
            <a:lvl8pPr>
              <a:defRPr sz="1350">
                <a:solidFill>
                  <a:srgbClr val="526078"/>
                </a:solidFill>
              </a:defRPr>
            </a:lvl8pPr>
            <a:lvl9pPr>
              <a:defRPr sz="1350">
                <a:solidFill>
                  <a:srgbClr val="526078"/>
                </a:solidFill>
              </a:defRPr>
            </a:lvl9pPr>
          </a:lstStyle>
          <a:p xmlns:a="http://schemas.openxmlformats.org/drawingml/2006/main">
            <a:pPr>
              <a:defRPr sz="1350">
                <a:solidFill>
                  <a:srgbClr val="526078"/>
                </a:solidFill>
              </a:defRPr>
            </a:pPr>
            <a:r>
              <a:rPr sz="1350">
                <a:solidFill>
                  <a:srgbClr val="526078"/>
                </a:solidFill>
              </a:rPr>
              <a:t>Manual trigger. Success dependencies. One processing retry. Validation failures require review.</a:t>
            </a:r>
          </a:p>
        </p:txBody>
      </p:sp>
    </p:spTree>
    <p:extLst>
      <p:ext uri="{BB962C8B-B14F-4D97-AF65-F5344CB8AC3E}">
        <p14:creationId xmlns:p14="http://schemas.microsoft.com/office/powerpoint/2010/main" val="1252694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4F70A9C-E6B3-476D-99A9-668CB529672E}"/>
              </a:ext>
            </a:extLst>
          </p:cNvPr>
          <p:cNvSpPr>
            <a:spLocks xmlns:a="http://schemas.openxmlformats.org/drawingml/2006/main" noGrp="1"/>
          </p:cNvSpPr>
          <p:nvPr/>
        </p:nvSpPr>
        <p:spPr>
          <a:xfrm xmlns:a="http://schemas.openxmlformats.org/drawingml/2006/main">
            <a:off x="647700" y="438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34FE4"/>
                </a:solidFill>
              </a:defRPr>
            </a:defPPr>
            <a:lvl1pPr>
              <a:defRPr sz="3300" b="1">
                <a:solidFill>
                  <a:srgbClr val="334FE4"/>
                </a:solidFill>
              </a:defRPr>
            </a:lvl1pPr>
            <a:lvl2pPr>
              <a:defRPr sz="3300" b="1">
                <a:solidFill>
                  <a:srgbClr val="334FE4"/>
                </a:solidFill>
              </a:defRPr>
            </a:lvl2pPr>
            <a:lvl3pPr>
              <a:defRPr sz="3300" b="1">
                <a:solidFill>
                  <a:srgbClr val="334FE4"/>
                </a:solidFill>
              </a:defRPr>
            </a:lvl3pPr>
            <a:lvl4pPr>
              <a:defRPr sz="3300" b="1">
                <a:solidFill>
                  <a:srgbClr val="334FE4"/>
                </a:solidFill>
              </a:defRPr>
            </a:lvl4pPr>
            <a:lvl5pPr>
              <a:defRPr sz="3300" b="1">
                <a:solidFill>
                  <a:srgbClr val="334FE4"/>
                </a:solidFill>
              </a:defRPr>
            </a:lvl5pPr>
            <a:lvl6pPr>
              <a:defRPr sz="3300" b="1">
                <a:solidFill>
                  <a:srgbClr val="334FE4"/>
                </a:solidFill>
              </a:defRPr>
            </a:lvl6pPr>
            <a:lvl7pPr>
              <a:defRPr sz="3300" b="1">
                <a:solidFill>
                  <a:srgbClr val="334FE4"/>
                </a:solidFill>
              </a:defRPr>
            </a:lvl7pPr>
            <a:lvl8pPr>
              <a:defRPr sz="3300" b="1">
                <a:solidFill>
                  <a:srgbClr val="334FE4"/>
                </a:solidFill>
              </a:defRPr>
            </a:lvl8pPr>
            <a:lvl9pPr>
              <a:defRPr sz="3300" b="1">
                <a:solidFill>
                  <a:srgbClr val="334FE4"/>
                </a:solidFill>
              </a:defRPr>
            </a:lvl9pPr>
          </a:lstStyle>
          <a:p xmlns:a="http://schemas.openxmlformats.org/drawingml/2006/main">
            <a:pPr>
              <a:defRPr sz="3300" b="1">
                <a:solidFill>
                  <a:srgbClr val="334FE4"/>
                </a:solidFill>
              </a:defRPr>
            </a:pPr>
            <a:r>
              <a:rPr sz="3300" b="1">
                <a:solidFill>
                  <a:srgbClr val="334FE4"/>
                </a:solidFill>
              </a:rPr>
              <a:t>Engineering choices</a:t>
            </a:r>
          </a:p>
        </p:txBody>
      </p:sp>
      <p:sp>
        <p:nvSpPr>
          <p:cNvPr id="3" name="Concept">
            <a:extLst xmlns:a="http://schemas.openxmlformats.org/drawingml/2006/main">
              <a:ext uri="{FF2B5EF4-FFF2-40B4-BE49-F238E27FC236}">
                <a16:creationId xmlns:a16="http://schemas.microsoft.com/office/drawing/2014/main" id="{EE15DC7D-8261-4F55-9BCA-493A19F4753D}"/>
              </a:ext>
            </a:extLst>
          </p:cNvPr>
          <p:cNvSpPr>
            <a:spLocks xmlns:a="http://schemas.openxmlformats.org/drawingml/2006/main" noGrp="1"/>
          </p:cNvSpPr>
          <p:nvPr/>
        </p:nvSpPr>
        <p:spPr>
          <a:xfrm xmlns:a="http://schemas.openxmlformats.org/drawingml/2006/main">
            <a:off x="666750" y="1571625"/>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34FE4"/>
                </a:solidFill>
              </a:defRPr>
            </a:defPPr>
            <a:lvl1pPr>
              <a:defRPr sz="2100" b="1">
                <a:solidFill>
                  <a:srgbClr val="334FE4"/>
                </a:solidFill>
              </a:defRPr>
            </a:lvl1pPr>
            <a:lvl2pPr>
              <a:defRPr sz="2100" b="1">
                <a:solidFill>
                  <a:srgbClr val="334FE4"/>
                </a:solidFill>
              </a:defRPr>
            </a:lvl2pPr>
            <a:lvl3pPr>
              <a:defRPr sz="2100" b="1">
                <a:solidFill>
                  <a:srgbClr val="334FE4"/>
                </a:solidFill>
              </a:defRPr>
            </a:lvl3pPr>
            <a:lvl4pPr>
              <a:defRPr sz="2100" b="1">
                <a:solidFill>
                  <a:srgbClr val="334FE4"/>
                </a:solidFill>
              </a:defRPr>
            </a:lvl4pPr>
            <a:lvl5pPr>
              <a:defRPr sz="2100" b="1">
                <a:solidFill>
                  <a:srgbClr val="334FE4"/>
                </a:solidFill>
              </a:defRPr>
            </a:lvl5pPr>
            <a:lvl6pPr>
              <a:defRPr sz="2100" b="1">
                <a:solidFill>
                  <a:srgbClr val="334FE4"/>
                </a:solidFill>
              </a:defRPr>
            </a:lvl6pPr>
            <a:lvl7pPr>
              <a:defRPr sz="2100" b="1">
                <a:solidFill>
                  <a:srgbClr val="334FE4"/>
                </a:solidFill>
              </a:defRPr>
            </a:lvl7pPr>
            <a:lvl8pPr>
              <a:defRPr sz="2100" b="1">
                <a:solidFill>
                  <a:srgbClr val="334FE4"/>
                </a:solidFill>
              </a:defRPr>
            </a:lvl8pPr>
            <a:lvl9pPr>
              <a:defRPr sz="2100" b="1">
                <a:solidFill>
                  <a:srgbClr val="334FE4"/>
                </a:solidFill>
              </a:defRPr>
            </a:lvl9pPr>
          </a:lstStyle>
          <a:p xmlns:a="http://schemas.openxmlformats.org/drawingml/2006/main">
            <a:pPr>
              <a:defRPr sz="2100" b="1">
                <a:solidFill>
                  <a:srgbClr val="334FE4"/>
                </a:solidFill>
              </a:defRPr>
            </a:pPr>
            <a:r>
              <a:rPr sz="2100" b="1">
                <a:solidFill>
                  <a:srgbClr val="334FE4"/>
                </a:solidFill>
              </a:rPr>
              <a:t>Batch</a:t>
            </a:r>
          </a:p>
        </p:txBody>
      </p:sp>
      <p:sp>
        <p:nvSpPr>
          <p:cNvPr id="4" name="Explanation">
            <a:extLst xmlns:a="http://schemas.openxmlformats.org/drawingml/2006/main">
              <a:ext uri="{FF2B5EF4-FFF2-40B4-BE49-F238E27FC236}">
                <a16:creationId xmlns:a16="http://schemas.microsoft.com/office/drawing/2014/main" id="{75A8802E-DF12-4FB3-82F7-F8F0AE684565}"/>
              </a:ext>
            </a:extLst>
          </p:cNvPr>
          <p:cNvSpPr>
            <a:spLocks xmlns:a="http://schemas.openxmlformats.org/drawingml/2006/main" noGrp="1"/>
          </p:cNvSpPr>
          <p:nvPr/>
        </p:nvSpPr>
        <p:spPr>
          <a:xfrm xmlns:a="http://schemas.openxmlformats.org/drawingml/2006/main">
            <a:off x="4048125" y="1571625"/>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342"/>
                </a:solidFill>
              </a:defRPr>
            </a:defPPr>
            <a:lvl1pPr>
              <a:defRPr sz="1950" b="0">
                <a:solidFill>
                  <a:srgbClr val="172342"/>
                </a:solidFill>
              </a:defRPr>
            </a:lvl1pPr>
            <a:lvl2pPr>
              <a:defRPr sz="1950" b="0">
                <a:solidFill>
                  <a:srgbClr val="172342"/>
                </a:solidFill>
              </a:defRPr>
            </a:lvl2pPr>
            <a:lvl3pPr>
              <a:defRPr sz="1950" b="0">
                <a:solidFill>
                  <a:srgbClr val="172342"/>
                </a:solidFill>
              </a:defRPr>
            </a:lvl3pPr>
            <a:lvl4pPr>
              <a:defRPr sz="1950" b="0">
                <a:solidFill>
                  <a:srgbClr val="172342"/>
                </a:solidFill>
              </a:defRPr>
            </a:lvl4pPr>
            <a:lvl5pPr>
              <a:defRPr sz="1950" b="0">
                <a:solidFill>
                  <a:srgbClr val="172342"/>
                </a:solidFill>
              </a:defRPr>
            </a:lvl5pPr>
            <a:lvl6pPr>
              <a:defRPr sz="1950" b="0">
                <a:solidFill>
                  <a:srgbClr val="172342"/>
                </a:solidFill>
              </a:defRPr>
            </a:lvl6pPr>
            <a:lvl7pPr>
              <a:defRPr sz="1950" b="0">
                <a:solidFill>
                  <a:srgbClr val="172342"/>
                </a:solidFill>
              </a:defRPr>
            </a:lvl7pPr>
            <a:lvl8pPr>
              <a:defRPr sz="1950" b="0">
                <a:solidFill>
                  <a:srgbClr val="172342"/>
                </a:solidFill>
              </a:defRPr>
            </a:lvl8pPr>
            <a:lvl9pPr>
              <a:defRPr sz="1950" b="0">
                <a:solidFill>
                  <a:srgbClr val="172342"/>
                </a:solidFill>
              </a:defRPr>
            </a:lvl9pPr>
          </a:lstStyle>
          <a:p xmlns:a="http://schemas.openxmlformats.org/drawingml/2006/main">
            <a:pPr>
              <a:defRPr sz="1950" b="0">
                <a:solidFill>
                  <a:srgbClr val="172342"/>
                </a:solidFill>
              </a:defRPr>
            </a:pPr>
            <a:r>
              <a:rPr sz="1950" b="0">
                <a:solidFill>
                  <a:srgbClr val="172342"/>
                </a:solidFill>
              </a:rPr>
              <a:t>Fits a fixed historical export. Streaming needs a future append-only source contract.</a:t>
            </a:r>
          </a:p>
        </p:txBody>
      </p:sp>
      <p:sp>
        <p:nvSpPr>
          <p:cNvPr id="5" name="Concept">
            <a:extLst xmlns:a="http://schemas.openxmlformats.org/drawingml/2006/main">
              <a:ext uri="{FF2B5EF4-FFF2-40B4-BE49-F238E27FC236}">
                <a16:creationId xmlns:a16="http://schemas.microsoft.com/office/drawing/2014/main" id="{6404C3F2-81D8-453F-B02E-543AB87320C0}"/>
              </a:ext>
            </a:extLst>
          </p:cNvPr>
          <p:cNvSpPr>
            <a:spLocks xmlns:a="http://schemas.openxmlformats.org/drawingml/2006/main" noGrp="1"/>
          </p:cNvSpPr>
          <p:nvPr/>
        </p:nvSpPr>
        <p:spPr>
          <a:xfrm xmlns:a="http://schemas.openxmlformats.org/drawingml/2006/main">
            <a:off x="666750" y="2619375"/>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34FE4"/>
                </a:solidFill>
              </a:defRPr>
            </a:defPPr>
            <a:lvl1pPr>
              <a:defRPr sz="2100" b="1">
                <a:solidFill>
                  <a:srgbClr val="334FE4"/>
                </a:solidFill>
              </a:defRPr>
            </a:lvl1pPr>
            <a:lvl2pPr>
              <a:defRPr sz="2100" b="1">
                <a:solidFill>
                  <a:srgbClr val="334FE4"/>
                </a:solidFill>
              </a:defRPr>
            </a:lvl2pPr>
            <a:lvl3pPr>
              <a:defRPr sz="2100" b="1">
                <a:solidFill>
                  <a:srgbClr val="334FE4"/>
                </a:solidFill>
              </a:defRPr>
            </a:lvl3pPr>
            <a:lvl4pPr>
              <a:defRPr sz="2100" b="1">
                <a:solidFill>
                  <a:srgbClr val="334FE4"/>
                </a:solidFill>
              </a:defRPr>
            </a:lvl4pPr>
            <a:lvl5pPr>
              <a:defRPr sz="2100" b="1">
                <a:solidFill>
                  <a:srgbClr val="334FE4"/>
                </a:solidFill>
              </a:defRPr>
            </a:lvl5pPr>
            <a:lvl6pPr>
              <a:defRPr sz="2100" b="1">
                <a:solidFill>
                  <a:srgbClr val="334FE4"/>
                </a:solidFill>
              </a:defRPr>
            </a:lvl6pPr>
            <a:lvl7pPr>
              <a:defRPr sz="2100" b="1">
                <a:solidFill>
                  <a:srgbClr val="334FE4"/>
                </a:solidFill>
              </a:defRPr>
            </a:lvl7pPr>
            <a:lvl8pPr>
              <a:defRPr sz="2100" b="1">
                <a:solidFill>
                  <a:srgbClr val="334FE4"/>
                </a:solidFill>
              </a:defRPr>
            </a:lvl8pPr>
            <a:lvl9pPr>
              <a:defRPr sz="2100" b="1">
                <a:solidFill>
                  <a:srgbClr val="334FE4"/>
                </a:solidFill>
              </a:defRPr>
            </a:lvl9pPr>
          </a:lstStyle>
          <a:p xmlns:a="http://schemas.openxmlformats.org/drawingml/2006/main">
            <a:pPr>
              <a:defRPr sz="2100" b="1">
                <a:solidFill>
                  <a:srgbClr val="334FE4"/>
                </a:solidFill>
              </a:defRPr>
            </a:pPr>
            <a:r>
              <a:rPr sz="2100" b="1">
                <a:solidFill>
                  <a:srgbClr val="334FE4"/>
                </a:solidFill>
              </a:rPr>
              <a:t>Materialized views</a:t>
            </a:r>
          </a:p>
        </p:txBody>
      </p:sp>
      <p:sp>
        <p:nvSpPr>
          <p:cNvPr id="6" name="Explanation">
            <a:extLst xmlns:a="http://schemas.openxmlformats.org/drawingml/2006/main">
              <a:ext uri="{FF2B5EF4-FFF2-40B4-BE49-F238E27FC236}">
                <a16:creationId xmlns:a16="http://schemas.microsoft.com/office/drawing/2014/main" id="{ACBED73B-5730-4EEA-AF02-FBE4C0249342}"/>
              </a:ext>
            </a:extLst>
          </p:cNvPr>
          <p:cNvSpPr>
            <a:spLocks xmlns:a="http://schemas.openxmlformats.org/drawingml/2006/main" noGrp="1"/>
          </p:cNvSpPr>
          <p:nvPr/>
        </p:nvSpPr>
        <p:spPr>
          <a:xfrm xmlns:a="http://schemas.openxmlformats.org/drawingml/2006/main">
            <a:off x="4048125" y="2619375"/>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342"/>
                </a:solidFill>
              </a:defRPr>
            </a:defPPr>
            <a:lvl1pPr>
              <a:defRPr sz="1950" b="0">
                <a:solidFill>
                  <a:srgbClr val="172342"/>
                </a:solidFill>
              </a:defRPr>
            </a:lvl1pPr>
            <a:lvl2pPr>
              <a:defRPr sz="1950" b="0">
                <a:solidFill>
                  <a:srgbClr val="172342"/>
                </a:solidFill>
              </a:defRPr>
            </a:lvl2pPr>
            <a:lvl3pPr>
              <a:defRPr sz="1950" b="0">
                <a:solidFill>
                  <a:srgbClr val="172342"/>
                </a:solidFill>
              </a:defRPr>
            </a:lvl3pPr>
            <a:lvl4pPr>
              <a:defRPr sz="1950" b="0">
                <a:solidFill>
                  <a:srgbClr val="172342"/>
                </a:solidFill>
              </a:defRPr>
            </a:lvl4pPr>
            <a:lvl5pPr>
              <a:defRPr sz="1950" b="0">
                <a:solidFill>
                  <a:srgbClr val="172342"/>
                </a:solidFill>
              </a:defRPr>
            </a:lvl5pPr>
            <a:lvl6pPr>
              <a:defRPr sz="1950" b="0">
                <a:solidFill>
                  <a:srgbClr val="172342"/>
                </a:solidFill>
              </a:defRPr>
            </a:lvl6pPr>
            <a:lvl7pPr>
              <a:defRPr sz="1950" b="0">
                <a:solidFill>
                  <a:srgbClr val="172342"/>
                </a:solidFill>
              </a:defRPr>
            </a:lvl7pPr>
            <a:lvl8pPr>
              <a:defRPr sz="1950" b="0">
                <a:solidFill>
                  <a:srgbClr val="172342"/>
                </a:solidFill>
              </a:defRPr>
            </a:lvl8pPr>
            <a:lvl9pPr>
              <a:defRPr sz="1950" b="0">
                <a:solidFill>
                  <a:srgbClr val="172342"/>
                </a:solidFill>
              </a:defRPr>
            </a:lvl9pPr>
          </a:lstStyle>
          <a:p xmlns:a="http://schemas.openxmlformats.org/drawingml/2006/main">
            <a:pPr>
              <a:defRPr sz="1950" b="0">
                <a:solidFill>
                  <a:srgbClr val="172342"/>
                </a:solidFill>
              </a:defRPr>
            </a:pPr>
            <a:r>
              <a:rPr sz="1950" b="0">
                <a:solidFill>
                  <a:srgbClr val="172342"/>
                </a:solidFill>
              </a:rPr>
              <a:t>Store computed datasets and refresh them for repeated reporting.</a:t>
            </a:r>
          </a:p>
        </p:txBody>
      </p:sp>
      <p:sp>
        <p:nvSpPr>
          <p:cNvPr id="7" name="Concept">
            <a:extLst xmlns:a="http://schemas.openxmlformats.org/drawingml/2006/main">
              <a:ext uri="{FF2B5EF4-FFF2-40B4-BE49-F238E27FC236}">
                <a16:creationId xmlns:a16="http://schemas.microsoft.com/office/drawing/2014/main" id="{8E65CCE9-56EE-48D9-A698-E5455E0D51F8}"/>
              </a:ext>
            </a:extLst>
          </p:cNvPr>
          <p:cNvSpPr>
            <a:spLocks xmlns:a="http://schemas.openxmlformats.org/drawingml/2006/main" noGrp="1"/>
          </p:cNvSpPr>
          <p:nvPr/>
        </p:nvSpPr>
        <p:spPr>
          <a:xfrm xmlns:a="http://schemas.openxmlformats.org/drawingml/2006/main">
            <a:off x="666750" y="3667125"/>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34FE4"/>
                </a:solidFill>
              </a:defRPr>
            </a:defPPr>
            <a:lvl1pPr>
              <a:defRPr sz="2100" b="1">
                <a:solidFill>
                  <a:srgbClr val="334FE4"/>
                </a:solidFill>
              </a:defRPr>
            </a:lvl1pPr>
            <a:lvl2pPr>
              <a:defRPr sz="2100" b="1">
                <a:solidFill>
                  <a:srgbClr val="334FE4"/>
                </a:solidFill>
              </a:defRPr>
            </a:lvl2pPr>
            <a:lvl3pPr>
              <a:defRPr sz="2100" b="1">
                <a:solidFill>
                  <a:srgbClr val="334FE4"/>
                </a:solidFill>
              </a:defRPr>
            </a:lvl3pPr>
            <a:lvl4pPr>
              <a:defRPr sz="2100" b="1">
                <a:solidFill>
                  <a:srgbClr val="334FE4"/>
                </a:solidFill>
              </a:defRPr>
            </a:lvl4pPr>
            <a:lvl5pPr>
              <a:defRPr sz="2100" b="1">
                <a:solidFill>
                  <a:srgbClr val="334FE4"/>
                </a:solidFill>
              </a:defRPr>
            </a:lvl5pPr>
            <a:lvl6pPr>
              <a:defRPr sz="2100" b="1">
                <a:solidFill>
                  <a:srgbClr val="334FE4"/>
                </a:solidFill>
              </a:defRPr>
            </a:lvl6pPr>
            <a:lvl7pPr>
              <a:defRPr sz="2100" b="1">
                <a:solidFill>
                  <a:srgbClr val="334FE4"/>
                </a:solidFill>
              </a:defRPr>
            </a:lvl7pPr>
            <a:lvl8pPr>
              <a:defRPr sz="2100" b="1">
                <a:solidFill>
                  <a:srgbClr val="334FE4"/>
                </a:solidFill>
              </a:defRPr>
            </a:lvl8pPr>
            <a:lvl9pPr>
              <a:defRPr sz="2100" b="1">
                <a:solidFill>
                  <a:srgbClr val="334FE4"/>
                </a:solidFill>
              </a:defRPr>
            </a:lvl9pPr>
          </a:lstStyle>
          <a:p xmlns:a="http://schemas.openxmlformats.org/drawingml/2006/main">
            <a:pPr>
              <a:defRPr sz="2100" b="1">
                <a:solidFill>
                  <a:srgbClr val="334FE4"/>
                </a:solidFill>
              </a:defRPr>
            </a:pPr>
            <a:r>
              <a:rPr sz="2100" b="1">
                <a:solidFill>
                  <a:srgbClr val="334FE4"/>
                </a:solidFill>
              </a:rPr>
              <a:t>Liquid clustering</a:t>
            </a:r>
          </a:p>
        </p:txBody>
      </p:sp>
      <p:sp>
        <p:nvSpPr>
          <p:cNvPr id="8" name="Explanation">
            <a:extLst xmlns:a="http://schemas.openxmlformats.org/drawingml/2006/main">
              <a:ext uri="{FF2B5EF4-FFF2-40B4-BE49-F238E27FC236}">
                <a16:creationId xmlns:a16="http://schemas.microsoft.com/office/drawing/2014/main" id="{045A4993-7CD0-47AD-AF46-B03772DF4FA6}"/>
              </a:ext>
            </a:extLst>
          </p:cNvPr>
          <p:cNvSpPr>
            <a:spLocks xmlns:a="http://schemas.openxmlformats.org/drawingml/2006/main" noGrp="1"/>
          </p:cNvSpPr>
          <p:nvPr/>
        </p:nvSpPr>
        <p:spPr>
          <a:xfrm xmlns:a="http://schemas.openxmlformats.org/drawingml/2006/main">
            <a:off x="4048125" y="3667125"/>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342"/>
                </a:solidFill>
              </a:defRPr>
            </a:defPPr>
            <a:lvl1pPr>
              <a:defRPr sz="1950" b="0">
                <a:solidFill>
                  <a:srgbClr val="172342"/>
                </a:solidFill>
              </a:defRPr>
            </a:lvl1pPr>
            <a:lvl2pPr>
              <a:defRPr sz="1950" b="0">
                <a:solidFill>
                  <a:srgbClr val="172342"/>
                </a:solidFill>
              </a:defRPr>
            </a:lvl2pPr>
            <a:lvl3pPr>
              <a:defRPr sz="1950" b="0">
                <a:solidFill>
                  <a:srgbClr val="172342"/>
                </a:solidFill>
              </a:defRPr>
            </a:lvl3pPr>
            <a:lvl4pPr>
              <a:defRPr sz="1950" b="0">
                <a:solidFill>
                  <a:srgbClr val="172342"/>
                </a:solidFill>
              </a:defRPr>
            </a:lvl4pPr>
            <a:lvl5pPr>
              <a:defRPr sz="1950" b="0">
                <a:solidFill>
                  <a:srgbClr val="172342"/>
                </a:solidFill>
              </a:defRPr>
            </a:lvl5pPr>
            <a:lvl6pPr>
              <a:defRPr sz="1950" b="0">
                <a:solidFill>
                  <a:srgbClr val="172342"/>
                </a:solidFill>
              </a:defRPr>
            </a:lvl6pPr>
            <a:lvl7pPr>
              <a:defRPr sz="1950" b="0">
                <a:solidFill>
                  <a:srgbClr val="172342"/>
                </a:solidFill>
              </a:defRPr>
            </a:lvl7pPr>
            <a:lvl8pPr>
              <a:defRPr sz="1950" b="0">
                <a:solidFill>
                  <a:srgbClr val="172342"/>
                </a:solidFill>
              </a:defRPr>
            </a:lvl8pPr>
            <a:lvl9pPr>
              <a:defRPr sz="1950" b="0">
                <a:solidFill>
                  <a:srgbClr val="172342"/>
                </a:solidFill>
              </a:defRPr>
            </a:lvl9pPr>
          </a:lstStyle>
          <a:p xmlns:a="http://schemas.openxmlformats.org/drawingml/2006/main">
            <a:pPr>
              <a:defRPr sz="1950" b="0">
                <a:solidFill>
                  <a:srgbClr val="172342"/>
                </a:solidFill>
              </a:defRPr>
            </a:pPr>
            <a:r>
              <a:rPr sz="1950" b="0">
                <a:solidFill>
                  <a:srgbClr val="172342"/>
                </a:solidFill>
              </a:rPr>
              <a:t>Date and location match common filters. Performance gains still need measurement.</a:t>
            </a:r>
          </a:p>
        </p:txBody>
      </p:sp>
      <p:sp>
        <p:nvSpPr>
          <p:cNvPr id="9" name="Concept">
            <a:extLst xmlns:a="http://schemas.openxmlformats.org/drawingml/2006/main">
              <a:ext uri="{FF2B5EF4-FFF2-40B4-BE49-F238E27FC236}">
                <a16:creationId xmlns:a16="http://schemas.microsoft.com/office/drawing/2014/main" id="{18685CDD-7374-4534-847B-D022F0689389}"/>
              </a:ext>
            </a:extLst>
          </p:cNvPr>
          <p:cNvSpPr>
            <a:spLocks xmlns:a="http://schemas.openxmlformats.org/drawingml/2006/main" noGrp="1"/>
          </p:cNvSpPr>
          <p:nvPr/>
        </p:nvSpPr>
        <p:spPr>
          <a:xfrm xmlns:a="http://schemas.openxmlformats.org/drawingml/2006/main">
            <a:off x="666750" y="4714875"/>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34FE4"/>
                </a:solidFill>
              </a:defRPr>
            </a:defPPr>
            <a:lvl1pPr>
              <a:defRPr sz="2100" b="1">
                <a:solidFill>
                  <a:srgbClr val="334FE4"/>
                </a:solidFill>
              </a:defRPr>
            </a:lvl1pPr>
            <a:lvl2pPr>
              <a:defRPr sz="2100" b="1">
                <a:solidFill>
                  <a:srgbClr val="334FE4"/>
                </a:solidFill>
              </a:defRPr>
            </a:lvl2pPr>
            <a:lvl3pPr>
              <a:defRPr sz="2100" b="1">
                <a:solidFill>
                  <a:srgbClr val="334FE4"/>
                </a:solidFill>
              </a:defRPr>
            </a:lvl3pPr>
            <a:lvl4pPr>
              <a:defRPr sz="2100" b="1">
                <a:solidFill>
                  <a:srgbClr val="334FE4"/>
                </a:solidFill>
              </a:defRPr>
            </a:lvl4pPr>
            <a:lvl5pPr>
              <a:defRPr sz="2100" b="1">
                <a:solidFill>
                  <a:srgbClr val="334FE4"/>
                </a:solidFill>
              </a:defRPr>
            </a:lvl5pPr>
            <a:lvl6pPr>
              <a:defRPr sz="2100" b="1">
                <a:solidFill>
                  <a:srgbClr val="334FE4"/>
                </a:solidFill>
              </a:defRPr>
            </a:lvl6pPr>
            <a:lvl7pPr>
              <a:defRPr sz="2100" b="1">
                <a:solidFill>
                  <a:srgbClr val="334FE4"/>
                </a:solidFill>
              </a:defRPr>
            </a:lvl7pPr>
            <a:lvl8pPr>
              <a:defRPr sz="2100" b="1">
                <a:solidFill>
                  <a:srgbClr val="334FE4"/>
                </a:solidFill>
              </a:defRPr>
            </a:lvl8pPr>
            <a:lvl9pPr>
              <a:defRPr sz="2100" b="1">
                <a:solidFill>
                  <a:srgbClr val="334FE4"/>
                </a:solidFill>
              </a:defRPr>
            </a:lvl9pPr>
          </a:lstStyle>
          <a:p xmlns:a="http://schemas.openxmlformats.org/drawingml/2006/main">
            <a:pPr>
              <a:defRPr sz="2100" b="1">
                <a:solidFill>
                  <a:srgbClr val="334FE4"/>
                </a:solidFill>
              </a:defRPr>
            </a:pPr>
            <a:r>
              <a:rPr sz="2100" b="1">
                <a:solidFill>
                  <a:srgbClr val="334FE4"/>
                </a:solidFill>
              </a:rPr>
              <a:t>Expectations</a:t>
            </a:r>
          </a:p>
        </p:txBody>
      </p:sp>
      <p:sp>
        <p:nvSpPr>
          <p:cNvPr id="10" name="Explanation">
            <a:extLst xmlns:a="http://schemas.openxmlformats.org/drawingml/2006/main">
              <a:ext uri="{FF2B5EF4-FFF2-40B4-BE49-F238E27FC236}">
                <a16:creationId xmlns:a16="http://schemas.microsoft.com/office/drawing/2014/main" id="{458478BB-47AE-46B0-8B87-D0D888221FA0}"/>
              </a:ext>
            </a:extLst>
          </p:cNvPr>
          <p:cNvSpPr>
            <a:spLocks xmlns:a="http://schemas.openxmlformats.org/drawingml/2006/main" noGrp="1"/>
          </p:cNvSpPr>
          <p:nvPr/>
        </p:nvSpPr>
        <p:spPr>
          <a:xfrm xmlns:a="http://schemas.openxmlformats.org/drawingml/2006/main">
            <a:off x="4048125" y="4714875"/>
            <a:ext cx="747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342"/>
                </a:solidFill>
              </a:defRPr>
            </a:defPPr>
            <a:lvl1pPr>
              <a:defRPr sz="1950" b="0">
                <a:solidFill>
                  <a:srgbClr val="172342"/>
                </a:solidFill>
              </a:defRPr>
            </a:lvl1pPr>
            <a:lvl2pPr>
              <a:defRPr sz="1950" b="0">
                <a:solidFill>
                  <a:srgbClr val="172342"/>
                </a:solidFill>
              </a:defRPr>
            </a:lvl2pPr>
            <a:lvl3pPr>
              <a:defRPr sz="1950" b="0">
                <a:solidFill>
                  <a:srgbClr val="172342"/>
                </a:solidFill>
              </a:defRPr>
            </a:lvl3pPr>
            <a:lvl4pPr>
              <a:defRPr sz="1950" b="0">
                <a:solidFill>
                  <a:srgbClr val="172342"/>
                </a:solidFill>
              </a:defRPr>
            </a:lvl4pPr>
            <a:lvl5pPr>
              <a:defRPr sz="1950" b="0">
                <a:solidFill>
                  <a:srgbClr val="172342"/>
                </a:solidFill>
              </a:defRPr>
            </a:lvl5pPr>
            <a:lvl6pPr>
              <a:defRPr sz="1950" b="0">
                <a:solidFill>
                  <a:srgbClr val="172342"/>
                </a:solidFill>
              </a:defRPr>
            </a:lvl6pPr>
            <a:lvl7pPr>
              <a:defRPr sz="1950" b="0">
                <a:solidFill>
                  <a:srgbClr val="172342"/>
                </a:solidFill>
              </a:defRPr>
            </a:lvl7pPr>
            <a:lvl8pPr>
              <a:defRPr sz="1950" b="0">
                <a:solidFill>
                  <a:srgbClr val="172342"/>
                </a:solidFill>
              </a:defRPr>
            </a:lvl8pPr>
            <a:lvl9pPr>
              <a:defRPr sz="1950" b="0">
                <a:solidFill>
                  <a:srgbClr val="172342"/>
                </a:solidFill>
              </a:defRPr>
            </a:lvl9pPr>
          </a:lstStyle>
          <a:p xmlns:a="http://schemas.openxmlformats.org/drawingml/2006/main">
            <a:pPr>
              <a:defRPr sz="1950" b="0">
                <a:solidFill>
                  <a:srgbClr val="172342"/>
                </a:solidFill>
              </a:defRPr>
            </a:pPr>
            <a:r>
              <a:rPr sz="1950" b="0">
                <a:solidFill>
                  <a:srgbClr val="172342"/>
                </a:solidFill>
              </a:rPr>
              <a:t>Warn to retain diagnostic evidence. Fail when integrity rules prevent publication.</a:t>
            </a:r>
          </a:p>
        </p:txBody>
      </p:sp>
      <p:sp>
        <p:nvSpPr>
          <p:cNvPr id="11" name="Source and scope">
            <a:extLst xmlns:a="http://schemas.openxmlformats.org/drawingml/2006/main">
              <a:ext uri="{FF2B5EF4-FFF2-40B4-BE49-F238E27FC236}">
                <a16:creationId xmlns:a16="http://schemas.microsoft.com/office/drawing/2014/main" id="{13280992-6649-4D02-8E25-E890A0D66A27}"/>
              </a:ext>
            </a:extLst>
          </p:cNvPr>
          <p:cNvSpPr>
            <a:spLocks xmlns:a="http://schemas.openxmlformats.org/drawingml/2006/main" noGrp="1"/>
          </p:cNvSpPr>
          <p:nvPr/>
        </p:nvSpPr>
        <p:spPr>
          <a:xfrm xmlns:a="http://schemas.openxmlformats.org/drawingml/2006/main">
            <a:off x="666750" y="61912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defRPr>
            </a:defPPr>
            <a:lvl1pPr>
              <a:defRPr sz="1350" b="0">
                <a:solidFill>
                  <a:srgbClr val="526078"/>
                </a:solidFill>
              </a:defRPr>
            </a:lvl1pPr>
            <a:lvl2pPr>
              <a:defRPr sz="1350" b="0">
                <a:solidFill>
                  <a:srgbClr val="526078"/>
                </a:solidFill>
              </a:defRPr>
            </a:lvl2pPr>
            <a:lvl3pPr>
              <a:defRPr sz="1350" b="0">
                <a:solidFill>
                  <a:srgbClr val="526078"/>
                </a:solidFill>
              </a:defRPr>
            </a:lvl3pPr>
            <a:lvl4pPr>
              <a:defRPr sz="1350" b="0">
                <a:solidFill>
                  <a:srgbClr val="526078"/>
                </a:solidFill>
              </a:defRPr>
            </a:lvl4pPr>
            <a:lvl5pPr>
              <a:defRPr sz="1350" b="0">
                <a:solidFill>
                  <a:srgbClr val="526078"/>
                </a:solidFill>
              </a:defRPr>
            </a:lvl5pPr>
            <a:lvl6pPr>
              <a:defRPr sz="1350" b="0">
                <a:solidFill>
                  <a:srgbClr val="526078"/>
                </a:solidFill>
              </a:defRPr>
            </a:lvl6pPr>
            <a:lvl7pPr>
              <a:defRPr sz="1350" b="0">
                <a:solidFill>
                  <a:srgbClr val="526078"/>
                </a:solidFill>
              </a:defRPr>
            </a:lvl7pPr>
            <a:lvl8pPr>
              <a:defRPr sz="1350" b="0">
                <a:solidFill>
                  <a:srgbClr val="526078"/>
                </a:solidFill>
              </a:defRPr>
            </a:lvl8pPr>
            <a:lvl9pPr>
              <a:defRPr sz="1350" b="0">
                <a:solidFill>
                  <a:srgbClr val="526078"/>
                </a:solidFill>
              </a:defRPr>
            </a:lvl9pPr>
          </a:lstStyle>
          <a:p xmlns:a="http://schemas.openxmlformats.org/drawingml/2006/main">
            <a:pPr>
              <a:defRPr sz="1350" b="0">
                <a:solidFill>
                  <a:srgbClr val="526078"/>
                </a:solidFill>
              </a:defRPr>
            </a:pPr>
            <a:r>
              <a:rPr sz="1350" b="0">
                <a:solidFill>
                  <a:srgbClr val="526078"/>
                </a:solidFill>
              </a:rPr>
              <a:t>Batch refresh supports this fixed export. Preparation verifies cached files with source hashes.</a:t>
            </a:r>
          </a:p>
        </p:txBody>
      </p:sp>
    </p:spTree>
    <p:extLst>
      <p:ext uri="{BB962C8B-B14F-4D97-AF65-F5344CB8AC3E}">
        <p14:creationId xmlns:p14="http://schemas.microsoft.com/office/powerpoint/2010/main" val="32824742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D5637FC-7036-400E-AFDA-67F915C7E0E5}"/>
              </a:ext>
            </a:extLst>
          </p:cNvPr>
          <p:cNvSpPr>
            <a:spLocks xmlns:a="http://schemas.openxmlformats.org/drawingml/2006/main" noGrp="1"/>
          </p:cNvSpPr>
          <p:nvPr/>
        </p:nvSpPr>
        <p:spPr>
          <a:xfrm xmlns:a="http://schemas.openxmlformats.org/drawingml/2006/main">
            <a:off x="647700" y="438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34FE4"/>
                </a:solidFill>
              </a:defRPr>
            </a:defPPr>
            <a:lvl1pPr>
              <a:defRPr sz="3300" b="1">
                <a:solidFill>
                  <a:srgbClr val="334FE4"/>
                </a:solidFill>
              </a:defRPr>
            </a:lvl1pPr>
            <a:lvl2pPr>
              <a:defRPr sz="3300" b="1">
                <a:solidFill>
                  <a:srgbClr val="334FE4"/>
                </a:solidFill>
              </a:defRPr>
            </a:lvl2pPr>
            <a:lvl3pPr>
              <a:defRPr sz="3300" b="1">
                <a:solidFill>
                  <a:srgbClr val="334FE4"/>
                </a:solidFill>
              </a:defRPr>
            </a:lvl3pPr>
            <a:lvl4pPr>
              <a:defRPr sz="3300" b="1">
                <a:solidFill>
                  <a:srgbClr val="334FE4"/>
                </a:solidFill>
              </a:defRPr>
            </a:lvl4pPr>
            <a:lvl5pPr>
              <a:defRPr sz="3300" b="1">
                <a:solidFill>
                  <a:srgbClr val="334FE4"/>
                </a:solidFill>
              </a:defRPr>
            </a:lvl5pPr>
            <a:lvl6pPr>
              <a:defRPr sz="3300" b="1">
                <a:solidFill>
                  <a:srgbClr val="334FE4"/>
                </a:solidFill>
              </a:defRPr>
            </a:lvl6pPr>
            <a:lvl7pPr>
              <a:defRPr sz="3300" b="1">
                <a:solidFill>
                  <a:srgbClr val="334FE4"/>
                </a:solidFill>
              </a:defRPr>
            </a:lvl7pPr>
            <a:lvl8pPr>
              <a:defRPr sz="3300" b="1">
                <a:solidFill>
                  <a:srgbClr val="334FE4"/>
                </a:solidFill>
              </a:defRPr>
            </a:lvl8pPr>
            <a:lvl9pPr>
              <a:defRPr sz="3300" b="1">
                <a:solidFill>
                  <a:srgbClr val="334FE4"/>
                </a:solidFill>
              </a:defRPr>
            </a:lvl9pPr>
          </a:lstStyle>
          <a:p xmlns:a="http://schemas.openxmlformats.org/drawingml/2006/main">
            <a:pPr>
              <a:defRPr sz="3300" b="1">
                <a:solidFill>
                  <a:srgbClr val="334FE4"/>
                </a:solidFill>
              </a:defRPr>
            </a:pPr>
            <a:r>
              <a:rPr sz="3300" b="1">
                <a:solidFill>
                  <a:srgbClr val="334FE4"/>
                </a:solidFill>
              </a:rPr>
              <a:t>Operational findings</a:t>
            </a:r>
          </a:p>
        </p:txBody>
      </p:sp>
      <p:sp>
        <p:nvSpPr>
          <p:cNvPr id="3" name="Finding">
            <a:extLst xmlns:a="http://schemas.openxmlformats.org/drawingml/2006/main">
              <a:ext uri="{FF2B5EF4-FFF2-40B4-BE49-F238E27FC236}">
                <a16:creationId xmlns:a16="http://schemas.microsoft.com/office/drawing/2014/main" id="{2178D0B4-FE6E-4B97-B049-4EBC70B44C07}"/>
              </a:ext>
            </a:extLst>
          </p:cNvPr>
          <p:cNvSpPr>
            <a:spLocks xmlns:a="http://schemas.openxmlformats.org/drawingml/2006/main" noGrp="1"/>
          </p:cNvSpPr>
          <p:nvPr/>
        </p:nvSpPr>
        <p:spPr>
          <a:xfrm xmlns:a="http://schemas.openxmlformats.org/drawingml/2006/main">
            <a:off x="666750" y="1333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34FE4"/>
                </a:solidFill>
              </a:defRPr>
            </a:defPPr>
            <a:lvl1pPr>
              <a:defRPr sz="2325" b="1">
                <a:solidFill>
                  <a:srgbClr val="334FE4"/>
                </a:solidFill>
              </a:defRPr>
            </a:lvl1pPr>
            <a:lvl2pPr>
              <a:defRPr sz="2325" b="1">
                <a:solidFill>
                  <a:srgbClr val="334FE4"/>
                </a:solidFill>
              </a:defRPr>
            </a:lvl2pPr>
            <a:lvl3pPr>
              <a:defRPr sz="2325" b="1">
                <a:solidFill>
                  <a:srgbClr val="334FE4"/>
                </a:solidFill>
              </a:defRPr>
            </a:lvl3pPr>
            <a:lvl4pPr>
              <a:defRPr sz="2325" b="1">
                <a:solidFill>
                  <a:srgbClr val="334FE4"/>
                </a:solidFill>
              </a:defRPr>
            </a:lvl4pPr>
            <a:lvl5pPr>
              <a:defRPr sz="2325" b="1">
                <a:solidFill>
                  <a:srgbClr val="334FE4"/>
                </a:solidFill>
              </a:defRPr>
            </a:lvl5pPr>
            <a:lvl6pPr>
              <a:defRPr sz="2325" b="1">
                <a:solidFill>
                  <a:srgbClr val="334FE4"/>
                </a:solidFill>
              </a:defRPr>
            </a:lvl6pPr>
            <a:lvl7pPr>
              <a:defRPr sz="2325" b="1">
                <a:solidFill>
                  <a:srgbClr val="334FE4"/>
                </a:solidFill>
              </a:defRPr>
            </a:lvl7pPr>
            <a:lvl8pPr>
              <a:defRPr sz="2325" b="1">
                <a:solidFill>
                  <a:srgbClr val="334FE4"/>
                </a:solidFill>
              </a:defRPr>
            </a:lvl8pPr>
            <a:lvl9pPr>
              <a:defRPr sz="2325" b="1">
                <a:solidFill>
                  <a:srgbClr val="334FE4"/>
                </a:solidFill>
              </a:defRPr>
            </a:lvl9pPr>
          </a:lstStyle>
          <a:p xmlns:a="http://schemas.openxmlformats.org/drawingml/2006/main">
            <a:pPr>
              <a:defRPr sz="2325" b="1">
                <a:solidFill>
                  <a:srgbClr val="334FE4"/>
                </a:solidFill>
              </a:defRPr>
            </a:pPr>
            <a:r>
              <a:rPr sz="2325" b="1">
                <a:solidFill>
                  <a:srgbClr val="334FE4"/>
                </a:solidFill>
              </a:rPr>
              <a:t>Three locations account for 71.08% of checks with empty Payments.</a:t>
            </a:r>
          </a:p>
        </p:txBody>
      </p:sp>
      <p:graphicFrame>
        <p:nvGraphicFramePr>
          <p:cNvPr id="4" name="Chart">
            <a:extLst xmlns:a="http://schemas.openxmlformats.org/drawingml/2006/main">
              <a:ext uri="{FF2B5EF4-FFF2-40B4-BE49-F238E27FC236}">
                <a16:creationId xmlns:a16="http://schemas.microsoft.com/office/drawing/2014/main" id="{8D50C6DC-B6B8-461E-BE4C-D3A77D4DB8BE}"/>
              </a:ext>
            </a:extLst>
          </p:cNvPr>
          <p:cNvGraphicFramePr/>
          <p:nvPr/>
        </p:nvGraphicFramePr>
        <p:xfrm>
          <a:off xmlns:a="http://schemas.openxmlformats.org/drawingml/2006/main" x="666750" y="2286000"/>
          <a:ext xmlns:a="http://schemas.openxmlformats.org/drawingml/2006/main" cx="5619750" cy="3238500"/>
        </p:xfrm>
        <a:graphic xmlns:a="http://schemas.openxmlformats.org/drawingml/2006/main">
          <a:graphicData uri="http://schemas.openxmlformats.org/drawingml/2006/chart">
            <c:chart xmlns:r="http://schemas.openxmlformats.org/officeDocument/2006/relationships" xmlns:c="http://schemas.openxmlformats.org/drawingml/2006/chart" r:id="R235dd6d78d7349e1"/>
          </a:graphicData>
        </a:graphic>
      </p:graphicFrame>
      <p:sp>
        <p:nvSpPr>
          <p:cNvPr id="5" name="Rate">
            <a:extLst xmlns:a="http://schemas.openxmlformats.org/drawingml/2006/main">
              <a:ext uri="{FF2B5EF4-FFF2-40B4-BE49-F238E27FC236}">
                <a16:creationId xmlns:a16="http://schemas.microsoft.com/office/drawing/2014/main" id="{81D9B7CD-77C1-432E-BCD4-E9ADD53A40B4}"/>
              </a:ext>
            </a:extLst>
          </p:cNvPr>
          <p:cNvSpPr>
            <a:spLocks xmlns:a="http://schemas.openxmlformats.org/drawingml/2006/main" noGrp="1"/>
          </p:cNvSpPr>
          <p:nvPr/>
        </p:nvSpPr>
        <p:spPr>
          <a:xfrm xmlns:a="http://schemas.openxmlformats.org/drawingml/2006/main">
            <a:off x="7096125" y="23336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334FE4"/>
                </a:solidFill>
              </a:defRPr>
            </a:defPPr>
            <a:lvl1pPr>
              <a:defRPr sz="3900" b="1">
                <a:solidFill>
                  <a:srgbClr val="334FE4"/>
                </a:solidFill>
              </a:defRPr>
            </a:lvl1pPr>
            <a:lvl2pPr>
              <a:defRPr sz="3900" b="1">
                <a:solidFill>
                  <a:srgbClr val="334FE4"/>
                </a:solidFill>
              </a:defRPr>
            </a:lvl2pPr>
            <a:lvl3pPr>
              <a:defRPr sz="3900" b="1">
                <a:solidFill>
                  <a:srgbClr val="334FE4"/>
                </a:solidFill>
              </a:defRPr>
            </a:lvl3pPr>
            <a:lvl4pPr>
              <a:defRPr sz="3900" b="1">
                <a:solidFill>
                  <a:srgbClr val="334FE4"/>
                </a:solidFill>
              </a:defRPr>
            </a:lvl4pPr>
            <a:lvl5pPr>
              <a:defRPr sz="3900" b="1">
                <a:solidFill>
                  <a:srgbClr val="334FE4"/>
                </a:solidFill>
              </a:defRPr>
            </a:lvl5pPr>
            <a:lvl6pPr>
              <a:defRPr sz="3900" b="1">
                <a:solidFill>
                  <a:srgbClr val="334FE4"/>
                </a:solidFill>
              </a:defRPr>
            </a:lvl6pPr>
            <a:lvl7pPr>
              <a:defRPr sz="3900" b="1">
                <a:solidFill>
                  <a:srgbClr val="334FE4"/>
                </a:solidFill>
              </a:defRPr>
            </a:lvl7pPr>
            <a:lvl8pPr>
              <a:defRPr sz="3900" b="1">
                <a:solidFill>
                  <a:srgbClr val="334FE4"/>
                </a:solidFill>
              </a:defRPr>
            </a:lvl8pPr>
            <a:lvl9pPr>
              <a:defRPr sz="3900" b="1">
                <a:solidFill>
                  <a:srgbClr val="334FE4"/>
                </a:solidFill>
              </a:defRPr>
            </a:lvl9pPr>
          </a:lstStyle>
          <a:p xmlns:a="http://schemas.openxmlformats.org/drawingml/2006/main">
            <a:pPr>
              <a:defRPr sz="3900" b="1">
                <a:solidFill>
                  <a:srgbClr val="334FE4"/>
                </a:solidFill>
              </a:defRPr>
            </a:pPr>
            <a:r>
              <a:rPr sz="3900" b="1">
                <a:solidFill>
                  <a:srgbClr val="334FE4"/>
                </a:solidFill>
              </a:rPr>
              <a:t>12.53%</a:t>
            </a:r>
          </a:p>
        </p:txBody>
      </p:sp>
      <p:sp>
        <p:nvSpPr>
          <p:cNvPr id="6" name="Rate definition">
            <a:extLst xmlns:a="http://schemas.openxmlformats.org/drawingml/2006/main">
              <a:ext uri="{FF2B5EF4-FFF2-40B4-BE49-F238E27FC236}">
                <a16:creationId xmlns:a16="http://schemas.microsoft.com/office/drawing/2014/main" id="{A8F98BFC-82DF-405C-9C35-CFA4408D9631}"/>
              </a:ext>
            </a:extLst>
          </p:cNvPr>
          <p:cNvSpPr>
            <a:spLocks xmlns:a="http://schemas.openxmlformats.org/drawingml/2006/main" noGrp="1"/>
          </p:cNvSpPr>
          <p:nvPr/>
        </p:nvSpPr>
        <p:spPr>
          <a:xfrm xmlns:a="http://schemas.openxmlformats.org/drawingml/2006/main">
            <a:off x="7096125" y="31146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342"/>
                </a:solidFill>
              </a:defRPr>
            </a:defPPr>
            <a:lvl1pPr>
              <a:defRPr sz="2100" b="0">
                <a:solidFill>
                  <a:srgbClr val="172342"/>
                </a:solidFill>
              </a:defRPr>
            </a:lvl1pPr>
            <a:lvl2pPr>
              <a:defRPr sz="2100" b="0">
                <a:solidFill>
                  <a:srgbClr val="172342"/>
                </a:solidFill>
              </a:defRPr>
            </a:lvl2pPr>
            <a:lvl3pPr>
              <a:defRPr sz="2100" b="0">
                <a:solidFill>
                  <a:srgbClr val="172342"/>
                </a:solidFill>
              </a:defRPr>
            </a:lvl3pPr>
            <a:lvl4pPr>
              <a:defRPr sz="2100" b="0">
                <a:solidFill>
                  <a:srgbClr val="172342"/>
                </a:solidFill>
              </a:defRPr>
            </a:lvl4pPr>
            <a:lvl5pPr>
              <a:defRPr sz="2100" b="0">
                <a:solidFill>
                  <a:srgbClr val="172342"/>
                </a:solidFill>
              </a:defRPr>
            </a:lvl5pPr>
            <a:lvl6pPr>
              <a:defRPr sz="2100" b="0">
                <a:solidFill>
                  <a:srgbClr val="172342"/>
                </a:solidFill>
              </a:defRPr>
            </a:lvl6pPr>
            <a:lvl7pPr>
              <a:defRPr sz="2100" b="0">
                <a:solidFill>
                  <a:srgbClr val="172342"/>
                </a:solidFill>
              </a:defRPr>
            </a:lvl7pPr>
            <a:lvl8pPr>
              <a:defRPr sz="2100" b="0">
                <a:solidFill>
                  <a:srgbClr val="172342"/>
                </a:solidFill>
              </a:defRPr>
            </a:lvl8pPr>
            <a:lvl9pPr>
              <a:defRPr sz="2100" b="0">
                <a:solidFill>
                  <a:srgbClr val="172342"/>
                </a:solidFill>
              </a:defRPr>
            </a:lvl9pPr>
          </a:lstStyle>
          <a:p xmlns:a="http://schemas.openxmlformats.org/drawingml/2006/main">
            <a:pPr>
              <a:defRPr sz="2100" b="0">
                <a:solidFill>
                  <a:srgbClr val="172342"/>
                </a:solidFill>
              </a:defRPr>
            </a:pPr>
            <a:r>
              <a:rPr sz="2100" b="0">
                <a:solidFill>
                  <a:srgbClr val="172342"/>
                </a:solidFill>
              </a:rPr>
              <a:t>of all checks have a discount.</a:t>
            </a:r>
          </a:p>
          <a:p xmlns:a="http://schemas.openxmlformats.org/drawingml/2006/main">
            <a:pPr>
              <a:defRPr sz="2100" b="0">
                <a:solidFill>
                  <a:srgbClr val="172342"/>
                </a:solidFill>
              </a:defRPr>
            </a:pPr>
            <a:r>
              <a:rPr sz="2100" b="0">
                <a:solidFill>
                  <a:srgbClr val="172342"/>
                </a:solidFill>
              </a:rPr>
              <a:t>268,590 checks in the period.</a:t>
            </a:r>
          </a:p>
        </p:txBody>
      </p:sp>
      <p:sp>
        <p:nvSpPr>
          <p:cNvPr id="7" name="Decision">
            <a:extLst xmlns:a="http://schemas.openxmlformats.org/drawingml/2006/main">
              <a:ext uri="{FF2B5EF4-FFF2-40B4-BE49-F238E27FC236}">
                <a16:creationId xmlns:a16="http://schemas.microsoft.com/office/drawing/2014/main" id="{0B179FCA-3EF9-421B-B138-8E7B7A3524B9}"/>
              </a:ext>
            </a:extLst>
          </p:cNvPr>
          <p:cNvSpPr>
            <a:spLocks xmlns:a="http://schemas.openxmlformats.org/drawingml/2006/main" noGrp="1"/>
          </p:cNvSpPr>
          <p:nvPr/>
        </p:nvSpPr>
        <p:spPr>
          <a:xfrm xmlns:a="http://schemas.openxmlformats.org/drawingml/2006/main">
            <a:off x="7096125" y="4429125"/>
            <a:ext cx="4095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342"/>
                </a:solidFill>
              </a:defRPr>
            </a:defPPr>
            <a:lvl1pPr>
              <a:defRPr sz="2175" b="0">
                <a:solidFill>
                  <a:srgbClr val="172342"/>
                </a:solidFill>
              </a:defRPr>
            </a:lvl1pPr>
            <a:lvl2pPr>
              <a:defRPr sz="2175" b="0">
                <a:solidFill>
                  <a:srgbClr val="172342"/>
                </a:solidFill>
              </a:defRPr>
            </a:lvl2pPr>
            <a:lvl3pPr>
              <a:defRPr sz="2175" b="0">
                <a:solidFill>
                  <a:srgbClr val="172342"/>
                </a:solidFill>
              </a:defRPr>
            </a:lvl3pPr>
            <a:lvl4pPr>
              <a:defRPr sz="2175" b="0">
                <a:solidFill>
                  <a:srgbClr val="172342"/>
                </a:solidFill>
              </a:defRPr>
            </a:lvl4pPr>
            <a:lvl5pPr>
              <a:defRPr sz="2175" b="0">
                <a:solidFill>
                  <a:srgbClr val="172342"/>
                </a:solidFill>
              </a:defRPr>
            </a:lvl5pPr>
            <a:lvl6pPr>
              <a:defRPr sz="2175" b="0">
                <a:solidFill>
                  <a:srgbClr val="172342"/>
                </a:solidFill>
              </a:defRPr>
            </a:lvl6pPr>
            <a:lvl7pPr>
              <a:defRPr sz="2175" b="0">
                <a:solidFill>
                  <a:srgbClr val="172342"/>
                </a:solidFill>
              </a:defRPr>
            </a:lvl7pPr>
            <a:lvl8pPr>
              <a:defRPr sz="2175" b="0">
                <a:solidFill>
                  <a:srgbClr val="172342"/>
                </a:solidFill>
              </a:defRPr>
            </a:lvl8pPr>
            <a:lvl9pPr>
              <a:defRPr sz="2175" b="0">
                <a:solidFill>
                  <a:srgbClr val="172342"/>
                </a:solidFill>
              </a:defRPr>
            </a:lvl9pPr>
          </a:lstStyle>
          <a:p xmlns:a="http://schemas.openxmlformats.org/drawingml/2006/main">
            <a:pPr>
              <a:defRPr sz="2175" b="0">
                <a:solidFill>
                  <a:srgbClr val="172342"/>
                </a:solidFill>
              </a:defRPr>
            </a:pPr>
            <a:r>
              <a:rPr sz="2175" b="0">
                <a:solidFill>
                  <a:srgbClr val="172342"/>
                </a:solidFill>
              </a:rPr>
              <a:t>Prioritize source-system reconciliation at locations 87, 1 and 141.</a:t>
            </a:r>
          </a:p>
        </p:txBody>
      </p:sp>
      <p:sp>
        <p:nvSpPr>
          <p:cNvPr id="8" name="Source and scope">
            <a:extLst xmlns:a="http://schemas.openxmlformats.org/drawingml/2006/main">
              <a:ext uri="{FF2B5EF4-FFF2-40B4-BE49-F238E27FC236}">
                <a16:creationId xmlns:a16="http://schemas.microsoft.com/office/drawing/2014/main" id="{2C3E4A88-7735-4B56-93B3-9E15D458469B}"/>
              </a:ext>
            </a:extLst>
          </p:cNvPr>
          <p:cNvSpPr>
            <a:spLocks xmlns:a="http://schemas.openxmlformats.org/drawingml/2006/main" noGrp="1"/>
          </p:cNvSpPr>
          <p:nvPr/>
        </p:nvSpPr>
        <p:spPr>
          <a:xfrm xmlns:a="http://schemas.openxmlformats.org/drawingml/2006/main">
            <a:off x="666750" y="61912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defRPr>
            </a:defPPr>
            <a:lvl1pPr>
              <a:defRPr sz="1350" b="0">
                <a:solidFill>
                  <a:srgbClr val="526078"/>
                </a:solidFill>
              </a:defRPr>
            </a:lvl1pPr>
            <a:lvl2pPr>
              <a:defRPr sz="1350" b="0">
                <a:solidFill>
                  <a:srgbClr val="526078"/>
                </a:solidFill>
              </a:defRPr>
            </a:lvl2pPr>
            <a:lvl3pPr>
              <a:defRPr sz="1350" b="0">
                <a:solidFill>
                  <a:srgbClr val="526078"/>
                </a:solidFill>
              </a:defRPr>
            </a:lvl3pPr>
            <a:lvl4pPr>
              <a:defRPr sz="1350" b="0">
                <a:solidFill>
                  <a:srgbClr val="526078"/>
                </a:solidFill>
              </a:defRPr>
            </a:lvl4pPr>
            <a:lvl5pPr>
              <a:defRPr sz="1350" b="0">
                <a:solidFill>
                  <a:srgbClr val="526078"/>
                </a:solidFill>
              </a:defRPr>
            </a:lvl5pPr>
            <a:lvl6pPr>
              <a:defRPr sz="1350" b="0">
                <a:solidFill>
                  <a:srgbClr val="526078"/>
                </a:solidFill>
              </a:defRPr>
            </a:lvl6pPr>
            <a:lvl7pPr>
              <a:defRPr sz="1350" b="0">
                <a:solidFill>
                  <a:srgbClr val="526078"/>
                </a:solidFill>
              </a:defRPr>
            </a:lvl7pPr>
            <a:lvl8pPr>
              <a:defRPr sz="1350" b="0">
                <a:solidFill>
                  <a:srgbClr val="526078"/>
                </a:solidFill>
              </a:defRPr>
            </a:lvl8pPr>
            <a:lvl9pPr>
              <a:defRPr sz="1350" b="0">
                <a:solidFill>
                  <a:srgbClr val="526078"/>
                </a:solidFill>
              </a:defRPr>
            </a:lvl9pPr>
          </a:lstStyle>
          <a:p xmlns:a="http://schemas.openxmlformats.org/drawingml/2006/main">
            <a:pPr>
              <a:defRPr sz="1350" b="0">
                <a:solidFill>
                  <a:srgbClr val="526078"/>
                </a:solidFill>
              </a:defRPr>
            </a:pPr>
            <a:r>
              <a:rPr sz="1350" b="0">
                <a:solidFill>
                  <a:srgbClr val="526078"/>
                </a:solidFill>
              </a:rPr>
              <a:t>Concentration uses source audit and Week 4 EDA. Accepted Gold coverage confirms the total checks and discounts.</a:t>
            </a:r>
          </a:p>
        </p:txBody>
      </p:sp>
    </p:spTree>
    <p:extLst>
      <p:ext uri="{BB962C8B-B14F-4D97-AF65-F5344CB8AC3E}">
        <p14:creationId xmlns:p14="http://schemas.microsoft.com/office/powerpoint/2010/main" val="203479881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376D341-B45A-4A7B-9149-112A050A9B10}"/>
              </a:ext>
            </a:extLst>
          </p:cNvPr>
          <p:cNvSpPr>
            <a:spLocks xmlns:a="http://schemas.openxmlformats.org/drawingml/2006/main" noGrp="1"/>
          </p:cNvSpPr>
          <p:nvPr/>
        </p:nvSpPr>
        <p:spPr>
          <a:xfrm xmlns:a="http://schemas.openxmlformats.org/drawingml/2006/main">
            <a:off x="647700" y="438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34FE4"/>
                </a:solidFill>
              </a:defRPr>
            </a:defPPr>
            <a:lvl1pPr>
              <a:defRPr sz="3300" b="1">
                <a:solidFill>
                  <a:srgbClr val="334FE4"/>
                </a:solidFill>
              </a:defRPr>
            </a:lvl1pPr>
            <a:lvl2pPr>
              <a:defRPr sz="3300" b="1">
                <a:solidFill>
                  <a:srgbClr val="334FE4"/>
                </a:solidFill>
              </a:defRPr>
            </a:lvl2pPr>
            <a:lvl3pPr>
              <a:defRPr sz="3300" b="1">
                <a:solidFill>
                  <a:srgbClr val="334FE4"/>
                </a:solidFill>
              </a:defRPr>
            </a:lvl3pPr>
            <a:lvl4pPr>
              <a:defRPr sz="3300" b="1">
                <a:solidFill>
                  <a:srgbClr val="334FE4"/>
                </a:solidFill>
              </a:defRPr>
            </a:lvl4pPr>
            <a:lvl5pPr>
              <a:defRPr sz="3300" b="1">
                <a:solidFill>
                  <a:srgbClr val="334FE4"/>
                </a:solidFill>
              </a:defRPr>
            </a:lvl5pPr>
            <a:lvl6pPr>
              <a:defRPr sz="3300" b="1">
                <a:solidFill>
                  <a:srgbClr val="334FE4"/>
                </a:solidFill>
              </a:defRPr>
            </a:lvl6pPr>
            <a:lvl7pPr>
              <a:defRPr sz="3300" b="1">
                <a:solidFill>
                  <a:srgbClr val="334FE4"/>
                </a:solidFill>
              </a:defRPr>
            </a:lvl7pPr>
            <a:lvl8pPr>
              <a:defRPr sz="3300" b="1">
                <a:solidFill>
                  <a:srgbClr val="334FE4"/>
                </a:solidFill>
              </a:defRPr>
            </a:lvl8pPr>
            <a:lvl9pPr>
              <a:defRPr sz="3300" b="1">
                <a:solidFill>
                  <a:srgbClr val="334FE4"/>
                </a:solidFill>
              </a:defRPr>
            </a:lvl9pPr>
          </a:lstStyle>
          <a:p xmlns:a="http://schemas.openxmlformats.org/drawingml/2006/main">
            <a:pPr>
              <a:defRPr sz="3300" b="1">
                <a:solidFill>
                  <a:srgbClr val="334FE4"/>
                </a:solidFill>
              </a:defRPr>
            </a:pPr>
            <a:r>
              <a:rPr sz="3300" b="1">
                <a:solidFill>
                  <a:srgbClr val="334FE4"/>
                </a:solidFill>
              </a:rPr>
              <a:t>Verified execution and next steps</a:t>
            </a:r>
          </a:p>
        </p:txBody>
      </p:sp>
      <p:sp>
        <p:nvSpPr>
          <p:cNvPr id="3" name="Ready">
            <a:extLst xmlns:a="http://schemas.openxmlformats.org/drawingml/2006/main">
              <a:ext uri="{FF2B5EF4-FFF2-40B4-BE49-F238E27FC236}">
                <a16:creationId xmlns:a16="http://schemas.microsoft.com/office/drawing/2014/main" id="{303A2423-4AB4-4807-AAEA-2EC9FA22197C}"/>
              </a:ext>
            </a:extLst>
          </p:cNvPr>
          <p:cNvSpPr>
            <a:spLocks xmlns:a="http://schemas.openxmlformats.org/drawingml/2006/main" noGrp="1"/>
          </p:cNvSpPr>
          <p:nvPr/>
        </p:nvSpPr>
        <p:spPr>
          <a:xfrm xmlns:a="http://schemas.openxmlformats.org/drawingml/2006/main">
            <a:off x="666750" y="1666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334FE4"/>
                </a:solidFill>
              </a:defRPr>
            </a:defPPr>
            <a:lvl1pPr>
              <a:defRPr sz="2625" b="1">
                <a:solidFill>
                  <a:srgbClr val="334FE4"/>
                </a:solidFill>
              </a:defRPr>
            </a:lvl1pPr>
            <a:lvl2pPr>
              <a:defRPr sz="2625" b="1">
                <a:solidFill>
                  <a:srgbClr val="334FE4"/>
                </a:solidFill>
              </a:defRPr>
            </a:lvl2pPr>
            <a:lvl3pPr>
              <a:defRPr sz="2625" b="1">
                <a:solidFill>
                  <a:srgbClr val="334FE4"/>
                </a:solidFill>
              </a:defRPr>
            </a:lvl3pPr>
            <a:lvl4pPr>
              <a:defRPr sz="2625" b="1">
                <a:solidFill>
                  <a:srgbClr val="334FE4"/>
                </a:solidFill>
              </a:defRPr>
            </a:lvl4pPr>
            <a:lvl5pPr>
              <a:defRPr sz="2625" b="1">
                <a:solidFill>
                  <a:srgbClr val="334FE4"/>
                </a:solidFill>
              </a:defRPr>
            </a:lvl5pPr>
            <a:lvl6pPr>
              <a:defRPr sz="2625" b="1">
                <a:solidFill>
                  <a:srgbClr val="334FE4"/>
                </a:solidFill>
              </a:defRPr>
            </a:lvl6pPr>
            <a:lvl7pPr>
              <a:defRPr sz="2625" b="1">
                <a:solidFill>
                  <a:srgbClr val="334FE4"/>
                </a:solidFill>
              </a:defRPr>
            </a:lvl7pPr>
            <a:lvl8pPr>
              <a:defRPr sz="2625" b="1">
                <a:solidFill>
                  <a:srgbClr val="334FE4"/>
                </a:solidFill>
              </a:defRPr>
            </a:lvl8pPr>
            <a:lvl9pPr>
              <a:defRPr sz="2625" b="1">
                <a:solidFill>
                  <a:srgbClr val="334FE4"/>
                </a:solidFill>
              </a:defRPr>
            </a:lvl9pPr>
          </a:lstStyle>
          <a:p xmlns:a="http://schemas.openxmlformats.org/drawingml/2006/main">
            <a:pPr>
              <a:defRPr sz="2625" b="1">
                <a:solidFill>
                  <a:srgbClr val="334FE4"/>
                </a:solidFill>
              </a:defRPr>
            </a:pPr>
            <a:r>
              <a:rPr sz="2625" b="1">
                <a:solidFill>
                  <a:srgbClr val="334FE4"/>
                </a:solidFill>
              </a:rPr>
              <a:t>28 runtime audit results passed</a:t>
            </a:r>
          </a:p>
        </p:txBody>
      </p:sp>
      <p:sp>
        <p:nvSpPr>
          <p:cNvPr id="4" name="Ready detail">
            <a:extLst xmlns:a="http://schemas.openxmlformats.org/drawingml/2006/main">
              <a:ext uri="{FF2B5EF4-FFF2-40B4-BE49-F238E27FC236}">
                <a16:creationId xmlns:a16="http://schemas.microsoft.com/office/drawing/2014/main" id="{15D7BA1C-7B5C-4D9C-838E-887826AC4C31}"/>
              </a:ext>
            </a:extLst>
          </p:cNvPr>
          <p:cNvSpPr>
            <a:spLocks xmlns:a="http://schemas.openxmlformats.org/drawingml/2006/main" noGrp="1"/>
          </p:cNvSpPr>
          <p:nvPr/>
        </p:nvSpPr>
        <p:spPr>
          <a:xfrm xmlns:a="http://schemas.openxmlformats.org/drawingml/2006/main">
            <a:off x="666750" y="2381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342"/>
                </a:solidFill>
              </a:defRPr>
            </a:defPPr>
            <a:lvl1pPr>
              <a:defRPr sz="2175" b="0">
                <a:solidFill>
                  <a:srgbClr val="172342"/>
                </a:solidFill>
              </a:defRPr>
            </a:lvl1pPr>
            <a:lvl2pPr>
              <a:defRPr sz="2175" b="0">
                <a:solidFill>
                  <a:srgbClr val="172342"/>
                </a:solidFill>
              </a:defRPr>
            </a:lvl2pPr>
            <a:lvl3pPr>
              <a:defRPr sz="2175" b="0">
                <a:solidFill>
                  <a:srgbClr val="172342"/>
                </a:solidFill>
              </a:defRPr>
            </a:lvl3pPr>
            <a:lvl4pPr>
              <a:defRPr sz="2175" b="0">
                <a:solidFill>
                  <a:srgbClr val="172342"/>
                </a:solidFill>
              </a:defRPr>
            </a:lvl4pPr>
            <a:lvl5pPr>
              <a:defRPr sz="2175" b="0">
                <a:solidFill>
                  <a:srgbClr val="172342"/>
                </a:solidFill>
              </a:defRPr>
            </a:lvl5pPr>
            <a:lvl6pPr>
              <a:defRPr sz="2175" b="0">
                <a:solidFill>
                  <a:srgbClr val="172342"/>
                </a:solidFill>
              </a:defRPr>
            </a:lvl6pPr>
            <a:lvl7pPr>
              <a:defRPr sz="2175" b="0">
                <a:solidFill>
                  <a:srgbClr val="172342"/>
                </a:solidFill>
              </a:defRPr>
            </a:lvl7pPr>
            <a:lvl8pPr>
              <a:defRPr sz="2175" b="0">
                <a:solidFill>
                  <a:srgbClr val="172342"/>
                </a:solidFill>
              </a:defRPr>
            </a:lvl8pPr>
            <a:lvl9pPr>
              <a:defRPr sz="2175" b="0">
                <a:solidFill>
                  <a:srgbClr val="172342"/>
                </a:solidFill>
              </a:defRPr>
            </a:lvl9pPr>
          </a:lstStyle>
          <a:p xmlns:a="http://schemas.openxmlformats.org/drawingml/2006/main">
            <a:pPr>
              <a:defRPr sz="2175" b="0">
                <a:solidFill>
                  <a:srgbClr val="172342"/>
                </a:solidFill>
              </a:defRPr>
            </a:pPr>
            <a:r>
              <a:rPr sz="2175" b="0">
                <a:solidFill>
                  <a:srgbClr val="172342"/>
                </a:solidFill>
              </a:rPr>
              <a:t>All 2,142,846 checks reconcile. Repetition preserved the published-check fingerprint.</a:t>
            </a:r>
          </a:p>
        </p:txBody>
      </p:sp>
      <p:sp>
        <p:nvSpPr>
          <p:cNvPr id="5" name="Next">
            <a:extLst xmlns:a="http://schemas.openxmlformats.org/drawingml/2006/main">
              <a:ext uri="{FF2B5EF4-FFF2-40B4-BE49-F238E27FC236}">
                <a16:creationId xmlns:a16="http://schemas.microsoft.com/office/drawing/2014/main" id="{A309BB30-6DE0-447F-AD18-D606A3D29424}"/>
              </a:ext>
            </a:extLst>
          </p:cNvPr>
          <p:cNvSpPr>
            <a:spLocks xmlns:a="http://schemas.openxmlformats.org/drawingml/2006/main" noGrp="1"/>
          </p:cNvSpPr>
          <p:nvPr/>
        </p:nvSpPr>
        <p:spPr>
          <a:xfrm xmlns:a="http://schemas.openxmlformats.org/drawingml/2006/main">
            <a:off x="666750" y="3810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334FE4"/>
                </a:solidFill>
              </a:defRPr>
            </a:defPPr>
            <a:lvl1pPr>
              <a:defRPr sz="2625" b="1">
                <a:solidFill>
                  <a:srgbClr val="334FE4"/>
                </a:solidFill>
              </a:defRPr>
            </a:lvl1pPr>
            <a:lvl2pPr>
              <a:defRPr sz="2625" b="1">
                <a:solidFill>
                  <a:srgbClr val="334FE4"/>
                </a:solidFill>
              </a:defRPr>
            </a:lvl2pPr>
            <a:lvl3pPr>
              <a:defRPr sz="2625" b="1">
                <a:solidFill>
                  <a:srgbClr val="334FE4"/>
                </a:solidFill>
              </a:defRPr>
            </a:lvl3pPr>
            <a:lvl4pPr>
              <a:defRPr sz="2625" b="1">
                <a:solidFill>
                  <a:srgbClr val="334FE4"/>
                </a:solidFill>
              </a:defRPr>
            </a:lvl4pPr>
            <a:lvl5pPr>
              <a:defRPr sz="2625" b="1">
                <a:solidFill>
                  <a:srgbClr val="334FE4"/>
                </a:solidFill>
              </a:defRPr>
            </a:lvl5pPr>
            <a:lvl6pPr>
              <a:defRPr sz="2625" b="1">
                <a:solidFill>
                  <a:srgbClr val="334FE4"/>
                </a:solidFill>
              </a:defRPr>
            </a:lvl6pPr>
            <a:lvl7pPr>
              <a:defRPr sz="2625" b="1">
                <a:solidFill>
                  <a:srgbClr val="334FE4"/>
                </a:solidFill>
              </a:defRPr>
            </a:lvl7pPr>
            <a:lvl8pPr>
              <a:defRPr sz="2625" b="1">
                <a:solidFill>
                  <a:srgbClr val="334FE4"/>
                </a:solidFill>
              </a:defRPr>
            </a:lvl8pPr>
            <a:lvl9pPr>
              <a:defRPr sz="2625" b="1">
                <a:solidFill>
                  <a:srgbClr val="334FE4"/>
                </a:solidFill>
              </a:defRPr>
            </a:lvl9pPr>
          </a:lstStyle>
          <a:p xmlns:a="http://schemas.openxmlformats.org/drawingml/2006/main">
            <a:pPr>
              <a:defRPr sz="2625" b="1">
                <a:solidFill>
                  <a:srgbClr val="334FE4"/>
                </a:solidFill>
              </a:defRPr>
            </a:pPr>
            <a:r>
              <a:rPr sz="2625" b="1">
                <a:solidFill>
                  <a:srgbClr val="334FE4"/>
                </a:solidFill>
              </a:rPr>
              <a:t>Operational review</a:t>
            </a:r>
          </a:p>
        </p:txBody>
      </p:sp>
      <p:sp>
        <p:nvSpPr>
          <p:cNvPr id="6" name="Next detail">
            <a:extLst xmlns:a="http://schemas.openxmlformats.org/drawingml/2006/main">
              <a:ext uri="{FF2B5EF4-FFF2-40B4-BE49-F238E27FC236}">
                <a16:creationId xmlns:a16="http://schemas.microsoft.com/office/drawing/2014/main" id="{6EEDF248-72B5-4CE0-87E2-6841B1C4A7CD}"/>
              </a:ext>
            </a:extLst>
          </p:cNvPr>
          <p:cNvSpPr>
            <a:spLocks xmlns:a="http://schemas.openxmlformats.org/drawingml/2006/main" noGrp="1"/>
          </p:cNvSpPr>
          <p:nvPr/>
        </p:nvSpPr>
        <p:spPr>
          <a:xfrm xmlns:a="http://schemas.openxmlformats.org/drawingml/2006/main">
            <a:off x="666750" y="45243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342"/>
                </a:solidFill>
              </a:defRPr>
            </a:defPPr>
            <a:lvl1pPr>
              <a:defRPr sz="2175" b="0">
                <a:solidFill>
                  <a:srgbClr val="172342"/>
                </a:solidFill>
              </a:defRPr>
            </a:lvl1pPr>
            <a:lvl2pPr>
              <a:defRPr sz="2175" b="0">
                <a:solidFill>
                  <a:srgbClr val="172342"/>
                </a:solidFill>
              </a:defRPr>
            </a:lvl2pPr>
            <a:lvl3pPr>
              <a:defRPr sz="2175" b="0">
                <a:solidFill>
                  <a:srgbClr val="172342"/>
                </a:solidFill>
              </a:defRPr>
            </a:lvl3pPr>
            <a:lvl4pPr>
              <a:defRPr sz="2175" b="0">
                <a:solidFill>
                  <a:srgbClr val="172342"/>
                </a:solidFill>
              </a:defRPr>
            </a:lvl4pPr>
            <a:lvl5pPr>
              <a:defRPr sz="2175" b="0">
                <a:solidFill>
                  <a:srgbClr val="172342"/>
                </a:solidFill>
              </a:defRPr>
            </a:lvl5pPr>
            <a:lvl6pPr>
              <a:defRPr sz="2175" b="0">
                <a:solidFill>
                  <a:srgbClr val="172342"/>
                </a:solidFill>
              </a:defRPr>
            </a:lvl6pPr>
            <a:lvl7pPr>
              <a:defRPr sz="2175" b="0">
                <a:solidFill>
                  <a:srgbClr val="172342"/>
                </a:solidFill>
              </a:defRPr>
            </a:lvl7pPr>
            <a:lvl8pPr>
              <a:defRPr sz="2175" b="0">
                <a:solidFill>
                  <a:srgbClr val="172342"/>
                </a:solidFill>
              </a:defRPr>
            </a:lvl8pPr>
            <a:lvl9pPr>
              <a:defRPr sz="2175" b="0">
                <a:solidFill>
                  <a:srgbClr val="172342"/>
                </a:solidFill>
              </a:defRPr>
            </a:lvl9pPr>
          </a:lstStyle>
          <a:p xmlns:a="http://schemas.openxmlformats.org/drawingml/2006/main">
            <a:pPr>
              <a:defRPr sz="2175" b="0">
                <a:solidFill>
                  <a:srgbClr val="172342"/>
                </a:solidFill>
              </a:defRPr>
            </a:pPr>
            <a:r>
              <a:rPr sz="2175" b="0">
                <a:solidFill>
                  <a:srgbClr val="172342"/>
                </a:solidFill>
              </a:rPr>
              <a:t>Reconcile missing payment records and confirm discount permissions before developing risk scores.</a:t>
            </a:r>
          </a:p>
        </p:txBody>
      </p:sp>
      <p:sp>
        <p:nvSpPr>
          <p:cNvPr id="7" name="Source and scope">
            <a:extLst xmlns:a="http://schemas.openxmlformats.org/drawingml/2006/main">
              <a:ext uri="{FF2B5EF4-FFF2-40B4-BE49-F238E27FC236}">
                <a16:creationId xmlns:a16="http://schemas.microsoft.com/office/drawing/2014/main" id="{39EA7705-AF09-4869-A3EA-8D9B10FA0C72}"/>
              </a:ext>
            </a:extLst>
          </p:cNvPr>
          <p:cNvSpPr>
            <a:spLocks xmlns:a="http://schemas.openxmlformats.org/drawingml/2006/main" noGrp="1"/>
          </p:cNvSpPr>
          <p:nvPr/>
        </p:nvSpPr>
        <p:spPr>
          <a:xfrm xmlns:a="http://schemas.openxmlformats.org/drawingml/2006/main">
            <a:off x="666750" y="61912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defRPr>
            </a:defPPr>
            <a:lvl1pPr>
              <a:defRPr sz="1350" b="0">
                <a:solidFill>
                  <a:srgbClr val="526078"/>
                </a:solidFill>
              </a:defRPr>
            </a:lvl1pPr>
            <a:lvl2pPr>
              <a:defRPr sz="1350" b="0">
                <a:solidFill>
                  <a:srgbClr val="526078"/>
                </a:solidFill>
              </a:defRPr>
            </a:lvl2pPr>
            <a:lvl3pPr>
              <a:defRPr sz="1350" b="0">
                <a:solidFill>
                  <a:srgbClr val="526078"/>
                </a:solidFill>
              </a:defRPr>
            </a:lvl3pPr>
            <a:lvl4pPr>
              <a:defRPr sz="1350" b="0">
                <a:solidFill>
                  <a:srgbClr val="526078"/>
                </a:solidFill>
              </a:defRPr>
            </a:lvl4pPr>
            <a:lvl5pPr>
              <a:defRPr sz="1350" b="0">
                <a:solidFill>
                  <a:srgbClr val="526078"/>
                </a:solidFill>
              </a:defRPr>
            </a:lvl5pPr>
            <a:lvl6pPr>
              <a:defRPr sz="1350" b="0">
                <a:solidFill>
                  <a:srgbClr val="526078"/>
                </a:solidFill>
              </a:defRPr>
            </a:lvl6pPr>
            <a:lvl7pPr>
              <a:defRPr sz="1350" b="0">
                <a:solidFill>
                  <a:srgbClr val="526078"/>
                </a:solidFill>
              </a:defRPr>
            </a:lvl7pPr>
            <a:lvl8pPr>
              <a:defRPr sz="1350" b="0">
                <a:solidFill>
                  <a:srgbClr val="526078"/>
                </a:solidFill>
              </a:defRPr>
            </a:lvl8pPr>
            <a:lvl9pPr>
              <a:defRPr sz="1350" b="0">
                <a:solidFill>
                  <a:srgbClr val="526078"/>
                </a:solidFill>
              </a:defRPr>
            </a:lvl9pPr>
          </a:lstStyle>
          <a:p xmlns:a="http://schemas.openxmlformats.org/drawingml/2006/main">
            <a:pPr>
              <a:defRPr sz="1350" b="0">
                <a:solidFill>
                  <a:srgbClr val="526078"/>
                </a:solidFill>
              </a:defRPr>
            </a:pPr>
            <a:r>
              <a:rPr sz="1350" b="0">
                <a:solidFill>
                  <a:srgbClr val="526078"/>
                </a:solidFill>
              </a:rPr>
              <a:t>Validated data supports focused review. Business context remains essential.</a:t>
            </a:r>
          </a:p>
        </p:txBody>
      </p:sp>
    </p:spTree>
    <p:extLst>
      <p:ext uri="{BB962C8B-B14F-4D97-AF65-F5344CB8AC3E}">
        <p14:creationId xmlns:p14="http://schemas.microsoft.com/office/powerpoint/2010/main" val="159250877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7773618-0BF3-424E-B516-B7BDB3230BA5}"/>
              </a:ext>
            </a:extLst>
          </p:cNvPr>
          <p:cNvSpPr>
            <a:spLocks xmlns:a="http://schemas.openxmlformats.org/drawingml/2006/main" noGrp="1"/>
          </p:cNvSpPr>
          <p:nvPr/>
        </p:nvSpPr>
        <p:spPr>
          <a:xfrm xmlns:a="http://schemas.openxmlformats.org/drawingml/2006/main">
            <a:off x="666750" y="438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34FE4"/>
                </a:solidFill>
              </a:defRPr>
            </a:defPPr>
            <a:lvl1pPr>
              <a:defRPr sz="3300" b="1">
                <a:solidFill>
                  <a:srgbClr val="334FE4"/>
                </a:solidFill>
              </a:defRPr>
            </a:lvl1pPr>
            <a:lvl2pPr>
              <a:defRPr sz="3300" b="1">
                <a:solidFill>
                  <a:srgbClr val="334FE4"/>
                </a:solidFill>
              </a:defRPr>
            </a:lvl2pPr>
            <a:lvl3pPr>
              <a:defRPr sz="3300" b="1">
                <a:solidFill>
                  <a:srgbClr val="334FE4"/>
                </a:solidFill>
              </a:defRPr>
            </a:lvl3pPr>
            <a:lvl4pPr>
              <a:defRPr sz="3300" b="1">
                <a:solidFill>
                  <a:srgbClr val="334FE4"/>
                </a:solidFill>
              </a:defRPr>
            </a:lvl4pPr>
            <a:lvl5pPr>
              <a:defRPr sz="3300" b="1">
                <a:solidFill>
                  <a:srgbClr val="334FE4"/>
                </a:solidFill>
              </a:defRPr>
            </a:lvl5pPr>
            <a:lvl6pPr>
              <a:defRPr sz="3300" b="1">
                <a:solidFill>
                  <a:srgbClr val="334FE4"/>
                </a:solidFill>
              </a:defRPr>
            </a:lvl6pPr>
            <a:lvl7pPr>
              <a:defRPr sz="3300" b="1">
                <a:solidFill>
                  <a:srgbClr val="334FE4"/>
                </a:solidFill>
              </a:defRPr>
            </a:lvl7pPr>
            <a:lvl8pPr>
              <a:defRPr sz="3300" b="1">
                <a:solidFill>
                  <a:srgbClr val="334FE4"/>
                </a:solidFill>
              </a:defRPr>
            </a:lvl8pPr>
            <a:lvl9pPr>
              <a:defRPr sz="3300" b="1">
                <a:solidFill>
                  <a:srgbClr val="334FE4"/>
                </a:solidFill>
              </a:defRPr>
            </a:lvl9pPr>
          </a:lstStyle>
          <a:p xmlns:a="http://schemas.openxmlformats.org/drawingml/2006/main">
            <a:pPr>
              <a:defRPr sz="3300" b="1">
                <a:solidFill>
                  <a:srgbClr val="334FE4"/>
                </a:solidFill>
              </a:defRPr>
            </a:pPr>
            <a:r>
              <a:rPr sz="3300" b="1">
                <a:solidFill>
                  <a:srgbClr val="334FE4"/>
                </a:solidFill>
              </a:rPr>
              <a:t>Appendix: definitions for questions</a:t>
            </a:r>
          </a:p>
        </p:txBody>
      </p:sp>
      <p:sp>
        <p:nvSpPr>
          <p:cNvPr id="3" name="">
            <a:extLst xmlns:a="http://schemas.openxmlformats.org/drawingml/2006/main">
              <a:ext uri="{FF2B5EF4-FFF2-40B4-BE49-F238E27FC236}">
                <a16:creationId xmlns:a16="http://schemas.microsoft.com/office/drawing/2014/main" id="{B36C75CB-1807-41C6-B72B-76C7968F03E8}"/>
              </a:ext>
            </a:extLst>
          </p:cNvPr>
          <p:cNvSpPr>
            <a:spLocks xmlns:a="http://schemas.openxmlformats.org/drawingml/2006/main" noGrp="1"/>
          </p:cNvSpPr>
          <p:nvPr/>
        </p:nvSpPr>
        <p:spPr>
          <a:xfrm xmlns:a="http://schemas.openxmlformats.org/drawingml/2006/main">
            <a:off x="666750" y="1571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334FE4"/>
                </a:solidFill>
              </a:defRPr>
            </a:defPPr>
            <a:lvl1pPr>
              <a:defRPr sz="2175" b="1">
                <a:solidFill>
                  <a:srgbClr val="334FE4"/>
                </a:solidFill>
              </a:defRPr>
            </a:lvl1pPr>
            <a:lvl2pPr>
              <a:defRPr sz="2175" b="1">
                <a:solidFill>
                  <a:srgbClr val="334FE4"/>
                </a:solidFill>
              </a:defRPr>
            </a:lvl2pPr>
            <a:lvl3pPr>
              <a:defRPr sz="2175" b="1">
                <a:solidFill>
                  <a:srgbClr val="334FE4"/>
                </a:solidFill>
              </a:defRPr>
            </a:lvl3pPr>
            <a:lvl4pPr>
              <a:defRPr sz="2175" b="1">
                <a:solidFill>
                  <a:srgbClr val="334FE4"/>
                </a:solidFill>
              </a:defRPr>
            </a:lvl4pPr>
            <a:lvl5pPr>
              <a:defRPr sz="2175" b="1">
                <a:solidFill>
                  <a:srgbClr val="334FE4"/>
                </a:solidFill>
              </a:defRPr>
            </a:lvl5pPr>
            <a:lvl6pPr>
              <a:defRPr sz="2175" b="1">
                <a:solidFill>
                  <a:srgbClr val="334FE4"/>
                </a:solidFill>
              </a:defRPr>
            </a:lvl6pPr>
            <a:lvl7pPr>
              <a:defRPr sz="2175" b="1">
                <a:solidFill>
                  <a:srgbClr val="334FE4"/>
                </a:solidFill>
              </a:defRPr>
            </a:lvl7pPr>
            <a:lvl8pPr>
              <a:defRPr sz="2175" b="1">
                <a:solidFill>
                  <a:srgbClr val="334FE4"/>
                </a:solidFill>
              </a:defRPr>
            </a:lvl8pPr>
            <a:lvl9pPr>
              <a:defRPr sz="2175" b="1">
                <a:solidFill>
                  <a:srgbClr val="334FE4"/>
                </a:solidFill>
              </a:defRPr>
            </a:lvl9pPr>
          </a:lstStyle>
          <a:p xmlns:a="http://schemas.openxmlformats.org/drawingml/2006/main">
            <a:pPr>
              <a:defRPr sz="2175" b="1">
                <a:solidFill>
                  <a:srgbClr val="334FE4"/>
                </a:solidFill>
              </a:defRPr>
            </a:pPr>
            <a:r>
              <a:rPr sz="2175" b="1">
                <a:solidFill>
                  <a:srgbClr val="334FE4"/>
                </a:solidFill>
              </a:rPr>
              <a:t>Tip magnitude</a:t>
            </a:r>
          </a:p>
        </p:txBody>
      </p:sp>
      <p:sp>
        <p:nvSpPr>
          <p:cNvPr id="4" name="">
            <a:extLst xmlns:a="http://schemas.openxmlformats.org/drawingml/2006/main">
              <a:ext uri="{FF2B5EF4-FFF2-40B4-BE49-F238E27FC236}">
                <a16:creationId xmlns:a16="http://schemas.microsoft.com/office/drawing/2014/main" id="{CAB1E8A2-AAD0-43BF-B75A-6FF19C792B3A}"/>
              </a:ext>
            </a:extLst>
          </p:cNvPr>
          <p:cNvSpPr>
            <a:spLocks xmlns:a="http://schemas.openxmlformats.org/drawingml/2006/main" noGrp="1"/>
          </p:cNvSpPr>
          <p:nvPr/>
        </p:nvSpPr>
        <p:spPr>
          <a:xfrm xmlns:a="http://schemas.openxmlformats.org/drawingml/2006/main">
            <a:off x="3905250" y="157162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342"/>
                </a:solidFill>
              </a:defRPr>
            </a:defPPr>
            <a:lvl1pPr>
              <a:defRPr sz="2100" b="0">
                <a:solidFill>
                  <a:srgbClr val="172342"/>
                </a:solidFill>
              </a:defRPr>
            </a:lvl1pPr>
            <a:lvl2pPr>
              <a:defRPr sz="2100" b="0">
                <a:solidFill>
                  <a:srgbClr val="172342"/>
                </a:solidFill>
              </a:defRPr>
            </a:lvl2pPr>
            <a:lvl3pPr>
              <a:defRPr sz="2100" b="0">
                <a:solidFill>
                  <a:srgbClr val="172342"/>
                </a:solidFill>
              </a:defRPr>
            </a:lvl3pPr>
            <a:lvl4pPr>
              <a:defRPr sz="2100" b="0">
                <a:solidFill>
                  <a:srgbClr val="172342"/>
                </a:solidFill>
              </a:defRPr>
            </a:lvl4pPr>
            <a:lvl5pPr>
              <a:defRPr sz="2100" b="0">
                <a:solidFill>
                  <a:srgbClr val="172342"/>
                </a:solidFill>
              </a:defRPr>
            </a:lvl5pPr>
            <a:lvl6pPr>
              <a:defRPr sz="2100" b="0">
                <a:solidFill>
                  <a:srgbClr val="172342"/>
                </a:solidFill>
              </a:defRPr>
            </a:lvl6pPr>
            <a:lvl7pPr>
              <a:defRPr sz="2100" b="0">
                <a:solidFill>
                  <a:srgbClr val="172342"/>
                </a:solidFill>
              </a:defRPr>
            </a:lvl7pPr>
            <a:lvl8pPr>
              <a:defRPr sz="2100" b="0">
                <a:solidFill>
                  <a:srgbClr val="172342"/>
                </a:solidFill>
              </a:defRPr>
            </a:lvl8pPr>
            <a:lvl9pPr>
              <a:defRPr sz="2100" b="0">
                <a:solidFill>
                  <a:srgbClr val="172342"/>
                </a:solidFill>
              </a:defRPr>
            </a:lvl9pPr>
          </a:lstStyle>
          <a:p xmlns:a="http://schemas.openxmlformats.org/drawingml/2006/main">
            <a:pPr>
              <a:defRPr sz="2100" b="0">
                <a:solidFill>
                  <a:srgbClr val="172342"/>
                </a:solidFill>
              </a:defRPr>
            </a:pPr>
            <a:r>
              <a:rPr sz="2100" b="0">
                <a:solidFill>
                  <a:srgbClr val="172342"/>
                </a:solidFill>
              </a:rPr>
              <a:t>Sum payment tips first, then take the absolute value. A recorded -4 is a larger tip than -3.</a:t>
            </a:r>
          </a:p>
        </p:txBody>
      </p:sp>
      <p:sp>
        <p:nvSpPr>
          <p:cNvPr id="5" name="">
            <a:extLst xmlns:a="http://schemas.openxmlformats.org/drawingml/2006/main">
              <a:ext uri="{FF2B5EF4-FFF2-40B4-BE49-F238E27FC236}">
                <a16:creationId xmlns:a16="http://schemas.microsoft.com/office/drawing/2014/main" id="{129BD527-4F8B-40BB-AA55-33C6F834BFE2}"/>
              </a:ext>
            </a:extLst>
          </p:cNvPr>
          <p:cNvSpPr>
            <a:spLocks xmlns:a="http://schemas.openxmlformats.org/drawingml/2006/main" noGrp="1"/>
          </p:cNvSpPr>
          <p:nvPr/>
        </p:nvSpPr>
        <p:spPr>
          <a:xfrm xmlns:a="http://schemas.openxmlformats.org/drawingml/2006/main">
            <a:off x="666750" y="28575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334FE4"/>
                </a:solidFill>
              </a:defRPr>
            </a:defPPr>
            <a:lvl1pPr>
              <a:defRPr sz="1875" b="1">
                <a:solidFill>
                  <a:srgbClr val="334FE4"/>
                </a:solidFill>
              </a:defRPr>
            </a:lvl1pPr>
            <a:lvl2pPr>
              <a:defRPr sz="1875" b="1">
                <a:solidFill>
                  <a:srgbClr val="334FE4"/>
                </a:solidFill>
              </a:defRPr>
            </a:lvl2pPr>
            <a:lvl3pPr>
              <a:defRPr sz="1875" b="1">
                <a:solidFill>
                  <a:srgbClr val="334FE4"/>
                </a:solidFill>
              </a:defRPr>
            </a:lvl3pPr>
            <a:lvl4pPr>
              <a:defRPr sz="1875" b="1">
                <a:solidFill>
                  <a:srgbClr val="334FE4"/>
                </a:solidFill>
              </a:defRPr>
            </a:lvl4pPr>
            <a:lvl5pPr>
              <a:defRPr sz="1875" b="1">
                <a:solidFill>
                  <a:srgbClr val="334FE4"/>
                </a:solidFill>
              </a:defRPr>
            </a:lvl5pPr>
            <a:lvl6pPr>
              <a:defRPr sz="1875" b="1">
                <a:solidFill>
                  <a:srgbClr val="334FE4"/>
                </a:solidFill>
              </a:defRPr>
            </a:lvl6pPr>
            <a:lvl7pPr>
              <a:defRPr sz="1875" b="1">
                <a:solidFill>
                  <a:srgbClr val="334FE4"/>
                </a:solidFill>
              </a:defRPr>
            </a:lvl7pPr>
            <a:lvl8pPr>
              <a:defRPr sz="1875" b="1">
                <a:solidFill>
                  <a:srgbClr val="334FE4"/>
                </a:solidFill>
              </a:defRPr>
            </a:lvl8pPr>
            <a:lvl9pPr>
              <a:defRPr sz="1875" b="1">
                <a:solidFill>
                  <a:srgbClr val="334FE4"/>
                </a:solidFill>
              </a:defRPr>
            </a:lvl9pPr>
          </a:lstStyle>
          <a:p xmlns:a="http://schemas.openxmlformats.org/drawingml/2006/main">
            <a:pPr>
              <a:defRPr sz="1875" b="1">
                <a:solidFill>
                  <a:srgbClr val="334FE4"/>
                </a:solidFill>
              </a:defRPr>
            </a:pPr>
            <a:r>
              <a:rPr sz="1875" b="1">
                <a:solidFill>
                  <a:srgbClr val="334FE4"/>
                </a:solidFill>
              </a:rPr>
              <a:t>IQR outlier rule</a:t>
            </a:r>
          </a:p>
        </p:txBody>
      </p:sp>
      <p:sp>
        <p:nvSpPr>
          <p:cNvPr id="6" name="">
            <a:extLst xmlns:a="http://schemas.openxmlformats.org/drawingml/2006/main">
              <a:ext uri="{FF2B5EF4-FFF2-40B4-BE49-F238E27FC236}">
                <a16:creationId xmlns:a16="http://schemas.microsoft.com/office/drawing/2014/main" id="{231AF53E-C5C4-4968-A142-F3D7692BD1A5}"/>
              </a:ext>
            </a:extLst>
          </p:cNvPr>
          <p:cNvSpPr>
            <a:spLocks xmlns:a="http://schemas.openxmlformats.org/drawingml/2006/main" noGrp="1"/>
          </p:cNvSpPr>
          <p:nvPr/>
        </p:nvSpPr>
        <p:spPr>
          <a:xfrm xmlns:a="http://schemas.openxmlformats.org/drawingml/2006/main">
            <a:off x="3905250" y="2857500"/>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342"/>
                </a:solidFill>
              </a:defRPr>
            </a:defPPr>
            <a:lvl1pPr>
              <a:defRPr sz="2100" b="0">
                <a:solidFill>
                  <a:srgbClr val="172342"/>
                </a:solidFill>
              </a:defRPr>
            </a:lvl1pPr>
            <a:lvl2pPr>
              <a:defRPr sz="2100" b="0">
                <a:solidFill>
                  <a:srgbClr val="172342"/>
                </a:solidFill>
              </a:defRPr>
            </a:lvl2pPr>
            <a:lvl3pPr>
              <a:defRPr sz="2100" b="0">
                <a:solidFill>
                  <a:srgbClr val="172342"/>
                </a:solidFill>
              </a:defRPr>
            </a:lvl3pPr>
            <a:lvl4pPr>
              <a:defRPr sz="2100" b="0">
                <a:solidFill>
                  <a:srgbClr val="172342"/>
                </a:solidFill>
              </a:defRPr>
            </a:lvl4pPr>
            <a:lvl5pPr>
              <a:defRPr sz="2100" b="0">
                <a:solidFill>
                  <a:srgbClr val="172342"/>
                </a:solidFill>
              </a:defRPr>
            </a:lvl5pPr>
            <a:lvl6pPr>
              <a:defRPr sz="2100" b="0">
                <a:solidFill>
                  <a:srgbClr val="172342"/>
                </a:solidFill>
              </a:defRPr>
            </a:lvl6pPr>
            <a:lvl7pPr>
              <a:defRPr sz="2100" b="0">
                <a:solidFill>
                  <a:srgbClr val="172342"/>
                </a:solidFill>
              </a:defRPr>
            </a:lvl7pPr>
            <a:lvl8pPr>
              <a:defRPr sz="2100" b="0">
                <a:solidFill>
                  <a:srgbClr val="172342"/>
                </a:solidFill>
              </a:defRPr>
            </a:lvl8pPr>
            <a:lvl9pPr>
              <a:defRPr sz="2100" b="0">
                <a:solidFill>
                  <a:srgbClr val="172342"/>
                </a:solidFill>
              </a:defRPr>
            </a:lvl9pPr>
          </a:lstStyle>
          <a:p xmlns:a="http://schemas.openxmlformats.org/drawingml/2006/main">
            <a:pPr>
              <a:defRPr sz="2100" b="0">
                <a:solidFill>
                  <a:srgbClr val="172342"/>
                </a:solidFill>
              </a:defRPr>
            </a:pPr>
            <a:r>
              <a:rPr sz="2100" b="0">
                <a:solidFill>
                  <a:srgbClr val="172342"/>
                </a:solidFill>
              </a:rPr>
              <a:t>IQR is the distance from the 25th to the 75th percentile. Flag values above Q3 + 1.5 × IQR.</a:t>
            </a:r>
          </a:p>
        </p:txBody>
      </p:sp>
      <p:sp>
        <p:nvSpPr>
          <p:cNvPr id="7" name="">
            <a:extLst xmlns:a="http://schemas.openxmlformats.org/drawingml/2006/main">
              <a:ext uri="{FF2B5EF4-FFF2-40B4-BE49-F238E27FC236}">
                <a16:creationId xmlns:a16="http://schemas.microsoft.com/office/drawing/2014/main" id="{C7CB2622-8C05-42E3-B04B-5949FC085C2C}"/>
              </a:ext>
            </a:extLst>
          </p:cNvPr>
          <p:cNvSpPr>
            <a:spLocks xmlns:a="http://schemas.openxmlformats.org/drawingml/2006/main" noGrp="1"/>
          </p:cNvSpPr>
          <p:nvPr/>
        </p:nvSpPr>
        <p:spPr>
          <a:xfrm xmlns:a="http://schemas.openxmlformats.org/drawingml/2006/main">
            <a:off x="666750" y="4238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334FE4"/>
                </a:solidFill>
              </a:defRPr>
            </a:defPPr>
            <a:lvl1pPr>
              <a:defRPr sz="2175" b="1">
                <a:solidFill>
                  <a:srgbClr val="334FE4"/>
                </a:solidFill>
              </a:defRPr>
            </a:lvl1pPr>
            <a:lvl2pPr>
              <a:defRPr sz="2175" b="1">
                <a:solidFill>
                  <a:srgbClr val="334FE4"/>
                </a:solidFill>
              </a:defRPr>
            </a:lvl2pPr>
            <a:lvl3pPr>
              <a:defRPr sz="2175" b="1">
                <a:solidFill>
                  <a:srgbClr val="334FE4"/>
                </a:solidFill>
              </a:defRPr>
            </a:lvl3pPr>
            <a:lvl4pPr>
              <a:defRPr sz="2175" b="1">
                <a:solidFill>
                  <a:srgbClr val="334FE4"/>
                </a:solidFill>
              </a:defRPr>
            </a:lvl4pPr>
            <a:lvl5pPr>
              <a:defRPr sz="2175" b="1">
                <a:solidFill>
                  <a:srgbClr val="334FE4"/>
                </a:solidFill>
              </a:defRPr>
            </a:lvl5pPr>
            <a:lvl6pPr>
              <a:defRPr sz="2175" b="1">
                <a:solidFill>
                  <a:srgbClr val="334FE4"/>
                </a:solidFill>
              </a:defRPr>
            </a:lvl6pPr>
            <a:lvl7pPr>
              <a:defRPr sz="2175" b="1">
                <a:solidFill>
                  <a:srgbClr val="334FE4"/>
                </a:solidFill>
              </a:defRPr>
            </a:lvl7pPr>
            <a:lvl8pPr>
              <a:defRPr sz="2175" b="1">
                <a:solidFill>
                  <a:srgbClr val="334FE4"/>
                </a:solidFill>
              </a:defRPr>
            </a:lvl8pPr>
            <a:lvl9pPr>
              <a:defRPr sz="2175" b="1">
                <a:solidFill>
                  <a:srgbClr val="334FE4"/>
                </a:solidFill>
              </a:defRPr>
            </a:lvl9pPr>
          </a:lstStyle>
          <a:p xmlns:a="http://schemas.openxmlformats.org/drawingml/2006/main">
            <a:pPr>
              <a:defRPr sz="2175" b="1">
                <a:solidFill>
                  <a:srgbClr val="334FE4"/>
                </a:solidFill>
              </a:defRPr>
            </a:pPr>
            <a:r>
              <a:rPr sz="2175" b="1">
                <a:solidFill>
                  <a:srgbClr val="334FE4"/>
                </a:solidFill>
              </a:rPr>
              <a:t>Worked example</a:t>
            </a:r>
          </a:p>
        </p:txBody>
      </p:sp>
      <p:sp>
        <p:nvSpPr>
          <p:cNvPr id="8" name="">
            <a:extLst xmlns:a="http://schemas.openxmlformats.org/drawingml/2006/main">
              <a:ext uri="{FF2B5EF4-FFF2-40B4-BE49-F238E27FC236}">
                <a16:creationId xmlns:a16="http://schemas.microsoft.com/office/drawing/2014/main" id="{78098C90-B492-43B9-BEF4-0B40B2DCD891}"/>
              </a:ext>
            </a:extLst>
          </p:cNvPr>
          <p:cNvSpPr>
            <a:spLocks xmlns:a="http://schemas.openxmlformats.org/drawingml/2006/main" noGrp="1"/>
          </p:cNvSpPr>
          <p:nvPr/>
        </p:nvSpPr>
        <p:spPr>
          <a:xfrm xmlns:a="http://schemas.openxmlformats.org/drawingml/2006/main">
            <a:off x="3905250" y="4238625"/>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342"/>
                </a:solidFill>
              </a:defRPr>
            </a:defPPr>
            <a:lvl1pPr>
              <a:defRPr sz="2100" b="0">
                <a:solidFill>
                  <a:srgbClr val="172342"/>
                </a:solidFill>
              </a:defRPr>
            </a:lvl1pPr>
            <a:lvl2pPr>
              <a:defRPr sz="2100" b="0">
                <a:solidFill>
                  <a:srgbClr val="172342"/>
                </a:solidFill>
              </a:defRPr>
            </a:lvl2pPr>
            <a:lvl3pPr>
              <a:defRPr sz="2100" b="0">
                <a:solidFill>
                  <a:srgbClr val="172342"/>
                </a:solidFill>
              </a:defRPr>
            </a:lvl3pPr>
            <a:lvl4pPr>
              <a:defRPr sz="2100" b="0">
                <a:solidFill>
                  <a:srgbClr val="172342"/>
                </a:solidFill>
              </a:defRPr>
            </a:lvl4pPr>
            <a:lvl5pPr>
              <a:defRPr sz="2100" b="0">
                <a:solidFill>
                  <a:srgbClr val="172342"/>
                </a:solidFill>
              </a:defRPr>
            </a:lvl5pPr>
            <a:lvl6pPr>
              <a:defRPr sz="2100" b="0">
                <a:solidFill>
                  <a:srgbClr val="172342"/>
                </a:solidFill>
              </a:defRPr>
            </a:lvl6pPr>
            <a:lvl7pPr>
              <a:defRPr sz="2100" b="0">
                <a:solidFill>
                  <a:srgbClr val="172342"/>
                </a:solidFill>
              </a:defRPr>
            </a:lvl7pPr>
            <a:lvl8pPr>
              <a:defRPr sz="2100" b="0">
                <a:solidFill>
                  <a:srgbClr val="172342"/>
                </a:solidFill>
              </a:defRPr>
            </a:lvl8pPr>
            <a:lvl9pPr>
              <a:defRPr sz="2100" b="0">
                <a:solidFill>
                  <a:srgbClr val="172342"/>
                </a:solidFill>
              </a:defRPr>
            </a:lvl9pPr>
          </a:lstStyle>
          <a:p xmlns:a="http://schemas.openxmlformats.org/drawingml/2006/main">
            <a:pPr>
              <a:defRPr sz="2100" b="0">
                <a:solidFill>
                  <a:srgbClr val="172342"/>
                </a:solidFill>
              </a:defRPr>
            </a:pPr>
            <a:r>
              <a:rPr sz="2100" b="0">
                <a:solidFill>
                  <a:srgbClr val="172342"/>
                </a:solidFill>
              </a:rPr>
              <a:t>If Q1 = 0 and Q3 = 6, the high-outlier threshold is 15. This is an example, not a measured result.</a:t>
            </a:r>
          </a:p>
        </p:txBody>
      </p:sp>
      <p:sp>
        <p:nvSpPr>
          <p:cNvPr id="9" name="">
            <a:extLst xmlns:a="http://schemas.openxmlformats.org/drawingml/2006/main">
              <a:ext uri="{FF2B5EF4-FFF2-40B4-BE49-F238E27FC236}">
                <a16:creationId xmlns:a16="http://schemas.microsoft.com/office/drawing/2014/main" id="{4B1C5BEA-3142-4736-ADE8-AD8B2D23F772}"/>
              </a:ext>
            </a:extLst>
          </p:cNvPr>
          <p:cNvSpPr>
            <a:spLocks xmlns:a="http://schemas.openxmlformats.org/drawingml/2006/main" noGrp="1"/>
          </p:cNvSpPr>
          <p:nvPr/>
        </p:nvSpPr>
        <p:spPr>
          <a:xfrm xmlns:a="http://schemas.openxmlformats.org/drawingml/2006/main">
            <a:off x="666750" y="5953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334FE4"/>
                </a:solidFill>
              </a:defRPr>
            </a:defPPr>
            <a:lvl1pPr>
              <a:defRPr sz="1725" b="1">
                <a:solidFill>
                  <a:srgbClr val="334FE4"/>
                </a:solidFill>
              </a:defRPr>
            </a:lvl1pPr>
            <a:lvl2pPr>
              <a:defRPr sz="1725" b="1">
                <a:solidFill>
                  <a:srgbClr val="334FE4"/>
                </a:solidFill>
              </a:defRPr>
            </a:lvl2pPr>
            <a:lvl3pPr>
              <a:defRPr sz="1725" b="1">
                <a:solidFill>
                  <a:srgbClr val="334FE4"/>
                </a:solidFill>
              </a:defRPr>
            </a:lvl3pPr>
            <a:lvl4pPr>
              <a:defRPr sz="1725" b="1">
                <a:solidFill>
                  <a:srgbClr val="334FE4"/>
                </a:solidFill>
              </a:defRPr>
            </a:lvl4pPr>
            <a:lvl5pPr>
              <a:defRPr sz="1725" b="1">
                <a:solidFill>
                  <a:srgbClr val="334FE4"/>
                </a:solidFill>
              </a:defRPr>
            </a:lvl5pPr>
            <a:lvl6pPr>
              <a:defRPr sz="1725" b="1">
                <a:solidFill>
                  <a:srgbClr val="334FE4"/>
                </a:solidFill>
              </a:defRPr>
            </a:lvl6pPr>
            <a:lvl7pPr>
              <a:defRPr sz="1725" b="1">
                <a:solidFill>
                  <a:srgbClr val="334FE4"/>
                </a:solidFill>
              </a:defRPr>
            </a:lvl7pPr>
            <a:lvl8pPr>
              <a:defRPr sz="1725" b="1">
                <a:solidFill>
                  <a:srgbClr val="334FE4"/>
                </a:solidFill>
              </a:defRPr>
            </a:lvl8pPr>
            <a:lvl9pPr>
              <a:defRPr sz="1725" b="1">
                <a:solidFill>
                  <a:srgbClr val="334FE4"/>
                </a:solidFill>
              </a:defRPr>
            </a:lvl9pPr>
          </a:lstStyle>
          <a:p xmlns:a="http://schemas.openxmlformats.org/drawingml/2006/main">
            <a:pPr>
              <a:defRPr sz="1725" b="1">
                <a:solidFill>
                  <a:srgbClr val="334FE4"/>
                </a:solidFill>
              </a:defRPr>
            </a:pPr>
            <a:r>
              <a:rPr sz="1725" b="1">
                <a:solidFill>
                  <a:srgbClr val="334FE4"/>
                </a:solidFill>
              </a:rPr>
              <a:t>An outlier is a review signal. It does not establish fraud.</a:t>
            </a:r>
          </a:p>
        </p:txBody>
      </p:sp>
    </p:spTree>
    <p:extLst>
      <p:ext uri="{BB962C8B-B14F-4D97-AF65-F5344CB8AC3E}">
        <p14:creationId xmlns:p14="http://schemas.microsoft.com/office/powerpoint/2010/main" val="198735785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340B227-6B5F-42CB-9A03-189C2F6F69EB}"/>
              </a:ext>
            </a:extLst>
          </p:cNvPr>
          <p:cNvSpPr>
            <a:spLocks xmlns:a="http://schemas.openxmlformats.org/drawingml/2006/main" noGrp="1"/>
          </p:cNvSpPr>
          <p:nvPr/>
        </p:nvSpPr>
        <p:spPr>
          <a:xfrm xmlns:a="http://schemas.openxmlformats.org/drawingml/2006/main">
            <a:off x="666750" y="438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34FE4"/>
                </a:solidFill>
              </a:defRPr>
            </a:defPPr>
            <a:lvl1pPr>
              <a:defRPr sz="3300" b="1">
                <a:solidFill>
                  <a:srgbClr val="334FE4"/>
                </a:solidFill>
              </a:defRPr>
            </a:lvl1pPr>
            <a:lvl2pPr>
              <a:defRPr sz="3300" b="1">
                <a:solidFill>
                  <a:srgbClr val="334FE4"/>
                </a:solidFill>
              </a:defRPr>
            </a:lvl2pPr>
            <a:lvl3pPr>
              <a:defRPr sz="3300" b="1">
                <a:solidFill>
                  <a:srgbClr val="334FE4"/>
                </a:solidFill>
              </a:defRPr>
            </a:lvl3pPr>
            <a:lvl4pPr>
              <a:defRPr sz="3300" b="1">
                <a:solidFill>
                  <a:srgbClr val="334FE4"/>
                </a:solidFill>
              </a:defRPr>
            </a:lvl4pPr>
            <a:lvl5pPr>
              <a:defRPr sz="3300" b="1">
                <a:solidFill>
                  <a:srgbClr val="334FE4"/>
                </a:solidFill>
              </a:defRPr>
            </a:lvl5pPr>
            <a:lvl6pPr>
              <a:defRPr sz="3300" b="1">
                <a:solidFill>
                  <a:srgbClr val="334FE4"/>
                </a:solidFill>
              </a:defRPr>
            </a:lvl6pPr>
            <a:lvl7pPr>
              <a:defRPr sz="3300" b="1">
                <a:solidFill>
                  <a:srgbClr val="334FE4"/>
                </a:solidFill>
              </a:defRPr>
            </a:lvl7pPr>
            <a:lvl8pPr>
              <a:defRPr sz="3300" b="1">
                <a:solidFill>
                  <a:srgbClr val="334FE4"/>
                </a:solidFill>
              </a:defRPr>
            </a:lvl8pPr>
            <a:lvl9pPr>
              <a:defRPr sz="3300" b="1">
                <a:solidFill>
                  <a:srgbClr val="334FE4"/>
                </a:solidFill>
              </a:defRPr>
            </a:lvl9pPr>
          </a:lstStyle>
          <a:p xmlns:a="http://schemas.openxmlformats.org/drawingml/2006/main">
            <a:pPr>
              <a:defRPr sz="3300" b="1">
                <a:solidFill>
                  <a:srgbClr val="334FE4"/>
                </a:solidFill>
              </a:defRPr>
            </a:pPr>
            <a:r>
              <a:rPr sz="3300" b="1">
                <a:solidFill>
                  <a:srgbClr val="334FE4"/>
                </a:solidFill>
              </a:rPr>
              <a:t>Appendix: evidence and execution status</a:t>
            </a:r>
          </a:p>
        </p:txBody>
      </p:sp>
      <p:sp>
        <p:nvSpPr>
          <p:cNvPr id="3" name="">
            <a:extLst xmlns:a="http://schemas.openxmlformats.org/drawingml/2006/main">
              <a:ext uri="{FF2B5EF4-FFF2-40B4-BE49-F238E27FC236}">
                <a16:creationId xmlns:a16="http://schemas.microsoft.com/office/drawing/2014/main" id="{52C861B0-3506-41E6-ABDB-B2C5E7A79C5C}"/>
              </a:ext>
            </a:extLst>
          </p:cNvPr>
          <p:cNvSpPr>
            <a:spLocks xmlns:a="http://schemas.openxmlformats.org/drawingml/2006/main" noGrp="1"/>
          </p:cNvSpPr>
          <p:nvPr/>
        </p:nvSpPr>
        <p:spPr>
          <a:xfrm xmlns:a="http://schemas.openxmlformats.org/drawingml/2006/main">
            <a:off x="666750" y="1619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34FE4"/>
                </a:solidFill>
              </a:defRPr>
            </a:defPPr>
            <a:lvl1pPr>
              <a:defRPr sz="2325" b="1">
                <a:solidFill>
                  <a:srgbClr val="334FE4"/>
                </a:solidFill>
              </a:defRPr>
            </a:lvl1pPr>
            <a:lvl2pPr>
              <a:defRPr sz="2325" b="1">
                <a:solidFill>
                  <a:srgbClr val="334FE4"/>
                </a:solidFill>
              </a:defRPr>
            </a:lvl2pPr>
            <a:lvl3pPr>
              <a:defRPr sz="2325" b="1">
                <a:solidFill>
                  <a:srgbClr val="334FE4"/>
                </a:solidFill>
              </a:defRPr>
            </a:lvl3pPr>
            <a:lvl4pPr>
              <a:defRPr sz="2325" b="1">
                <a:solidFill>
                  <a:srgbClr val="334FE4"/>
                </a:solidFill>
              </a:defRPr>
            </a:lvl4pPr>
            <a:lvl5pPr>
              <a:defRPr sz="2325" b="1">
                <a:solidFill>
                  <a:srgbClr val="334FE4"/>
                </a:solidFill>
              </a:defRPr>
            </a:lvl5pPr>
            <a:lvl6pPr>
              <a:defRPr sz="2325" b="1">
                <a:solidFill>
                  <a:srgbClr val="334FE4"/>
                </a:solidFill>
              </a:defRPr>
            </a:lvl6pPr>
            <a:lvl7pPr>
              <a:defRPr sz="2325" b="1">
                <a:solidFill>
                  <a:srgbClr val="334FE4"/>
                </a:solidFill>
              </a:defRPr>
            </a:lvl7pPr>
            <a:lvl8pPr>
              <a:defRPr sz="2325" b="1">
                <a:solidFill>
                  <a:srgbClr val="334FE4"/>
                </a:solidFill>
              </a:defRPr>
            </a:lvl8pPr>
            <a:lvl9pPr>
              <a:defRPr sz="2325" b="1">
                <a:solidFill>
                  <a:srgbClr val="334FE4"/>
                </a:solidFill>
              </a:defRPr>
            </a:lvl9pPr>
          </a:lstStyle>
          <a:p xmlns:a="http://schemas.openxmlformats.org/drawingml/2006/main">
            <a:pPr>
              <a:defRPr sz="2325" b="1">
                <a:solidFill>
                  <a:srgbClr val="334FE4"/>
                </a:solidFill>
              </a:defRPr>
            </a:pPr>
            <a:r>
              <a:rPr sz="2325" b="1">
                <a:solidFill>
                  <a:srgbClr val="334FE4"/>
                </a:solidFill>
              </a:rPr>
              <a:t>Verified</a:t>
            </a:r>
          </a:p>
        </p:txBody>
      </p:sp>
      <p:sp>
        <p:nvSpPr>
          <p:cNvPr id="4" name="">
            <a:extLst xmlns:a="http://schemas.openxmlformats.org/drawingml/2006/main">
              <a:ext uri="{FF2B5EF4-FFF2-40B4-BE49-F238E27FC236}">
                <a16:creationId xmlns:a16="http://schemas.microsoft.com/office/drawing/2014/main" id="{5851F356-FD85-4039-890D-2886E05DC552}"/>
              </a:ext>
            </a:extLst>
          </p:cNvPr>
          <p:cNvSpPr>
            <a:spLocks xmlns:a="http://schemas.openxmlformats.org/drawingml/2006/main" noGrp="1"/>
          </p:cNvSpPr>
          <p:nvPr/>
        </p:nvSpPr>
        <p:spPr>
          <a:xfrm xmlns:a="http://schemas.openxmlformats.org/drawingml/2006/main">
            <a:off x="3905250" y="1619250"/>
            <a:ext cx="752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342"/>
                </a:solidFill>
              </a:defRPr>
            </a:defPPr>
            <a:lvl1pPr>
              <a:defRPr sz="2100" b="0">
                <a:solidFill>
                  <a:srgbClr val="172342"/>
                </a:solidFill>
              </a:defRPr>
            </a:lvl1pPr>
            <a:lvl2pPr>
              <a:defRPr sz="2100" b="0">
                <a:solidFill>
                  <a:srgbClr val="172342"/>
                </a:solidFill>
              </a:defRPr>
            </a:lvl2pPr>
            <a:lvl3pPr>
              <a:defRPr sz="2100" b="0">
                <a:solidFill>
                  <a:srgbClr val="172342"/>
                </a:solidFill>
              </a:defRPr>
            </a:lvl3pPr>
            <a:lvl4pPr>
              <a:defRPr sz="2100" b="0">
                <a:solidFill>
                  <a:srgbClr val="172342"/>
                </a:solidFill>
              </a:defRPr>
            </a:lvl4pPr>
            <a:lvl5pPr>
              <a:defRPr sz="2100" b="0">
                <a:solidFill>
                  <a:srgbClr val="172342"/>
                </a:solidFill>
              </a:defRPr>
            </a:lvl5pPr>
            <a:lvl6pPr>
              <a:defRPr sz="2100" b="0">
                <a:solidFill>
                  <a:srgbClr val="172342"/>
                </a:solidFill>
              </a:defRPr>
            </a:lvl6pPr>
            <a:lvl7pPr>
              <a:defRPr sz="2100" b="0">
                <a:solidFill>
                  <a:srgbClr val="172342"/>
                </a:solidFill>
              </a:defRPr>
            </a:lvl7pPr>
            <a:lvl8pPr>
              <a:defRPr sz="2100" b="0">
                <a:solidFill>
                  <a:srgbClr val="172342"/>
                </a:solidFill>
              </a:defRPr>
            </a:lvl8pPr>
            <a:lvl9pPr>
              <a:defRPr sz="2100" b="0">
                <a:solidFill>
                  <a:srgbClr val="172342"/>
                </a:solidFill>
              </a:defRPr>
            </a:lvl9pPr>
          </a:lstStyle>
          <a:p xmlns:a="http://schemas.openxmlformats.org/drawingml/2006/main">
            <a:pPr>
              <a:defRPr sz="2100" b="0">
                <a:solidFill>
                  <a:srgbClr val="172342"/>
                </a:solidFill>
              </a:defRPr>
            </a:pPr>
            <a:r>
              <a:rPr sz="2100" b="0">
                <a:solidFill>
                  <a:srgbClr val="172342"/>
                </a:solidFill>
              </a:rPr>
              <a:t>115 source files. 24 local tests passed. 28 runtime audit results passed in the complete job.</a:t>
            </a:r>
          </a:p>
        </p:txBody>
      </p:sp>
      <p:sp>
        <p:nvSpPr>
          <p:cNvPr id="5" name="">
            <a:extLst xmlns:a="http://schemas.openxmlformats.org/drawingml/2006/main">
              <a:ext uri="{FF2B5EF4-FFF2-40B4-BE49-F238E27FC236}">
                <a16:creationId xmlns:a16="http://schemas.microsoft.com/office/drawing/2014/main" id="{D33A227D-9243-49DB-8BAD-D5FEE99F8DDB}"/>
              </a:ext>
            </a:extLst>
          </p:cNvPr>
          <p:cNvSpPr>
            <a:spLocks xmlns:a="http://schemas.openxmlformats.org/drawingml/2006/main" noGrp="1"/>
          </p:cNvSpPr>
          <p:nvPr/>
        </p:nvSpPr>
        <p:spPr>
          <a:xfrm xmlns:a="http://schemas.openxmlformats.org/drawingml/2006/main">
            <a:off x="666750" y="3143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34FE4"/>
                </a:solidFill>
              </a:defRPr>
            </a:defPPr>
            <a:lvl1pPr>
              <a:defRPr sz="2325" b="1">
                <a:solidFill>
                  <a:srgbClr val="334FE4"/>
                </a:solidFill>
              </a:defRPr>
            </a:lvl1pPr>
            <a:lvl2pPr>
              <a:defRPr sz="2325" b="1">
                <a:solidFill>
                  <a:srgbClr val="334FE4"/>
                </a:solidFill>
              </a:defRPr>
            </a:lvl2pPr>
            <a:lvl3pPr>
              <a:defRPr sz="2325" b="1">
                <a:solidFill>
                  <a:srgbClr val="334FE4"/>
                </a:solidFill>
              </a:defRPr>
            </a:lvl3pPr>
            <a:lvl4pPr>
              <a:defRPr sz="2325" b="1">
                <a:solidFill>
                  <a:srgbClr val="334FE4"/>
                </a:solidFill>
              </a:defRPr>
            </a:lvl4pPr>
            <a:lvl5pPr>
              <a:defRPr sz="2325" b="1">
                <a:solidFill>
                  <a:srgbClr val="334FE4"/>
                </a:solidFill>
              </a:defRPr>
            </a:lvl5pPr>
            <a:lvl6pPr>
              <a:defRPr sz="2325" b="1">
                <a:solidFill>
                  <a:srgbClr val="334FE4"/>
                </a:solidFill>
              </a:defRPr>
            </a:lvl6pPr>
            <a:lvl7pPr>
              <a:defRPr sz="2325" b="1">
                <a:solidFill>
                  <a:srgbClr val="334FE4"/>
                </a:solidFill>
              </a:defRPr>
            </a:lvl7pPr>
            <a:lvl8pPr>
              <a:defRPr sz="2325" b="1">
                <a:solidFill>
                  <a:srgbClr val="334FE4"/>
                </a:solidFill>
              </a:defRPr>
            </a:lvl8pPr>
            <a:lvl9pPr>
              <a:defRPr sz="2325" b="1">
                <a:solidFill>
                  <a:srgbClr val="334FE4"/>
                </a:solidFill>
              </a:defRPr>
            </a:lvl9pPr>
          </a:lstStyle>
          <a:p xmlns:a="http://schemas.openxmlformats.org/drawingml/2006/main">
            <a:pPr>
              <a:defRPr sz="2325" b="1">
                <a:solidFill>
                  <a:srgbClr val="334FE4"/>
                </a:solidFill>
              </a:defRPr>
            </a:pPr>
            <a:r>
              <a:rPr sz="2325" b="1">
                <a:solidFill>
                  <a:srgbClr val="334FE4"/>
                </a:solidFill>
              </a:rPr>
              <a:t>Observed run</a:t>
            </a:r>
          </a:p>
        </p:txBody>
      </p:sp>
      <p:sp>
        <p:nvSpPr>
          <p:cNvPr id="6" name="">
            <a:extLst xmlns:a="http://schemas.openxmlformats.org/drawingml/2006/main">
              <a:ext uri="{FF2B5EF4-FFF2-40B4-BE49-F238E27FC236}">
                <a16:creationId xmlns:a16="http://schemas.microsoft.com/office/drawing/2014/main" id="{19BA3C15-EA8F-4E39-AB28-CB62F1658759}"/>
              </a:ext>
            </a:extLst>
          </p:cNvPr>
          <p:cNvSpPr>
            <a:spLocks xmlns:a="http://schemas.openxmlformats.org/drawingml/2006/main" noGrp="1"/>
          </p:cNvSpPr>
          <p:nvPr/>
        </p:nvSpPr>
        <p:spPr>
          <a:xfrm xmlns:a="http://schemas.openxmlformats.org/drawingml/2006/main">
            <a:off x="3905250" y="3143250"/>
            <a:ext cx="752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342"/>
                </a:solidFill>
              </a:defRPr>
            </a:defPPr>
            <a:lvl1pPr>
              <a:defRPr sz="2100" b="0">
                <a:solidFill>
                  <a:srgbClr val="172342"/>
                </a:solidFill>
              </a:defRPr>
            </a:lvl1pPr>
            <a:lvl2pPr>
              <a:defRPr sz="2100" b="0">
                <a:solidFill>
                  <a:srgbClr val="172342"/>
                </a:solidFill>
              </a:defRPr>
            </a:lvl2pPr>
            <a:lvl3pPr>
              <a:defRPr sz="2100" b="0">
                <a:solidFill>
                  <a:srgbClr val="172342"/>
                </a:solidFill>
              </a:defRPr>
            </a:lvl3pPr>
            <a:lvl4pPr>
              <a:defRPr sz="2100" b="0">
                <a:solidFill>
                  <a:srgbClr val="172342"/>
                </a:solidFill>
              </a:defRPr>
            </a:lvl4pPr>
            <a:lvl5pPr>
              <a:defRPr sz="2100" b="0">
                <a:solidFill>
                  <a:srgbClr val="172342"/>
                </a:solidFill>
              </a:defRPr>
            </a:lvl5pPr>
            <a:lvl6pPr>
              <a:defRPr sz="2100" b="0">
                <a:solidFill>
                  <a:srgbClr val="172342"/>
                </a:solidFill>
              </a:defRPr>
            </a:lvl6pPr>
            <a:lvl7pPr>
              <a:defRPr sz="2100" b="0">
                <a:solidFill>
                  <a:srgbClr val="172342"/>
                </a:solidFill>
              </a:defRPr>
            </a:lvl7pPr>
            <a:lvl8pPr>
              <a:defRPr sz="2100" b="0">
                <a:solidFill>
                  <a:srgbClr val="172342"/>
                </a:solidFill>
              </a:defRPr>
            </a:lvl8pPr>
            <a:lvl9pPr>
              <a:defRPr sz="2100" b="0">
                <a:solidFill>
                  <a:srgbClr val="172342"/>
                </a:solidFill>
              </a:defRPr>
            </a:lvl9pPr>
          </a:lstStyle>
          <a:p xmlns:a="http://schemas.openxmlformats.org/drawingml/2006/main">
            <a:pPr>
              <a:defRPr sz="2100" b="0">
                <a:solidFill>
                  <a:srgbClr val="172342"/>
                </a:solidFill>
              </a:defRPr>
            </a:pPr>
            <a:r>
              <a:rPr sz="2100" b="0">
                <a:solidFill>
                  <a:srgbClr val="172342"/>
                </a:solidFill>
              </a:rPr>
              <a:t>Run 469997930036472 succeeded in 19 min 34 s. Input and published-check fingerprints match the prior manual run.</a:t>
            </a:r>
          </a:p>
        </p:txBody>
      </p:sp>
      <p:sp>
        <p:nvSpPr>
          <p:cNvPr id="7" name="">
            <a:extLst xmlns:a="http://schemas.openxmlformats.org/drawingml/2006/main">
              <a:ext uri="{FF2B5EF4-FFF2-40B4-BE49-F238E27FC236}">
                <a16:creationId xmlns:a16="http://schemas.microsoft.com/office/drawing/2014/main" id="{F4C595FB-270E-4DFD-9D81-14ECB167D22F}"/>
              </a:ext>
            </a:extLst>
          </p:cNvPr>
          <p:cNvSpPr>
            <a:spLocks xmlns:a="http://schemas.openxmlformats.org/drawingml/2006/main" noGrp="1"/>
          </p:cNvSpPr>
          <p:nvPr/>
        </p:nvSpPr>
        <p:spPr>
          <a:xfrm xmlns:a="http://schemas.openxmlformats.org/drawingml/2006/main">
            <a:off x="666750" y="4667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34FE4"/>
                </a:solidFill>
              </a:defRPr>
            </a:defPPr>
            <a:lvl1pPr>
              <a:defRPr sz="2325" b="1">
                <a:solidFill>
                  <a:srgbClr val="334FE4"/>
                </a:solidFill>
              </a:defRPr>
            </a:lvl1pPr>
            <a:lvl2pPr>
              <a:defRPr sz="2325" b="1">
                <a:solidFill>
                  <a:srgbClr val="334FE4"/>
                </a:solidFill>
              </a:defRPr>
            </a:lvl2pPr>
            <a:lvl3pPr>
              <a:defRPr sz="2325" b="1">
                <a:solidFill>
                  <a:srgbClr val="334FE4"/>
                </a:solidFill>
              </a:defRPr>
            </a:lvl3pPr>
            <a:lvl4pPr>
              <a:defRPr sz="2325" b="1">
                <a:solidFill>
                  <a:srgbClr val="334FE4"/>
                </a:solidFill>
              </a:defRPr>
            </a:lvl4pPr>
            <a:lvl5pPr>
              <a:defRPr sz="2325" b="1">
                <a:solidFill>
                  <a:srgbClr val="334FE4"/>
                </a:solidFill>
              </a:defRPr>
            </a:lvl5pPr>
            <a:lvl6pPr>
              <a:defRPr sz="2325" b="1">
                <a:solidFill>
                  <a:srgbClr val="334FE4"/>
                </a:solidFill>
              </a:defRPr>
            </a:lvl6pPr>
            <a:lvl7pPr>
              <a:defRPr sz="2325" b="1">
                <a:solidFill>
                  <a:srgbClr val="334FE4"/>
                </a:solidFill>
              </a:defRPr>
            </a:lvl7pPr>
            <a:lvl8pPr>
              <a:defRPr sz="2325" b="1">
                <a:solidFill>
                  <a:srgbClr val="334FE4"/>
                </a:solidFill>
              </a:defRPr>
            </a:lvl8pPr>
            <a:lvl9pPr>
              <a:defRPr sz="2325" b="1">
                <a:solidFill>
                  <a:srgbClr val="334FE4"/>
                </a:solidFill>
              </a:defRPr>
            </a:lvl9pPr>
          </a:lstStyle>
          <a:p xmlns:a="http://schemas.openxmlformats.org/drawingml/2006/main">
            <a:pPr>
              <a:defRPr sz="2325" b="1">
                <a:solidFill>
                  <a:srgbClr val="334FE4"/>
                </a:solidFill>
              </a:defRPr>
            </a:pPr>
            <a:r>
              <a:rPr sz="2325" b="1">
                <a:solidFill>
                  <a:srgbClr val="334FE4"/>
                </a:solidFill>
              </a:rPr>
              <a:t>Remaining evidence</a:t>
            </a:r>
          </a:p>
        </p:txBody>
      </p:sp>
      <p:sp>
        <p:nvSpPr>
          <p:cNvPr id="8" name="">
            <a:extLst xmlns:a="http://schemas.openxmlformats.org/drawingml/2006/main">
              <a:ext uri="{FF2B5EF4-FFF2-40B4-BE49-F238E27FC236}">
                <a16:creationId xmlns:a16="http://schemas.microsoft.com/office/drawing/2014/main" id="{1EE538BF-2AD7-4E3B-8967-A7FD39EEBE4E}"/>
              </a:ext>
            </a:extLst>
          </p:cNvPr>
          <p:cNvSpPr>
            <a:spLocks xmlns:a="http://schemas.openxmlformats.org/drawingml/2006/main" noGrp="1"/>
          </p:cNvSpPr>
          <p:nvPr/>
        </p:nvSpPr>
        <p:spPr>
          <a:xfrm xmlns:a="http://schemas.openxmlformats.org/drawingml/2006/main">
            <a:off x="3905250" y="4667250"/>
            <a:ext cx="752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342"/>
                </a:solidFill>
              </a:defRPr>
            </a:defPPr>
            <a:lvl1pPr>
              <a:defRPr sz="2100" b="0">
                <a:solidFill>
                  <a:srgbClr val="172342"/>
                </a:solidFill>
              </a:defRPr>
            </a:lvl1pPr>
            <a:lvl2pPr>
              <a:defRPr sz="2100" b="0">
                <a:solidFill>
                  <a:srgbClr val="172342"/>
                </a:solidFill>
              </a:defRPr>
            </a:lvl2pPr>
            <a:lvl3pPr>
              <a:defRPr sz="2100" b="0">
                <a:solidFill>
                  <a:srgbClr val="172342"/>
                </a:solidFill>
              </a:defRPr>
            </a:lvl3pPr>
            <a:lvl4pPr>
              <a:defRPr sz="2100" b="0">
                <a:solidFill>
                  <a:srgbClr val="172342"/>
                </a:solidFill>
              </a:defRPr>
            </a:lvl4pPr>
            <a:lvl5pPr>
              <a:defRPr sz="2100" b="0">
                <a:solidFill>
                  <a:srgbClr val="172342"/>
                </a:solidFill>
              </a:defRPr>
            </a:lvl5pPr>
            <a:lvl6pPr>
              <a:defRPr sz="2100" b="0">
                <a:solidFill>
                  <a:srgbClr val="172342"/>
                </a:solidFill>
              </a:defRPr>
            </a:lvl6pPr>
            <a:lvl7pPr>
              <a:defRPr sz="2100" b="0">
                <a:solidFill>
                  <a:srgbClr val="172342"/>
                </a:solidFill>
              </a:defRPr>
            </a:lvl7pPr>
            <a:lvl8pPr>
              <a:defRPr sz="2100" b="0">
                <a:solidFill>
                  <a:srgbClr val="172342"/>
                </a:solidFill>
              </a:defRPr>
            </a:lvl8pPr>
            <a:lvl9pPr>
              <a:defRPr sz="2100" b="0">
                <a:solidFill>
                  <a:srgbClr val="172342"/>
                </a:solidFill>
              </a:defRPr>
            </a:lvl9pPr>
          </a:lstStyle>
          <a:p xmlns:a="http://schemas.openxmlformats.org/drawingml/2006/main">
            <a:pPr>
              <a:defRPr sz="2100" b="0">
                <a:solidFill>
                  <a:srgbClr val="172342"/>
                </a:solidFill>
              </a:defRPr>
            </a:pPr>
            <a:r>
              <a:rPr sz="2100" b="0">
                <a:solidFill>
                  <a:srgbClr val="172342"/>
                </a:solidFill>
              </a:rPr>
              <a:t>Second complete job run, individual task durations and Gold operational-query export. Clustering benefit remains unmeasured.</a:t>
            </a:r>
          </a:p>
        </p:txBody>
      </p:sp>
    </p:spTree>
    <p:extLst>
      <p:ext uri="{BB962C8B-B14F-4D97-AF65-F5344CB8AC3E}">
        <p14:creationId xmlns:p14="http://schemas.microsoft.com/office/powerpoint/2010/main" val="6669537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2026-10-29T18:22:55.9430000Z</dcterms:created>
  <dcterms:modified xsi:type="dcterms:W3CDTF">2026-10-29T18:22:55.9430000Z</dcterms:modified>
</coreProperties>
</file>